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minutes of slides, 10 minutes of live demo. Open on the premise, not the product: nobody in this room runs one model, and the question is who decides which one handles a given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axes. Let the audience feel the combinatorics before you offer anything. The callout is the thesis of the whole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makes a cost-conscious audience sit up. Do not rush it. The point is not that Uber was careless — it is that token-metered consumption with no routing layer has no natural ceiling.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 each of the four back to the fragmentation slide. The callout is the bridge into the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formula out loud. The fourth bullet is the architectural payoff: one place to change policy, one place to audit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take one slide away, make it this one. MoE is someone else's decision baked into weights. MoM is your decision, in your config, that you can change this afternoon.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router decides what logical model handles a request; the serving layer decides how to run it. Teams who already run llm-d or AIBrix need to hear that this sits in front of, not instead of, what they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rip and replace. Worth noting the header name: earlier builds used x-vsr-destination-endpoint with an IP; v0.3 sends the model name and Envoy owns a cluster per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 once, slowly. Flag that stages 2 and 4 are the ones most people have not seen — the next three slides are one per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third column matters: these are not hard-wired. The callout is the design discipline that makes one signal reusable by many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third column is the governance story and it is far stronger than "we block PII". In v0.3 pii stopped being a plugin type entirely — it is a signal, and enforcement belongs to the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Loopers are the part worth dwelling on — cascade cheap-then-expensive, or panel several models and compare. That is no longer routing, it is orchestration. Be honest that our demo uses static selection and no loopers.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Very concrete. A team can start by swapping one model string and tune a bespoke recipe later. Our demo defines its own recipe rather than using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intro line verbatim. Volunteering that these are someone else's numbers buys more credibility than the numbers do. The fine-tuning finding worth quoting: +18% from the right loss function versus +2% from more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no vendor deck has. The cache row is the one to linger on: an audience told that semantic caching understands meaning deserves to see the number where it does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straight that our demo implements layer one and part of layer two, and no egress controls at all. Saying so is what makes the rest of the deck believable.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lands with anyone building agentic systems — the cost multiplier is the whole argument, and it is the same argument as the Uber slide at a different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Semantics in front, hardware scheduling behind. This is the last slide before the demo — finish it and switch.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people photograph. Ten minutes from here. Have the console already open on a second tab with the counters cleared.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read this table. Switch to the console and run them. Lead with the two complexity cases back to back, then the two jailbreak cases back to back — those pairs do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Switch to the console. Press c first so the tally starts at zero in front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600200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4D4D"/>
                </a:solidFill>
                <a:latin typeface="Menlo"/>
              </a:rPr>
              <a:t>VLLM SEMANTIC ROUTER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103120"/>
            <a:ext cx="96926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EEF3FA"/>
                </a:solidFill>
                <a:latin typeface="Helvetica Neue"/>
              </a:rPr>
              <a:t>Intelligence Beyond Any One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4069080"/>
            <a:ext cx="1005840" cy="76200"/>
          </a:xfrm>
          <a:prstGeom prst="rect">
            <a:avLst/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434840"/>
            <a:ext cx="75895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A3B0C6"/>
                </a:solidFill>
                <a:latin typeface="Helvetica Neue"/>
              </a:rPr>
              <a:t>Signal-driven routing, guardrails and semantic caching for Mixture-of-Models systems — running live on OpenShift AI.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21647" y="638251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4D4D"/>
                </a:solidFill>
                <a:latin typeface="Menlo"/>
              </a:rPr>
              <a:t>0:00  ·  </a:t>
            </a:r>
            <a:r>
              <a:rPr sz="1000">
                <a:solidFill>
                  <a:srgbClr val="6E7D96"/>
                </a:solidFill>
                <a:latin typeface="Menlo"/>
              </a:rPr>
              <a:t>1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83080" cy="63500"/>
          </a:xfrm>
          <a:prstGeom prst="rect">
            <a:avLst/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30352"/>
            <a:ext cx="1087495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EF3FA"/>
                </a:solidFill>
                <a:latin typeface="Helvetica Neue"/>
              </a:rPr>
              <a:t>Fragmentation changed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8872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B0C6"/>
                </a:solidFill>
                <a:latin typeface="Helvetica Neue"/>
              </a:rPr>
              <a:t>It is no longer "which model is best". The ecosystem fragments along four axes at once, and every one of them is a routing decision.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938528"/>
            <a:ext cx="3490874" cy="2240280"/>
          </a:xfrm>
          <a:prstGeom prst="rect">
            <a:avLst/>
          </a:prstGeom>
          <a:solidFill>
            <a:srgbClr val="151B26"/>
          </a:solidFill>
          <a:ln w="12700">
            <a:solidFill>
              <a:srgbClr val="2E3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938528"/>
            <a:ext cx="3490874" cy="38100"/>
          </a:xfrm>
          <a:prstGeom prst="rect">
            <a:avLst/>
          </a:prstGeom>
          <a:solidFill>
            <a:srgbClr val="FF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176272"/>
            <a:ext cx="30885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EF3FA"/>
                </a:solidFill>
                <a:latin typeface="Helvetica Neue"/>
              </a:rPr>
              <a:t>Models &amp; compute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651760"/>
            <a:ext cx="3088538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3B0C6"/>
                </a:solidFill>
                <a:latin typeface="Helvetica Neue"/>
              </a:rPr>
              <a:t>Large, small, hybrid-reasoning, specialist, open and closed — across CPU, GPU, NPU and mixed fleets with different cost and energy profiles.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50410" y="1938528"/>
            <a:ext cx="3490874" cy="2240280"/>
          </a:xfrm>
          <a:prstGeom prst="rect">
            <a:avLst/>
          </a:prstGeom>
          <a:solidFill>
            <a:srgbClr val="151B26"/>
          </a:solidFill>
          <a:ln w="12700">
            <a:solidFill>
              <a:srgbClr val="2E3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0410" y="1938528"/>
            <a:ext cx="3490874" cy="38100"/>
          </a:xfrm>
          <a:prstGeom prst="rect">
            <a:avLst/>
          </a:prstGeom>
          <a:solidFill>
            <a:srgbClr val="4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1578" y="2176272"/>
            <a:ext cx="30885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EF3FA"/>
                </a:solidFill>
                <a:latin typeface="Helvetica Neue"/>
              </a:rPr>
              <a:t>Location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1578" y="2651760"/>
            <a:ext cx="3088538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3B0C6"/>
                </a:solidFill>
                <a:latin typeface="Helvetica Neue"/>
              </a:rPr>
              <a:t>Cloud, data centre, edge. Where a request may execute is often a compliance question before it is a performance one.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2452" y="1938528"/>
            <a:ext cx="3490874" cy="2240280"/>
          </a:xfrm>
          <a:prstGeom prst="rect">
            <a:avLst/>
          </a:prstGeom>
          <a:solidFill>
            <a:srgbClr val="151B26"/>
          </a:solidFill>
          <a:ln w="12700">
            <a:solidFill>
              <a:srgbClr val="2E3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2452" y="1938528"/>
            <a:ext cx="3490874" cy="38100"/>
          </a:xfrm>
          <a:prstGeom prst="rect">
            <a:avLst/>
          </a:prstGeom>
          <a:solidFill>
            <a:srgbClr val="B38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3620" y="2176272"/>
            <a:ext cx="30885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EF3FA"/>
                </a:solidFill>
                <a:latin typeface="Helvetica Neue"/>
              </a:rPr>
              <a:t>Preference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3620" y="2651760"/>
            <a:ext cx="3088538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3B0C6"/>
                </a:solidFill>
                <a:latin typeface="Helvetica Neue"/>
              </a:rPr>
              <a:t>Quality, latency, cost, privacy. These conflict, and the right trade-off differs per request — not per application.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398264"/>
            <a:ext cx="10874959" cy="475488"/>
          </a:xfrm>
          <a:prstGeom prst="rect">
            <a:avLst/>
          </a:prstGeom>
          <a:solidFill>
            <a:srgbClr val="1E2636"/>
          </a:solidFill>
          <a:ln w="12700">
            <a:solidFill>
              <a:srgbClr val="FFC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4398264"/>
            <a:ext cx="50800" cy="475488"/>
          </a:xfrm>
          <a:prstGeom prst="rect">
            <a:avLst/>
          </a:prstGeom>
          <a:solidFill>
            <a:srgbClr val="FFC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4517136"/>
            <a:ext cx="1047262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C857"/>
                </a:solidFill>
                <a:latin typeface="Helvetica Neue"/>
              </a:rPr>
              <a:t>Without a routing layer, every application has to navigate all four on its own.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1647" y="638251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4D4D"/>
                </a:solidFill>
                <a:latin typeface="Menlo"/>
              </a:rPr>
              <a:t>1:00  ·  </a:t>
            </a:r>
            <a:r>
              <a:rPr sz="1000">
                <a:solidFill>
                  <a:srgbClr val="6E7D96"/>
                </a:solidFill>
                <a:latin typeface="Menlo"/>
              </a:rP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83080" cy="63500"/>
          </a:xfrm>
          <a:prstGeom prst="rect">
            <a:avLst/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30352"/>
            <a:ext cx="1087495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EF3FA"/>
                </a:solidFill>
                <a:latin typeface="Helvetica Neue"/>
              </a:rPr>
              <a:t>Then the bill arrives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35024"/>
            <a:ext cx="50800" cy="420624"/>
          </a:xfrm>
          <a:prstGeom prst="rect">
            <a:avLst/>
          </a:prstGeom>
          <a:solidFill>
            <a:srgbClr val="FF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335024"/>
            <a:ext cx="99669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EF3FA"/>
                </a:solidFill>
                <a:latin typeface="Helvetica Neue"/>
              </a:rPr>
              <a:t>Uber burned through its entire 2026 AI budget in four months.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66544"/>
            <a:ext cx="10241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1100"/>
              </a:spcAft>
            </a:pPr>
            <a:r>
              <a:rPr sz="1450">
                <a:solidFill>
                  <a:srgbClr val="FF4D4D"/>
                </a:solidFill>
                <a:latin typeface="Helvetica Neue"/>
              </a:rPr>
              <a:t>▪   5,000 engineers on Claude Code — token-metered, not per-seat.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1100"/>
              </a:spcAft>
            </a:pPr>
            <a:r>
              <a:rPr sz="1450">
                <a:solidFill>
                  <a:srgbClr val="FF4D4D"/>
                </a:solidFill>
                <a:latin typeface="Helvetica Neue"/>
              </a:rPr>
              <a:t>▪   84% adoption. Budget of $150–2,000 per engineer per month.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1100"/>
              </a:spcAft>
            </a:pPr>
            <a:r>
              <a:rPr sz="1450">
                <a:solidFill>
                  <a:srgbClr val="FF4D4D"/>
                </a:solidFill>
                <a:latin typeface="Helvetica Neue"/>
              </a:rPr>
              <a:t>▪   Exhausted in April: month four of twelve.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1100"/>
              </a:spcAft>
            </a:pPr>
            <a:r>
              <a:rPr sz="1450">
                <a:solidFill>
                  <a:srgbClr val="FF4D4D"/>
                </a:solidFill>
                <a:latin typeface="Helvetica Neue"/>
              </a:rPr>
              <a:t>▪   CTO Praveen Neppalli Naga: “I'm back to the drawing board — the budget I thought I would need is blown away already.”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7D96"/>
                </a:solidFill>
                <a:latin typeface="Menlo"/>
              </a:rPr>
              <a:t>case study via Aayush Saini, Red Hat — vLLM-SR maintainer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1647" y="638251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4D4D"/>
                </a:solidFill>
                <a:latin typeface="Menlo"/>
              </a:rPr>
              <a:t>2:30  ·  </a:t>
            </a:r>
            <a:r>
              <a:rPr sz="1000">
                <a:solidFill>
                  <a:srgbClr val="6E7D96"/>
                </a:solidFill>
                <a:latin typeface="Menlo"/>
              </a:rP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83080" cy="63500"/>
          </a:xfrm>
          <a:prstGeom prst="rect">
            <a:avLst/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30352"/>
            <a:ext cx="1087495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EF3FA"/>
                </a:solidFill>
                <a:latin typeface="Helvetica Neue"/>
              </a:rPr>
              <a:t>The root cause: inference pipelines are content-blind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8872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B0C6"/>
                </a:solidFill>
                <a:latin typeface="Helvetica Neue"/>
              </a:rPr>
              <a:t>A load balancer distributes requests without any idea what is in them. Four consequences, and all four are the same bug.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938528"/>
            <a:ext cx="3490874" cy="2240280"/>
          </a:xfrm>
          <a:prstGeom prst="rect">
            <a:avLst/>
          </a:prstGeom>
          <a:solidFill>
            <a:srgbClr val="151B26"/>
          </a:solidFill>
          <a:ln w="12700">
            <a:solidFill>
              <a:srgbClr val="2E3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938528"/>
            <a:ext cx="3490874" cy="38100"/>
          </a:xfrm>
          <a:prstGeom prst="rect">
            <a:avLst/>
          </a:prstGeom>
          <a:solidFill>
            <a:srgbClr val="FF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176272"/>
            <a:ext cx="30885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EF3FA"/>
                </a:solidFill>
                <a:latin typeface="Helvetica Neue"/>
              </a:rPr>
              <a:t>Unnecessary spend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651760"/>
            <a:ext cx="3088538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3B0C6"/>
                </a:solidFill>
                <a:latin typeface="Helvetica Neue"/>
              </a:rPr>
              <a:t>A one-line question and a distributed-systems design problem cost the same, because both named the same model.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50410" y="1938528"/>
            <a:ext cx="3490874" cy="2240280"/>
          </a:xfrm>
          <a:prstGeom prst="rect">
            <a:avLst/>
          </a:prstGeom>
          <a:solidFill>
            <a:srgbClr val="151B26"/>
          </a:solidFill>
          <a:ln w="12700">
            <a:solidFill>
              <a:srgbClr val="2E3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0410" y="1938528"/>
            <a:ext cx="3490874" cy="38100"/>
          </a:xfrm>
          <a:prstGeom prst="rect">
            <a:avLst/>
          </a:prstGeom>
          <a:solidFill>
            <a:srgbClr val="4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1578" y="2176272"/>
            <a:ext cx="30885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EF3FA"/>
                </a:solidFill>
                <a:latin typeface="Helvetica Neue"/>
              </a:rPr>
              <a:t>Data sovereignty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1578" y="2651760"/>
            <a:ext cx="3088538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3B0C6"/>
                </a:solidFill>
                <a:latin typeface="Helvetica Neue"/>
              </a:rPr>
              <a:t>PII, financial and medical content leaves the data centre to reach a cloud model, because nothing inspected it on the way out.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2452" y="1938528"/>
            <a:ext cx="3490874" cy="2240280"/>
          </a:xfrm>
          <a:prstGeom prst="rect">
            <a:avLst/>
          </a:prstGeom>
          <a:solidFill>
            <a:srgbClr val="151B26"/>
          </a:solidFill>
          <a:ln w="12700">
            <a:solidFill>
              <a:srgbClr val="2E3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2452" y="1938528"/>
            <a:ext cx="3490874" cy="38100"/>
          </a:xfrm>
          <a:prstGeom prst="rect">
            <a:avLst/>
          </a:prstGeom>
          <a:solidFill>
            <a:srgbClr val="B38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3620" y="2176272"/>
            <a:ext cx="30885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EF3FA"/>
                </a:solidFill>
                <a:latin typeface="Helvetica Neue"/>
              </a:rPr>
              <a:t>Safety &amp; latency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3620" y="2651760"/>
            <a:ext cx="3088538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3B0C6"/>
                </a:solidFill>
                <a:latin typeface="Helvetica Neue"/>
              </a:rPr>
              <a:t>Jailbreaks pass straight through to inference. Meanwhile trivial requests queue behind heavy reasoning work on the same backend.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398264"/>
            <a:ext cx="10874959" cy="475488"/>
          </a:xfrm>
          <a:prstGeom prst="rect">
            <a:avLst/>
          </a:prstGeom>
          <a:solidFill>
            <a:srgbClr val="1E2636"/>
          </a:solidFill>
          <a:ln w="12700">
            <a:solidFill>
              <a:srgbClr val="FFC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4398264"/>
            <a:ext cx="50800" cy="475488"/>
          </a:xfrm>
          <a:prstGeom prst="rect">
            <a:avLst/>
          </a:prstGeom>
          <a:solidFill>
            <a:srgbClr val="FFC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4517136"/>
            <a:ext cx="1047262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C857"/>
                </a:solidFill>
                <a:latin typeface="Helvetica Neue"/>
              </a:rPr>
              <a:t>You cannot enforce a policy you cannot see. Routing has to read the request.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1647" y="638251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4D4D"/>
                </a:solidFill>
                <a:latin typeface="Menlo"/>
              </a:rPr>
              <a:t>4:00  ·  </a:t>
            </a:r>
            <a:r>
              <a:rPr sz="1000">
                <a:solidFill>
                  <a:srgbClr val="6E7D96"/>
                </a:solidFill>
                <a:latin typeface="Menlo"/>
              </a:rP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83080" cy="63500"/>
          </a:xfrm>
          <a:prstGeom prst="rect">
            <a:avLst/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30352"/>
            <a:ext cx="1087495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EF3FA"/>
                </a:solidFill>
                <a:latin typeface="Helvetica Neue"/>
              </a:rPr>
              <a:t>The idea, in one 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35024"/>
            <a:ext cx="50800" cy="420624"/>
          </a:xfrm>
          <a:prstGeom prst="rect">
            <a:avLst/>
          </a:prstGeom>
          <a:solidFill>
            <a:srgbClr val="FF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335024"/>
            <a:ext cx="99669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EF3FA"/>
                </a:solidFill>
                <a:latin typeface="Helvetica Neue"/>
              </a:rPr>
              <a:t>intent(prompt, context)  →  compose(model, mode, tools)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66544"/>
            <a:ext cx="10241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1100"/>
              </a:spcAft>
            </a:pPr>
            <a:r>
              <a:rPr sz="1450">
                <a:solidFill>
                  <a:srgbClr val="FF4D4D"/>
                </a:solidFill>
                <a:latin typeface="Helvetica Neue"/>
              </a:rPr>
              <a:t>▪   Read intent, domain, complexity and risk from the prompt and its context.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1100"/>
              </a:spcAft>
            </a:pPr>
            <a:r>
              <a:rPr sz="1450">
                <a:solidFill>
                  <a:srgbClr val="FF4D4D"/>
                </a:solidFill>
                <a:latin typeface="Helvetica Neue"/>
              </a:rPr>
              <a:t>▪   Then compose the right model, the right mode, the right supporting capabilities.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1100"/>
              </a:spcAft>
            </a:pPr>
            <a:r>
              <a:rPr sz="1450">
                <a:solidFill>
                  <a:srgbClr val="FF4D4D"/>
                </a:solidFill>
                <a:latin typeface="Helvetica Neue"/>
              </a:rPr>
              <a:t>▪   Clients send model: "auto" over the ordinary OpenAI-compatible API. No SDK, no client change.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1100"/>
              </a:spcAft>
            </a:pPr>
            <a:r>
              <a:rPr sz="1450">
                <a:solidFill>
                  <a:srgbClr val="FF4D4D"/>
                </a:solidFill>
                <a:latin typeface="Helvetica Neue"/>
              </a:rPr>
              <a:t>▪   Intelligence moves upstream — the decision happens once at the gateway, not in every application.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1647" y="638251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4D4D"/>
                </a:solidFill>
                <a:latin typeface="Menlo"/>
              </a:rPr>
              <a:t>5:30  ·  </a:t>
            </a:r>
            <a:r>
              <a:rPr sz="1000">
                <a:solidFill>
                  <a:srgbClr val="6E7D96"/>
                </a:solidFill>
                <a:latin typeface="Menlo"/>
              </a:rP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83080" cy="63500"/>
          </a:xfrm>
          <a:prstGeom prst="rect">
            <a:avLst/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30352"/>
            <a:ext cx="1087495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EF3FA"/>
                </a:solidFill>
                <a:latin typeface="Helvetica Neue"/>
              </a:rPr>
              <a:t>Mixture-of-Models is not Mixture-of-Experts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8872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B0C6"/>
                </a:solidFill>
                <a:latin typeface="Helvetica Neue"/>
              </a:rPr>
              <a:t>These get conflated constantly, and they operate at completely different levels.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938528"/>
            <a:ext cx="5318607" cy="3200400"/>
          </a:xfrm>
          <a:prstGeom prst="rect">
            <a:avLst/>
          </a:prstGeom>
          <a:solidFill>
            <a:srgbClr val="151B26"/>
          </a:solidFill>
          <a:ln w="12700">
            <a:solidFill>
              <a:srgbClr val="2E3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938528"/>
            <a:ext cx="5318607" cy="475488"/>
          </a:xfrm>
          <a:prstGeom prst="rect">
            <a:avLst/>
          </a:prstGeom>
          <a:solidFill>
            <a:srgbClr val="1E26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938528"/>
            <a:ext cx="50800" cy="475488"/>
          </a:xfrm>
          <a:prstGeom prst="rect">
            <a:avLst/>
          </a:prstGeom>
          <a:solidFill>
            <a:srgbClr val="4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057400"/>
            <a:ext cx="48796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DD6C8"/>
                </a:solidFill>
                <a:latin typeface="Helvetica Neue"/>
              </a:rPr>
              <a:t>MoE — Mixture-of-Experts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560320"/>
            <a:ext cx="487969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>
                <a:solidFill>
                  <a:srgbClr val="A3B0C6"/>
                </a:solidFill>
                <a:latin typeface="Helvetica Neue"/>
              </a:rPr>
              <a:t>An architecture pattern inside a single model.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>
                <a:solidFill>
                  <a:srgbClr val="A3B0C6"/>
                </a:solidFill>
                <a:latin typeface="Helvetica Neue"/>
              </a:rPr>
              <a:t>Sparse expert activation across layers.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>
                <a:solidFill>
                  <a:srgbClr val="A3B0C6"/>
                </a:solidFill>
                <a:latin typeface="Helvetica Neue"/>
              </a:rPr>
              <a:t>Chosen by the model vendor at training time.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>
                <a:solidFill>
                  <a:srgbClr val="A3B0C6"/>
                </a:solidFill>
                <a:latin typeface="Helvetica Neue"/>
              </a:rPr>
              <a:t>You cannot inspect or change the routing.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4719" y="1938528"/>
            <a:ext cx="5318607" cy="3200400"/>
          </a:xfrm>
          <a:prstGeom prst="rect">
            <a:avLst/>
          </a:prstGeom>
          <a:solidFill>
            <a:srgbClr val="151B26"/>
          </a:solidFill>
          <a:ln w="12700">
            <a:solidFill>
              <a:srgbClr val="2E3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4719" y="1938528"/>
            <a:ext cx="5318607" cy="475488"/>
          </a:xfrm>
          <a:prstGeom prst="rect">
            <a:avLst/>
          </a:prstGeom>
          <a:solidFill>
            <a:srgbClr val="1E26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4719" y="1938528"/>
            <a:ext cx="50800" cy="475488"/>
          </a:xfrm>
          <a:prstGeom prst="rect">
            <a:avLst/>
          </a:prstGeom>
          <a:solidFill>
            <a:srgbClr val="FF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4175" y="2057400"/>
            <a:ext cx="48796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4D4D"/>
                </a:solidFill>
                <a:latin typeface="Helvetica Neue"/>
              </a:rPr>
              <a:t>MoM — Mixture-of-Models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4175" y="2560320"/>
            <a:ext cx="487969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>
                <a:solidFill>
                  <a:srgbClr val="A3B0C6"/>
                </a:solidFill>
                <a:latin typeface="Helvetica Neue"/>
              </a:rPr>
              <a:t>A system pattern orchestrating independent models.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>
                <a:solidFill>
                  <a:srgbClr val="A3B0C6"/>
                </a:solidFill>
                <a:latin typeface="Helvetica Neue"/>
              </a:rPr>
              <a:t>They differ in architecture, training data, capability, hardware.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>
                <a:solidFill>
                  <a:srgbClr val="A3B0C6"/>
                </a:solidFill>
                <a:latin typeface="Helvetica Neue"/>
              </a:rPr>
              <a:t>Chosen by you, in configuration, at request time.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>
                <a:solidFill>
                  <a:srgbClr val="A3B0C6"/>
                </a:solidFill>
                <a:latin typeface="Helvetica Neue"/>
              </a:rPr>
              <a:t>Every decision is declared in YAML and observable.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1647" y="638251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4D4D"/>
                </a:solidFill>
                <a:latin typeface="Menlo"/>
              </a:rPr>
              <a:t>7:00  ·  </a:t>
            </a:r>
            <a:r>
              <a:rPr sz="1000">
                <a:solidFill>
                  <a:srgbClr val="6E7D96"/>
                </a:solidFill>
                <a:latin typeface="Menlo"/>
              </a:rP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83080" cy="63500"/>
          </a:xfrm>
          <a:prstGeom prst="rect">
            <a:avLst/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30352"/>
            <a:ext cx="1087495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EF3FA"/>
                </a:solidFill>
                <a:latin typeface="Helvetica Neue"/>
              </a:rPr>
              <a:t>Where it sits: what, which, 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8872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B0C6"/>
                </a:solidFill>
                <a:latin typeface="Helvetica Neue"/>
              </a:rPr>
              <a:t>Three layers, one request path. The router complements your serving stack rather than replacing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938528"/>
            <a:ext cx="10874959" cy="25400"/>
          </a:xfrm>
          <a:prstGeom prst="rect">
            <a:avLst/>
          </a:prstGeom>
          <a:solidFill>
            <a:srgbClr val="2E3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58368" y="2212848"/>
            <a:ext cx="384048" cy="384048"/>
          </a:xfrm>
          <a:prstGeom prst="ellipse">
            <a:avLst/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enlo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743200"/>
            <a:ext cx="34299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EF3FA"/>
                </a:solidFill>
                <a:latin typeface="Helvetica Neue"/>
              </a:rPr>
              <a:t>WHAT — vLLM-SR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145536"/>
            <a:ext cx="3429914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3B0C6"/>
                </a:solidFill>
                <a:latin typeface="Helvetica Neue"/>
              </a:rPr>
              <a:t>Chooses the logical model, from intent, complexity, privacy, modality and preference. At the gateway.</a:t>
            </a:r>
          </a:p>
        </p:txBody>
      </p:sp>
      <p:sp>
        <p:nvSpPr>
          <p:cNvPr id="9" name="Oval 8"/>
          <p:cNvSpPr/>
          <p:nvPr/>
        </p:nvSpPr>
        <p:spPr>
          <a:xfrm>
            <a:off x="4344314" y="2212848"/>
            <a:ext cx="384048" cy="384048"/>
          </a:xfrm>
          <a:prstGeom prst="ellipse">
            <a:avLst/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enl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4314" y="2743200"/>
            <a:ext cx="34299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EF3FA"/>
                </a:solidFill>
                <a:latin typeface="Helvetica Neue"/>
              </a:rPr>
              <a:t>WHICH — serving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4314" y="3145536"/>
            <a:ext cx="3429914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3B0C6"/>
                </a:solidFill>
                <a:latin typeface="Helvetica Neue"/>
              </a:rPr>
              <a:t>llm-d, vLLM Production Stack, AIBrix, Dynamo. Picks the replica, from load, queue depth and KV-cache locality.</a:t>
            </a:r>
          </a:p>
        </p:txBody>
      </p:sp>
      <p:sp>
        <p:nvSpPr>
          <p:cNvPr id="12" name="Oval 11"/>
          <p:cNvSpPr/>
          <p:nvPr/>
        </p:nvSpPr>
        <p:spPr>
          <a:xfrm>
            <a:off x="8030260" y="2212848"/>
            <a:ext cx="384048" cy="384048"/>
          </a:xfrm>
          <a:prstGeom prst="ellipse">
            <a:avLst/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enlo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0260" y="2743200"/>
            <a:ext cx="34299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EF3FA"/>
                </a:solidFill>
                <a:latin typeface="Helvetica Neue"/>
              </a:rPr>
              <a:t>HOW &amp; WHERE — backends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0260" y="3145536"/>
            <a:ext cx="3429914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3B0C6"/>
                </a:solidFill>
                <a:latin typeface="Helvetica Neue"/>
              </a:rPr>
              <a:t>vLLM and friends actually generate the tokens, on whichever accelerator and in whichever location policy allowed.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1647" y="638251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4D4D"/>
                </a:solidFill>
                <a:latin typeface="Menlo"/>
              </a:rPr>
              <a:t>8:00  ·  </a:t>
            </a:r>
            <a:r>
              <a:rPr sz="1000">
                <a:solidFill>
                  <a:srgbClr val="6E7D96"/>
                </a:solidFill>
                <a:latin typeface="Menlo"/>
              </a:rPr>
              <a:t>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83080" cy="63500"/>
          </a:xfrm>
          <a:prstGeom prst="rect">
            <a:avLst/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30352"/>
            <a:ext cx="1087495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EF3FA"/>
                </a:solidFill>
                <a:latin typeface="Helvetica Neue"/>
              </a:rPr>
              <a:t>How it attaches: an Envoy external processor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35024"/>
            <a:ext cx="50800" cy="694944"/>
          </a:xfrm>
          <a:prstGeom prst="rect">
            <a:avLst/>
          </a:prstGeom>
          <a:solidFill>
            <a:srgbClr val="FF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335024"/>
            <a:ext cx="99669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EF3FA"/>
                </a:solidFill>
                <a:latin typeface="Helvetica Neue"/>
              </a:rPr>
              <a:t>Not a library in your request path. A gRPC external processor that Envoy consults mid-request.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340864"/>
            <a:ext cx="10241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1100"/>
              </a:spcAft>
            </a:pPr>
            <a:r>
              <a:rPr sz="1450">
                <a:solidFill>
                  <a:srgbClr val="FF4D4D"/>
                </a:solidFill>
                <a:latin typeface="Helvetica Neue"/>
              </a:rPr>
              <a:t>▪   Envoy calls the router over gRPC; the router classifies and returns a decision.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1100"/>
              </a:spcAft>
            </a:pPr>
            <a:r>
              <a:rPr sz="1450">
                <a:solidFill>
                  <a:srgbClr val="FF4D4D"/>
                </a:solidFill>
                <a:latin typeface="Helvetica Neue"/>
              </a:rPr>
              <a:t>▪   It can answer immediately — a guardrail block or a cache hit never reaches a model at all.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1100"/>
              </a:spcAft>
            </a:pPr>
            <a:r>
              <a:rPr sz="1450">
                <a:solidFill>
                  <a:srgbClr val="FF4D4D"/>
                </a:solidFill>
                <a:latin typeface="Helvetica Neue"/>
              </a:rPr>
              <a:t>▪   Otherwise it sets x-selected-model and Envoy forwards to that model's cluster.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1100"/>
              </a:spcAft>
            </a:pPr>
            <a:r>
              <a:rPr sz="1450">
                <a:solidFill>
                  <a:srgbClr val="FF4D4D"/>
                </a:solidFill>
                <a:latin typeface="Helvetica Neue"/>
              </a:rPr>
              <a:t>▪   Standard Envoy, Kubernetes Gateway API, Istio. OpenAI- and Anthropic-compatible on the front.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1647" y="638251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4D4D"/>
                </a:solidFill>
                <a:latin typeface="Menlo"/>
              </a:rPr>
              <a:t>9:00  ·  </a:t>
            </a:r>
            <a:r>
              <a:rPr sz="1000">
                <a:solidFill>
                  <a:srgbClr val="6E7D96"/>
                </a:solidFill>
                <a:latin typeface="Menlo"/>
              </a:rPr>
              <a:t>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83080" cy="63500"/>
          </a:xfrm>
          <a:prstGeom prst="rect">
            <a:avLst/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30352"/>
            <a:ext cx="1087495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EF3FA"/>
                </a:solidFill>
                <a:latin typeface="Helvetica Neue"/>
              </a:rPr>
              <a:t>The pipeline: five stages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8872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B0C6"/>
                </a:solidFill>
                <a:latin typeface="Helvetica Neue"/>
              </a:rPr>
              <a:t>Each stage has one job, and that separation is what makes the policy readable and auditable.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938528"/>
            <a:ext cx="10874959" cy="25400"/>
          </a:xfrm>
          <a:prstGeom prst="rect">
            <a:avLst/>
          </a:prstGeom>
          <a:solidFill>
            <a:srgbClr val="2E3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58368" y="2212848"/>
            <a:ext cx="384048" cy="384048"/>
          </a:xfrm>
          <a:prstGeom prst="ellipse">
            <a:avLst/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enlo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743200"/>
            <a:ext cx="1955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EF3FA"/>
                </a:solidFill>
                <a:latin typeface="Helvetica Neue"/>
              </a:rPr>
              <a:t>Signals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145536"/>
            <a:ext cx="1955535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3B0C6"/>
                </a:solidFill>
                <a:latin typeface="Helvetica Neue"/>
              </a:rPr>
              <a:t>Extract facts from the request, conversation, identity and content. Signals describe; they never choose a backend.</a:t>
            </a:r>
          </a:p>
        </p:txBody>
      </p:sp>
      <p:sp>
        <p:nvSpPr>
          <p:cNvPr id="9" name="Oval 8"/>
          <p:cNvSpPr/>
          <p:nvPr/>
        </p:nvSpPr>
        <p:spPr>
          <a:xfrm>
            <a:off x="2869935" y="2212848"/>
            <a:ext cx="384048" cy="384048"/>
          </a:xfrm>
          <a:prstGeom prst="ellipse">
            <a:avLst/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enl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69935" y="2743200"/>
            <a:ext cx="1955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EF3FA"/>
                </a:solidFill>
                <a:latin typeface="Helvetica Neue"/>
              </a:rPr>
              <a:t>Projections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69935" y="3145536"/>
            <a:ext cx="1955535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3B0C6"/>
                </a:solidFill>
                <a:latin typeface="Helvetica Neue"/>
              </a:rPr>
              <a:t>Coordinate evidence. Combine several signal outputs into one reusable result.</a:t>
            </a:r>
          </a:p>
        </p:txBody>
      </p:sp>
      <p:sp>
        <p:nvSpPr>
          <p:cNvPr id="12" name="Oval 11"/>
          <p:cNvSpPr/>
          <p:nvPr/>
        </p:nvSpPr>
        <p:spPr>
          <a:xfrm>
            <a:off x="5081503" y="2212848"/>
            <a:ext cx="384048" cy="384048"/>
          </a:xfrm>
          <a:prstGeom prst="ellipse">
            <a:avLst/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enlo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1503" y="2743200"/>
            <a:ext cx="1955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EF3FA"/>
                </a:solidFill>
                <a:latin typeface="Helvetica Neue"/>
              </a:rPr>
              <a:t>Decisions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1503" y="3145536"/>
            <a:ext cx="1955535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3B0C6"/>
                </a:solidFill>
                <a:latin typeface="Helvetica Neue"/>
              </a:rPr>
              <a:t>Apply policy. Boolean rules over signals and projections, resolved by priority.</a:t>
            </a:r>
          </a:p>
        </p:txBody>
      </p:sp>
      <p:sp>
        <p:nvSpPr>
          <p:cNvPr id="15" name="Oval 14"/>
          <p:cNvSpPr/>
          <p:nvPr/>
        </p:nvSpPr>
        <p:spPr>
          <a:xfrm>
            <a:off x="7293071" y="2212848"/>
            <a:ext cx="384048" cy="384048"/>
          </a:xfrm>
          <a:prstGeom prst="ellipse">
            <a:avLst/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enlo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93071" y="2743200"/>
            <a:ext cx="1955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EF3FA"/>
                </a:solidFill>
                <a:latin typeface="Helvetica Neue"/>
              </a:rPr>
              <a:t>Algorithms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93071" y="3145536"/>
            <a:ext cx="1955535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3B0C6"/>
                </a:solidFill>
                <a:latin typeface="Helvetica Neue"/>
              </a:rPr>
              <a:t>Select one model, or coordinate several across a cascade, panel or multi-round workflow.</a:t>
            </a:r>
          </a:p>
        </p:txBody>
      </p:sp>
      <p:sp>
        <p:nvSpPr>
          <p:cNvPr id="18" name="Oval 17"/>
          <p:cNvSpPr/>
          <p:nvPr/>
        </p:nvSpPr>
        <p:spPr>
          <a:xfrm>
            <a:off x="9504639" y="2212848"/>
            <a:ext cx="384048" cy="384048"/>
          </a:xfrm>
          <a:prstGeom prst="ellipse">
            <a:avLst/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enlo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4639" y="2743200"/>
            <a:ext cx="1955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EF3FA"/>
                </a:solidFill>
                <a:latin typeface="Helvetica Neue"/>
              </a:rPr>
              <a:t>Model pools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4639" y="3145536"/>
            <a:ext cx="1955535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3B0C6"/>
                </a:solidFill>
                <a:latin typeface="Helvetica Neue"/>
              </a:rPr>
              <a:t>Execute. Providers bind logical model names to physical endpoints.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38251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7D96"/>
                </a:solidFill>
                <a:latin typeface="Menlo"/>
              </a:rPr>
              <a:t>vllm-sr.ai/docs/overview/signal-driven-decisions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21647" y="638251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4D4D"/>
                </a:solidFill>
                <a:latin typeface="Menlo"/>
              </a:rPr>
              <a:t>10:00  ·  </a:t>
            </a:r>
            <a:r>
              <a:rPr sz="1000">
                <a:solidFill>
                  <a:srgbClr val="6E7D96"/>
                </a:solidFill>
                <a:latin typeface="Menlo"/>
              </a:rPr>
              <a:t>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83080" cy="63500"/>
          </a:xfrm>
          <a:prstGeom prst="rect">
            <a:avLst/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30352"/>
            <a:ext cx="1087495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EF3FA"/>
                </a:solidFill>
                <a:latin typeface="Helvetica Neue"/>
              </a:rPr>
              <a:t>Stage 1 — Signals, and the models behind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8872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B0C6"/>
                </a:solidFill>
                <a:latin typeface="Helvetica Neue"/>
              </a:rPr>
              <a:t>Deterministic rules and small fine-tuned classifiers sit side by side. All of it on CPU, in the router pod.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938528"/>
            <a:ext cx="3490874" cy="2240280"/>
          </a:xfrm>
          <a:prstGeom prst="rect">
            <a:avLst/>
          </a:prstGeom>
          <a:solidFill>
            <a:srgbClr val="151B26"/>
          </a:solidFill>
          <a:ln w="12700">
            <a:solidFill>
              <a:srgbClr val="2E3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938528"/>
            <a:ext cx="3490874" cy="38100"/>
          </a:xfrm>
          <a:prstGeom prst="rect">
            <a:avLst/>
          </a:prstGeom>
          <a:solidFill>
            <a:srgbClr val="FF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176272"/>
            <a:ext cx="30885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EF3FA"/>
                </a:solidFill>
                <a:latin typeface="Helvetica Neue"/>
              </a:rPr>
              <a:t>Deterministic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651760"/>
            <a:ext cx="3088538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3B0C6"/>
                </a:solidFill>
                <a:latin typeface="Helvetica Neue"/>
              </a:rPr>
              <a:t>Keyword lists, metadata predicates, context-length bands. Cheap, auditable, trivially explained to a compliance team — and trivially evaded.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50410" y="1938528"/>
            <a:ext cx="3490874" cy="2240280"/>
          </a:xfrm>
          <a:prstGeom prst="rect">
            <a:avLst/>
          </a:prstGeom>
          <a:solidFill>
            <a:srgbClr val="151B26"/>
          </a:solidFill>
          <a:ln w="12700">
            <a:solidFill>
              <a:srgbClr val="2E3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0410" y="1938528"/>
            <a:ext cx="3490874" cy="38100"/>
          </a:xfrm>
          <a:prstGeom prst="rect">
            <a:avLst/>
          </a:prstGeom>
          <a:solidFill>
            <a:srgbClr val="4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1578" y="2176272"/>
            <a:ext cx="30885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EF3FA"/>
                </a:solidFill>
                <a:latin typeface="Helvetica Neue"/>
              </a:rPr>
              <a:t>Learned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1578" y="2651760"/>
            <a:ext cx="3088538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3B0C6"/>
                </a:solidFill>
                <a:latin typeface="Helvetica Neue"/>
              </a:rPr>
              <a:t>The Vela-1.0-Encoder-307M family, which is the project's mmBERT encoder — our router logs it as model_type "mmbert". Domain (14 labels), Guard (benign/jailbreak), PII (35 BIO token tags over 17 entity types), plus an embedding model for routing and the cache.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2452" y="1938528"/>
            <a:ext cx="3490874" cy="2240280"/>
          </a:xfrm>
          <a:prstGeom prst="rect">
            <a:avLst/>
          </a:prstGeom>
          <a:solidFill>
            <a:srgbClr val="151B26"/>
          </a:solidFill>
          <a:ln w="12700">
            <a:solidFill>
              <a:srgbClr val="2E3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2452" y="1938528"/>
            <a:ext cx="3490874" cy="38100"/>
          </a:xfrm>
          <a:prstGeom prst="rect">
            <a:avLst/>
          </a:prstGeom>
          <a:solidFill>
            <a:srgbClr val="B38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3620" y="2176272"/>
            <a:ext cx="30885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EF3FA"/>
                </a:solidFill>
                <a:latin typeface="Helvetica Neue"/>
              </a:rPr>
              <a:t>Swappable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3620" y="2651760"/>
            <a:ext cx="3088538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3B0C6"/>
                </a:solidFill>
                <a:latin typeface="Helvetica Neue"/>
              </a:rPr>
              <a:t>Each is just a model_id in the config. Point it at your own fine-tune and it loads that instead — the project's own complexity classifier went 80.4% to 98.5% that way.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398264"/>
            <a:ext cx="10874959" cy="475488"/>
          </a:xfrm>
          <a:prstGeom prst="rect">
            <a:avLst/>
          </a:prstGeom>
          <a:solidFill>
            <a:srgbClr val="1E2636"/>
          </a:solidFill>
          <a:ln w="12700">
            <a:solidFill>
              <a:srgbClr val="FFC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4398264"/>
            <a:ext cx="50800" cy="475488"/>
          </a:xfrm>
          <a:prstGeom prst="rect">
            <a:avLst/>
          </a:prstGeom>
          <a:solidFill>
            <a:srgbClr val="FFC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4517136"/>
            <a:ext cx="1047262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C857"/>
                </a:solidFill>
                <a:latin typeface="Helvetica Neue"/>
              </a:rPr>
              <a:t>Signals describe facts. They do not choose the backend.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1647" y="638251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4D4D"/>
                </a:solidFill>
                <a:latin typeface="Menlo"/>
              </a:rPr>
              <a:t>11:00  ·  </a:t>
            </a:r>
            <a:r>
              <a:rPr sz="1000">
                <a:solidFill>
                  <a:srgbClr val="6E7D96"/>
                </a:solidFill>
                <a:latin typeface="Menlo"/>
              </a:rP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83080" cy="63500"/>
          </a:xfrm>
          <a:prstGeom prst="rect">
            <a:avLst/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30352"/>
            <a:ext cx="1087495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EF3FA"/>
                </a:solidFill>
                <a:latin typeface="Helvetica Neue"/>
              </a:rPr>
              <a:t>Stage 3 — Decisions apply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8872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B0C6"/>
                </a:solidFill>
                <a:latin typeface="Helvetica Neue"/>
              </a:rPr>
              <a:t>Boolean rules with arbitrary nesting. Priority resolves conflicts — the highest-priority matching decision wins.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938528"/>
            <a:ext cx="3490874" cy="2240280"/>
          </a:xfrm>
          <a:prstGeom prst="rect">
            <a:avLst/>
          </a:prstGeom>
          <a:solidFill>
            <a:srgbClr val="151B26"/>
          </a:solidFill>
          <a:ln w="12700">
            <a:solidFill>
              <a:srgbClr val="2E3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938528"/>
            <a:ext cx="3490874" cy="38100"/>
          </a:xfrm>
          <a:prstGeom prst="rect">
            <a:avLst/>
          </a:prstGeom>
          <a:solidFill>
            <a:srgbClr val="FF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176272"/>
            <a:ext cx="30885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EF3FA"/>
                </a:solidFill>
                <a:latin typeface="Helvetica Neue"/>
              </a:rPr>
              <a:t>Our ladder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651760"/>
            <a:ext cx="3088538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3B0C6"/>
                </a:solidFill>
                <a:latin typeface="Helvetica Neue"/>
              </a:rPr>
              <a:t>Guardrails at 1000–1600 (PII, unsafe, jailbreak). Policy overrides at 220–300. Complexity at 140–145. Intent at 90–130. Fallbacks at 10–50, all pointing at the small model.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50410" y="1938528"/>
            <a:ext cx="3490874" cy="2240280"/>
          </a:xfrm>
          <a:prstGeom prst="rect">
            <a:avLst/>
          </a:prstGeom>
          <a:solidFill>
            <a:srgbClr val="151B26"/>
          </a:solidFill>
          <a:ln w="12700">
            <a:solidFill>
              <a:srgbClr val="2E3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0410" y="1938528"/>
            <a:ext cx="3490874" cy="38100"/>
          </a:xfrm>
          <a:prstGeom prst="rect">
            <a:avLst/>
          </a:prstGeom>
          <a:solidFill>
            <a:srgbClr val="4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1578" y="2176272"/>
            <a:ext cx="30885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EF3FA"/>
                </a:solidFill>
                <a:latin typeface="Helvetica Neue"/>
              </a:rPr>
              <a:t>Eligibility before optimisation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1578" y="2651760"/>
            <a:ext cx="3088538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3B0C6"/>
                </a:solidFill>
                <a:latin typeface="Helvetica Neue"/>
              </a:rPr>
              <a:t>Authorization, local-only processing, modality and context capacity make a route eligible or ineligible before any optimiser compares cost or latency.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2452" y="1938528"/>
            <a:ext cx="3490874" cy="2240280"/>
          </a:xfrm>
          <a:prstGeom prst="rect">
            <a:avLst/>
          </a:prstGeom>
          <a:solidFill>
            <a:srgbClr val="151B26"/>
          </a:solidFill>
          <a:ln w="12700">
            <a:solidFill>
              <a:srgbClr val="2E3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2452" y="1938528"/>
            <a:ext cx="3490874" cy="38100"/>
          </a:xfrm>
          <a:prstGeom prst="rect">
            <a:avLst/>
          </a:prstGeom>
          <a:solidFill>
            <a:srgbClr val="B38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3620" y="2176272"/>
            <a:ext cx="30885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EF3FA"/>
                </a:solidFill>
                <a:latin typeface="Helvetica Neue"/>
              </a:rPr>
              <a:t>Detection is not enforcement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3620" y="2651760"/>
            <a:ext cx="3088538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3B0C6"/>
                </a:solidFill>
                <a:latin typeface="Helvetica Neue"/>
              </a:rPr>
              <a:t>A PII signal reports a match. The decision chooses whether to block, reroute to a local-only model, redact, or merely observe. The same detector, different policy per recipe.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398264"/>
            <a:ext cx="10874959" cy="475488"/>
          </a:xfrm>
          <a:prstGeom prst="rect">
            <a:avLst/>
          </a:prstGeom>
          <a:solidFill>
            <a:srgbClr val="1E2636"/>
          </a:solidFill>
          <a:ln w="12700">
            <a:solidFill>
              <a:srgbClr val="FFC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4398264"/>
            <a:ext cx="50800" cy="475488"/>
          </a:xfrm>
          <a:prstGeom prst="rect">
            <a:avLst/>
          </a:prstGeom>
          <a:solidFill>
            <a:srgbClr val="FFC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4517136"/>
            <a:ext cx="1047262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C857"/>
                </a:solidFill>
                <a:latin typeface="Helvetica Neue"/>
              </a:rPr>
              <a:t>Three-digit gap between guardrails and routing: a cost optimisation can never outrank a safety rule.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1647" y="638251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4D4D"/>
                </a:solidFill>
                <a:latin typeface="Menlo"/>
              </a:rPr>
              <a:t>12:30  ·  </a:t>
            </a:r>
            <a:r>
              <a:rPr sz="1000">
                <a:solidFill>
                  <a:srgbClr val="6E7D96"/>
                </a:solidFill>
                <a:latin typeface="Menlo"/>
              </a:rP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83080" cy="63500"/>
          </a:xfrm>
          <a:prstGeom prst="rect">
            <a:avLst/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30352"/>
            <a:ext cx="1087495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EF3FA"/>
                </a:solidFill>
                <a:latin typeface="Helvetica Neue"/>
              </a:rPr>
              <a:t>Stages 2 &amp; 4 — Projections and Algorithms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8872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B0C6"/>
                </a:solidFill>
                <a:latin typeface="Helvetica Neue"/>
              </a:rPr>
              <a:t>The two stages most demos skip. Projections make policy readable; algorithms make it more than a switch statement.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938528"/>
            <a:ext cx="3490874" cy="2240280"/>
          </a:xfrm>
          <a:prstGeom prst="rect">
            <a:avLst/>
          </a:prstGeom>
          <a:solidFill>
            <a:srgbClr val="151B26"/>
          </a:solidFill>
          <a:ln w="12700">
            <a:solidFill>
              <a:srgbClr val="2E3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938528"/>
            <a:ext cx="3490874" cy="38100"/>
          </a:xfrm>
          <a:prstGeom prst="rect">
            <a:avLst/>
          </a:prstGeom>
          <a:solidFill>
            <a:srgbClr val="FF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176272"/>
            <a:ext cx="30885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EF3FA"/>
                </a:solidFill>
                <a:latin typeface="Helvetica Neue"/>
              </a:rPr>
              <a:t>Projections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651760"/>
            <a:ext cx="3088538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3B0C6"/>
                </a:solidFill>
                <a:latin typeface="Helvetica Neue"/>
              </a:rPr>
              <a:t>Partitions pick a coherent winner among overlapping matches. Scores combine weighted inputs. Mappings turn a score into named bands. Define a difficulty score once, reference it from ten decisions.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50410" y="1938528"/>
            <a:ext cx="3490874" cy="2240280"/>
          </a:xfrm>
          <a:prstGeom prst="rect">
            <a:avLst/>
          </a:prstGeom>
          <a:solidFill>
            <a:srgbClr val="151B26"/>
          </a:solidFill>
          <a:ln w="12700">
            <a:solidFill>
              <a:srgbClr val="2E3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0410" y="1938528"/>
            <a:ext cx="3490874" cy="38100"/>
          </a:xfrm>
          <a:prstGeom prst="rect">
            <a:avLst/>
          </a:prstGeom>
          <a:solidFill>
            <a:srgbClr val="4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1578" y="2176272"/>
            <a:ext cx="30885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EF3FA"/>
                </a:solidFill>
                <a:latin typeface="Helvetica Neue"/>
              </a:rPr>
              <a:t>Selection algorithms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1578" y="2651760"/>
            <a:ext cx="3088538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3B0C6"/>
                </a:solidFill>
                <a:latin typeface="Helvetica Neue"/>
              </a:rPr>
              <a:t>Pick one candidate — fixed order, semantic fit, measured latency, multi-factor, or Elo-style learning from feedback. Our demo runs the simplest: static.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2452" y="1938528"/>
            <a:ext cx="3490874" cy="2240280"/>
          </a:xfrm>
          <a:prstGeom prst="rect">
            <a:avLst/>
          </a:prstGeom>
          <a:solidFill>
            <a:srgbClr val="151B26"/>
          </a:solidFill>
          <a:ln w="12700">
            <a:solidFill>
              <a:srgbClr val="2E3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2452" y="1938528"/>
            <a:ext cx="3490874" cy="38100"/>
          </a:xfrm>
          <a:prstGeom prst="rect">
            <a:avLst/>
          </a:prstGeom>
          <a:solidFill>
            <a:srgbClr val="B38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3620" y="2176272"/>
            <a:ext cx="30885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EF3FA"/>
                </a:solidFill>
                <a:latin typeface="Helvetica Neue"/>
              </a:rPr>
              <a:t>Looper algorithms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3620" y="2651760"/>
            <a:ext cx="3088538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3B0C6"/>
                </a:solidFill>
                <a:latin typeface="Helvetica Neue"/>
              </a:rPr>
              <a:t>Coordinate several models for one request. SELECT, CASCADE (escalate on confidence), FUSION (compare and synthesise), WORKFLOW (planner, thinker, worker, verifier).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398264"/>
            <a:ext cx="10874959" cy="475488"/>
          </a:xfrm>
          <a:prstGeom prst="rect">
            <a:avLst/>
          </a:prstGeom>
          <a:solidFill>
            <a:srgbClr val="1E2636"/>
          </a:solidFill>
          <a:ln w="12700">
            <a:solidFill>
              <a:srgbClr val="FFC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4398264"/>
            <a:ext cx="50800" cy="475488"/>
          </a:xfrm>
          <a:prstGeom prst="rect">
            <a:avLst/>
          </a:prstGeom>
          <a:solidFill>
            <a:srgbClr val="FFC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4517136"/>
            <a:ext cx="1047262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C857"/>
                </a:solidFill>
                <a:latin typeface="Helvetica Neue"/>
              </a:rPr>
              <a:t>quality = routing × diversity × verification × contract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1647" y="638251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4D4D"/>
                </a:solidFill>
                <a:latin typeface="Menlo"/>
              </a:rPr>
              <a:t>14:00  ·  </a:t>
            </a:r>
            <a:r>
              <a:rPr sz="1000">
                <a:solidFill>
                  <a:srgbClr val="6E7D96"/>
                </a:solidFill>
                <a:latin typeface="Menlo"/>
              </a:rP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83080" cy="63500"/>
          </a:xfrm>
          <a:prstGeom prst="rect">
            <a:avLst/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30352"/>
            <a:ext cx="1087495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EF3FA"/>
                </a:solidFill>
                <a:latin typeface="Helvetica Neue"/>
              </a:rPr>
              <a:t>Recipes: policy you can adopt with one string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8872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B0C6"/>
                </a:solidFill>
                <a:latin typeface="Helvetica Neue"/>
              </a:rPr>
              <a:t>A recipe owns its own signals, projections, decisions, algorithms, plugins and cache namespace. An entrypoint picks which one handles a request.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938528"/>
          <a:ext cx="1087495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651760"/>
                <a:gridCol w="6668719"/>
              </a:tblGrid>
              <a:tr h="53340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4D4D"/>
                          </a:solidFill>
                          <a:latin typeface="Helvetica Neue"/>
                        </a:rPr>
                        <a:t>RECIPE</a:t>
                      </a:r>
                    </a:p>
                  </a:txBody>
                  <a:tcPr marL="91440" marR="91440">
                    <a:solidFill>
                      <a:srgbClr val="0B0E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4D4D"/>
                          </a:solidFill>
                          <a:latin typeface="Helvetica Neue"/>
                        </a:rPr>
                        <a:t>VIRTUAL MODEL</a:t>
                      </a:r>
                    </a:p>
                  </a:txBody>
                  <a:tcPr marL="91440" marR="91440">
                    <a:solidFill>
                      <a:srgbClr val="0B0E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4D4D"/>
                          </a:solidFill>
                          <a:latin typeface="Helvetica Neue"/>
                        </a:rPr>
                        <a:t>OPTIMISES FOR</a:t>
                      </a:r>
                    </a:p>
                  </a:txBody>
                  <a:tcPr marL="91440" marR="91440">
                    <a:solidFill>
                      <a:srgbClr val="0B0E14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EF3FA"/>
                          </a:solidFill>
                          <a:latin typeface="Helvetica Neue"/>
                        </a:rPr>
                        <a:t>Balance</a:t>
                      </a:r>
                    </a:p>
                  </a:txBody>
                  <a:tcPr marL="91440" marR="91440" marT="45720" marB="45720">
                    <a:solidFill>
                      <a:srgbClr val="151B2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A3B0C6"/>
                          </a:solidFill>
                          <a:latin typeface="Menlo"/>
                        </a:rPr>
                        <a:t>vllm-sr/mom-v1-blend</a:t>
                      </a:r>
                    </a:p>
                  </a:txBody>
                  <a:tcPr marL="91440" marR="91440" marT="45720" marB="45720">
                    <a:solidFill>
                      <a:srgbClr val="151B2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A3B0C6"/>
                          </a:solidFill>
                          <a:latin typeface="Helvetica Neue"/>
                        </a:rPr>
                        <a:t>Difficulty, consequential advice, answer recovery</a:t>
                      </a:r>
                    </a:p>
                  </a:txBody>
                  <a:tcPr marL="91440" marR="91440" marT="45720" marB="45720">
                    <a:solidFill>
                      <a:srgbClr val="151B26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EF3FA"/>
                          </a:solidFill>
                          <a:latin typeface="Helvetica Neue"/>
                        </a:rPr>
                        <a:t>Speed</a:t>
                      </a:r>
                    </a:p>
                  </a:txBody>
                  <a:tcPr marL="91440" marR="91440" marT="45720" marB="45720">
                    <a:solidFill>
                      <a:srgbClr val="0B0E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A3B0C6"/>
                          </a:solidFill>
                          <a:latin typeface="Menlo"/>
                        </a:rPr>
                        <a:t>vllm-sr/mom-v1-flash</a:t>
                      </a:r>
                    </a:p>
                  </a:txBody>
                  <a:tcPr marL="91440" marR="91440" marT="45720" marB="45720">
                    <a:solidFill>
                      <a:srgbClr val="0B0E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A3B0C6"/>
                          </a:solidFill>
                          <a:latin typeface="Helvetica Neue"/>
                        </a:rPr>
                        <a:t>Lighter signal set, lowest added latency</a:t>
                      </a:r>
                    </a:p>
                  </a:txBody>
                  <a:tcPr marL="91440" marR="91440" marT="45720" marB="45720">
                    <a:solidFill>
                      <a:srgbClr val="0B0E14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EF3FA"/>
                          </a:solidFill>
                          <a:latin typeface="Helvetica Neue"/>
                        </a:rPr>
                        <a:t>Cost</a:t>
                      </a:r>
                    </a:p>
                  </a:txBody>
                  <a:tcPr marL="91440" marR="91440" marT="45720" marB="45720">
                    <a:solidFill>
                      <a:srgbClr val="151B2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A3B0C6"/>
                          </a:solidFill>
                          <a:latin typeface="Menlo"/>
                        </a:rPr>
                        <a:t>vllm-sr/mom-v1-lite</a:t>
                      </a:r>
                    </a:p>
                  </a:txBody>
                  <a:tcPr marL="91440" marR="91440" marT="45720" marB="45720">
                    <a:solidFill>
                      <a:srgbClr val="151B2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A3B0C6"/>
                          </a:solidFill>
                          <a:latin typeface="Helvetica Neue"/>
                        </a:rPr>
                        <a:t>Lighter signal set, cheapest viable path</a:t>
                      </a:r>
                    </a:p>
                  </a:txBody>
                  <a:tcPr marL="91440" marR="91440" marT="45720" marB="45720">
                    <a:solidFill>
                      <a:srgbClr val="151B26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EF3FA"/>
                          </a:solidFill>
                          <a:latin typeface="Helvetica Neue"/>
                        </a:rPr>
                        <a:t>Accuracy</a:t>
                      </a:r>
                    </a:p>
                  </a:txBody>
                  <a:tcPr marL="91440" marR="91440" marT="45720" marB="45720">
                    <a:solidFill>
                      <a:srgbClr val="0B0E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A3B0C6"/>
                          </a:solidFill>
                          <a:latin typeface="Menlo"/>
                        </a:rPr>
                        <a:t>vllm-sr/mom-v1-ultra</a:t>
                      </a:r>
                    </a:p>
                  </a:txBody>
                  <a:tcPr marL="91440" marR="91440" marT="45720" marB="45720">
                    <a:solidFill>
                      <a:srgbClr val="0B0E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A3B0C6"/>
                          </a:solidFill>
                          <a:latin typeface="Helvetica Neue"/>
                        </a:rPr>
                        <a:t>Usually one strong model</a:t>
                      </a:r>
                    </a:p>
                  </a:txBody>
                  <a:tcPr marL="91440" marR="91440" marT="45720" marB="45720">
                    <a:solidFill>
                      <a:srgbClr val="0B0E14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EF3FA"/>
                          </a:solidFill>
                          <a:latin typeface="Helvetica Neue"/>
                        </a:rPr>
                        <a:t>Vault</a:t>
                      </a:r>
                    </a:p>
                  </a:txBody>
                  <a:tcPr marL="91440" marR="91440" marT="45720" marB="45720">
                    <a:solidFill>
                      <a:srgbClr val="151B2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A3B0C6"/>
                          </a:solidFill>
                          <a:latin typeface="Menlo"/>
                        </a:rPr>
                        <a:t>vllm-sr/mom-v1-vault</a:t>
                      </a:r>
                    </a:p>
                  </a:txBody>
                  <a:tcPr marL="91440" marR="91440" marT="45720" marB="45720">
                    <a:solidFill>
                      <a:srgbClr val="151B2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A3B0C6"/>
                          </a:solidFill>
                          <a:latin typeface="Helvetica Neue"/>
                        </a:rPr>
                        <a:t>Privacy — Guard and PII on Vela 2.0 0.3B</a:t>
                      </a:r>
                    </a:p>
                  </a:txBody>
                  <a:tcPr marL="91440" marR="91440" marT="45720" marB="45720">
                    <a:solidFill>
                      <a:srgbClr val="151B2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521647" y="638251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4D4D"/>
                </a:solidFill>
                <a:latin typeface="Menlo"/>
              </a:rPr>
              <a:t>15:00  ·  </a:t>
            </a:r>
            <a:r>
              <a:rPr sz="1000">
                <a:solidFill>
                  <a:srgbClr val="6E7D96"/>
                </a:solidFill>
                <a:latin typeface="Menlo"/>
              </a:rP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83080" cy="63500"/>
          </a:xfrm>
          <a:prstGeom prst="rect">
            <a:avLst/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30352"/>
            <a:ext cx="1087495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EF3FA"/>
                </a:solidFill>
                <a:latin typeface="Helvetica Neue"/>
              </a:rPr>
              <a:t>What the project reports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8872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B0C6"/>
                </a:solidFill>
                <a:latin typeface="Helvetica Neue"/>
              </a:rPr>
              <a:t>Figures published by the maintainers. Not ours — we have not reproduced them, and you should re-validate against your own workload.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938528"/>
          <a:ext cx="1087495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651760"/>
                <a:gridCol w="6668719"/>
              </a:tblGrid>
              <a:tr h="45720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4D4D"/>
                          </a:solidFill>
                          <a:latin typeface="Helvetica Neue"/>
                        </a:rPr>
                        <a:t>METRIC</a:t>
                      </a:r>
                    </a:p>
                  </a:txBody>
                  <a:tcPr marL="91440" marR="91440">
                    <a:solidFill>
                      <a:srgbClr val="0B0E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4D4D"/>
                          </a:solidFill>
                          <a:latin typeface="Helvetica Neue"/>
                        </a:rPr>
                        <a:t>REPORTED</a:t>
                      </a:r>
                    </a:p>
                  </a:txBody>
                  <a:tcPr marL="91440" marR="91440">
                    <a:solidFill>
                      <a:srgbClr val="0B0E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4D4D"/>
                          </a:solidFill>
                          <a:latin typeface="Helvetica Neue"/>
                        </a:rPr>
                        <a:t>CONTEXT</a:t>
                      </a:r>
                    </a:p>
                  </a:txBody>
                  <a:tcPr marL="91440" marR="91440">
                    <a:solidFill>
                      <a:srgbClr val="0B0E1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EF3FA"/>
                          </a:solidFill>
                          <a:latin typeface="Helvetica Neue"/>
                        </a:rPr>
                        <a:t>Traffic kept local</a:t>
                      </a:r>
                    </a:p>
                  </a:txBody>
                  <a:tcPr marL="91440" marR="91440" marT="45720" marB="45720">
                    <a:solidFill>
                      <a:srgbClr val="151B2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A3B0C6"/>
                          </a:solidFill>
                          <a:latin typeface="Helvetica Neue"/>
                        </a:rPr>
                        <a:t>86%</a:t>
                      </a:r>
                    </a:p>
                  </a:txBody>
                  <a:tcPr marL="91440" marR="91440" marT="45720" marB="45720">
                    <a:solidFill>
                      <a:srgbClr val="151B2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A3B0C6"/>
                          </a:solidFill>
                          <a:latin typeface="Helvetica Neue"/>
                        </a:rPr>
                        <a:t>Simple queries to free local models instead of cloud APIs</a:t>
                      </a:r>
                    </a:p>
                  </a:txBody>
                  <a:tcPr marL="91440" marR="91440" marT="45720" marB="45720">
                    <a:solidFill>
                      <a:srgbClr val="151B2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EF3FA"/>
                          </a:solidFill>
                          <a:latin typeface="Helvetica Neue"/>
                        </a:rPr>
                        <a:t>Routing latency</a:t>
                      </a:r>
                    </a:p>
                  </a:txBody>
                  <a:tcPr marL="91440" marR="91440" marT="45720" marB="45720">
                    <a:solidFill>
                      <a:srgbClr val="0B0E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A3B0C6"/>
                          </a:solidFill>
                          <a:latin typeface="Helvetica Neue"/>
                        </a:rPr>
                        <a:t>40 ms P50</a:t>
                      </a:r>
                    </a:p>
                  </a:txBody>
                  <a:tcPr marL="91440" marR="91440" marT="45720" marB="45720">
                    <a:solidFill>
                      <a:srgbClr val="0B0E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A3B0C6"/>
                          </a:solidFill>
                          <a:latin typeface="Helvetica Neue"/>
                        </a:rPr>
                        <a:t>~0.4% overhead against inference</a:t>
                      </a:r>
                    </a:p>
                  </a:txBody>
                  <a:tcPr marL="91440" marR="91440" marT="45720" marB="45720">
                    <a:solidFill>
                      <a:srgbClr val="0B0E1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EF3FA"/>
                          </a:solidFill>
                          <a:latin typeface="Helvetica Neue"/>
                        </a:rPr>
                        <a:t>Complexity accuracy</a:t>
                      </a:r>
                    </a:p>
                  </a:txBody>
                  <a:tcPr marL="91440" marR="91440" marT="45720" marB="45720">
                    <a:solidFill>
                      <a:srgbClr val="151B2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A3B0C6"/>
                          </a:solidFill>
                          <a:latin typeface="Helvetica Neue"/>
                        </a:rPr>
                        <a:t>80.4% → 98.5%</a:t>
                      </a:r>
                    </a:p>
                  </a:txBody>
                  <a:tcPr marL="91440" marR="91440" marT="45720" marB="45720">
                    <a:solidFill>
                      <a:srgbClr val="151B2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A3B0C6"/>
                          </a:solidFill>
                          <a:latin typeface="Helvetica Neue"/>
                        </a:rPr>
                        <a:t>Pretrained MiniLM vs their fine-tune; misrouting 19.6% → 1.5%</a:t>
                      </a:r>
                    </a:p>
                  </a:txBody>
                  <a:tcPr marL="91440" marR="91440" marT="45720" marB="45720">
                    <a:solidFill>
                      <a:srgbClr val="151B2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EF3FA"/>
                          </a:solidFill>
                          <a:latin typeface="Helvetica Neue"/>
                        </a:rPr>
                        <a:t>Fine-tune cost</a:t>
                      </a:r>
                    </a:p>
                  </a:txBody>
                  <a:tcPr marL="91440" marR="91440" marT="45720" marB="45720">
                    <a:solidFill>
                      <a:srgbClr val="0B0E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A3B0C6"/>
                          </a:solidFill>
                          <a:latin typeface="Helvetica Neue"/>
                        </a:rPr>
                        <a:t>&lt; 2 h on CPU</a:t>
                      </a:r>
                    </a:p>
                  </a:txBody>
                  <a:tcPr marL="91440" marR="91440" marT="45720" marB="45720">
                    <a:solidFill>
                      <a:srgbClr val="0B0E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A3B0C6"/>
                          </a:solidFill>
                          <a:latin typeface="Helvetica Neue"/>
                        </a:rPr>
                        <a:t>23M-parameter model, drops in as a model swap</a:t>
                      </a:r>
                    </a:p>
                  </a:txBody>
                  <a:tcPr marL="91440" marR="91440" marT="45720" marB="45720">
                    <a:solidFill>
                      <a:srgbClr val="0B0E1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EF3FA"/>
                          </a:solidFill>
                          <a:latin typeface="Helvetica Neue"/>
                        </a:rPr>
                        <a:t>Selection algorithms</a:t>
                      </a:r>
                    </a:p>
                  </a:txBody>
                  <a:tcPr marL="91440" marR="91440" marT="45720" marB="45720">
                    <a:solidFill>
                      <a:srgbClr val="151B2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A3B0C6"/>
                          </a:solidFill>
                          <a:latin typeface="Helvetica Neue"/>
                        </a:rPr>
                        <a:t>11</a:t>
                      </a:r>
                    </a:p>
                  </a:txBody>
                  <a:tcPr marL="91440" marR="91440" marT="45720" marB="45720">
                    <a:solidFill>
                      <a:srgbClr val="151B2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A3B0C6"/>
                          </a:solidFill>
                          <a:latin typeface="Helvetica Neue"/>
                        </a:rPr>
                        <a:t>Static through Elo and Thompson sampling</a:t>
                      </a:r>
                    </a:p>
                  </a:txBody>
                  <a:tcPr marL="91440" marR="91440" marT="45720" marB="45720">
                    <a:solidFill>
                      <a:srgbClr val="151B2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EF3FA"/>
                          </a:solidFill>
                          <a:latin typeface="Helvetica Neue"/>
                        </a:rPr>
                        <a:t>Test-time scaling</a:t>
                      </a:r>
                    </a:p>
                  </a:txBody>
                  <a:tcPr marL="91440" marR="91440" marT="45720" marB="45720">
                    <a:solidFill>
                      <a:srgbClr val="0B0E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A3B0C6"/>
                          </a:solidFill>
                          <a:latin typeface="Helvetica Neue"/>
                        </a:rPr>
                        <a:t>LiveCodeBench 92.6 · GPQA-Diamond 96.0</a:t>
                      </a:r>
                    </a:p>
                  </a:txBody>
                  <a:tcPr marL="91440" marR="91440" marT="45720" marB="45720">
                    <a:solidFill>
                      <a:srgbClr val="0B0E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A3B0C6"/>
                          </a:solidFill>
                          <a:latin typeface="Helvetica Neue"/>
                        </a:rPr>
                        <a:t>A router improving on the models it routes to</a:t>
                      </a:r>
                    </a:p>
                  </a:txBody>
                  <a:tcPr marL="91440" marR="91440" marT="45720" marB="45720">
                    <a:solidFill>
                      <a:srgbClr val="0B0E1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638251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7D96"/>
                </a:solidFill>
                <a:latin typeface="Menlo"/>
              </a:rPr>
              <a:t>reported by the project / Aayush Saini — not reproduced by 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1647" y="638251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4D4D"/>
                </a:solidFill>
                <a:latin typeface="Menlo"/>
              </a:rPr>
              <a:t>16:00  ·  </a:t>
            </a:r>
            <a:r>
              <a:rPr sz="1000">
                <a:solidFill>
                  <a:srgbClr val="6E7D96"/>
                </a:solidFill>
                <a:latin typeface="Menlo"/>
              </a:rP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83080" cy="63500"/>
          </a:xfrm>
          <a:prstGeom prst="rect">
            <a:avLst/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30352"/>
            <a:ext cx="1087495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EF3FA"/>
                </a:solidFill>
                <a:latin typeface="Helvetica Neue"/>
              </a:rPr>
              <a:t>What we measured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8872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B0C6"/>
                </a:solidFill>
                <a:latin typeface="Helvetica Neue"/>
              </a:rPr>
              <a:t>Everything below came off the cluster behind this demo. Including the parts that did not work.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938528"/>
          <a:ext cx="1087495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651760"/>
                <a:gridCol w="6668719"/>
              </a:tblGrid>
              <a:tr h="45720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4D4D"/>
                          </a:solidFill>
                          <a:latin typeface="Helvetica Neue"/>
                        </a:rPr>
                        <a:t>FINDING</a:t>
                      </a:r>
                    </a:p>
                  </a:txBody>
                  <a:tcPr marL="91440" marR="91440">
                    <a:solidFill>
                      <a:srgbClr val="0B0E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4D4D"/>
                          </a:solidFill>
                          <a:latin typeface="Helvetica Neue"/>
                        </a:rPr>
                        <a:t>MEASURED</a:t>
                      </a:r>
                    </a:p>
                  </a:txBody>
                  <a:tcPr marL="91440" marR="91440">
                    <a:solidFill>
                      <a:srgbClr val="0B0E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4D4D"/>
                          </a:solidFill>
                          <a:latin typeface="Helvetica Neue"/>
                        </a:rPr>
                        <a:t>SO WHAT</a:t>
                      </a:r>
                    </a:p>
                  </a:txBody>
                  <a:tcPr marL="91440" marR="91440">
                    <a:solidFill>
                      <a:srgbClr val="0B0E1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EF3FA"/>
                          </a:solidFill>
                          <a:latin typeface="Helvetica Neue"/>
                        </a:rPr>
                        <a:t>Routing overhead</a:t>
                      </a:r>
                    </a:p>
                  </a:txBody>
                  <a:tcPr marL="91440" marR="91440" marT="45720" marB="45720">
                    <a:solidFill>
                      <a:srgbClr val="151B2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A3B0C6"/>
                          </a:solidFill>
                          <a:latin typeface="Helvetica Neue"/>
                        </a:rPr>
                        <a:t>192 ms, all signals on CPU</a:t>
                      </a:r>
                    </a:p>
                  </a:txBody>
                  <a:tcPr marL="91440" marR="91440" marT="45720" marB="45720">
                    <a:solidFill>
                      <a:srgbClr val="151B2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A3B0C6"/>
                          </a:solidFill>
                          <a:latin typeface="Helvetica Neue"/>
                        </a:rPr>
                        <a:t>~19% on a 1 s request, under 3% on a 7 s one. The project reports 40 ms — we run every signal family, and fact_check alone costs 178 ms</a:t>
                      </a:r>
                    </a:p>
                  </a:txBody>
                  <a:tcPr marL="91440" marR="91440" marT="45720" marB="45720">
                    <a:solidFill>
                      <a:srgbClr val="151B2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EF3FA"/>
                          </a:solidFill>
                          <a:latin typeface="Helvetica Neue"/>
                        </a:rPr>
                        <a:t>Guardrail block</a:t>
                      </a:r>
                    </a:p>
                  </a:txBody>
                  <a:tcPr marL="91440" marR="91440" marT="45720" marB="45720">
                    <a:solidFill>
                      <a:srgbClr val="0B0E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A3B0C6"/>
                          </a:solidFill>
                          <a:latin typeface="Helvetica Neue"/>
                        </a:rPr>
                        <a:t>~900 ms, no GPU touched</a:t>
                      </a:r>
                    </a:p>
                  </a:txBody>
                  <a:tcPr marL="91440" marR="91440" marT="45720" marB="45720">
                    <a:solidFill>
                      <a:srgbClr val="0B0E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A3B0C6"/>
                          </a:solidFill>
                          <a:latin typeface="Helvetica Neue"/>
                        </a:rPr>
                        <a:t>Answered by the router itself; a jailbreak costs no inference</a:t>
                      </a:r>
                    </a:p>
                  </a:txBody>
                  <a:tcPr marL="91440" marR="91440" marT="45720" marB="45720">
                    <a:solidFill>
                      <a:srgbClr val="0B0E1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EF3FA"/>
                          </a:solidFill>
                          <a:latin typeface="Helvetica Neue"/>
                        </a:rPr>
                        <a:t>Cache hit</a:t>
                      </a:r>
                    </a:p>
                  </a:txBody>
                  <a:tcPr marL="91440" marR="91440" marT="45720" marB="45720">
                    <a:solidFill>
                      <a:srgbClr val="151B2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A3B0C6"/>
                          </a:solidFill>
                          <a:latin typeface="Helvetica Neue"/>
                        </a:rPr>
                        <a:t>6.9 s → 0.75 s</a:t>
                      </a:r>
                    </a:p>
                  </a:txBody>
                  <a:tcPr marL="91440" marR="91440" marT="45720" marB="45720">
                    <a:solidFill>
                      <a:srgbClr val="151B2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A3B0C6"/>
                          </a:solidFill>
                          <a:latin typeface="Helvetica Neue"/>
                        </a:rPr>
                        <a:t>10× on an identical repeat</a:t>
                      </a:r>
                    </a:p>
                  </a:txBody>
                  <a:tcPr marL="91440" marR="91440" marT="45720" marB="45720">
                    <a:solidFill>
                      <a:srgbClr val="151B2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EF3FA"/>
                          </a:solidFill>
                          <a:latin typeface="Helvetica Neue"/>
                        </a:rPr>
                        <a:t>Cache precision</a:t>
                      </a:r>
                    </a:p>
                  </a:txBody>
                  <a:tcPr marL="91440" marR="91440" marT="45720" marB="45720">
                    <a:solidFill>
                      <a:srgbClr val="0B0E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A3B0C6"/>
                          </a:solidFill>
                          <a:latin typeface="Helvetica Neue"/>
                        </a:rPr>
                        <a:t>1.0000 identical · 0.9650 wrong question · 0.8555 true paraphrase</a:t>
                      </a:r>
                    </a:p>
                  </a:txBody>
                  <a:tcPr marL="91440" marR="91440" marT="45720" marB="45720">
                    <a:solidFill>
                      <a:srgbClr val="0B0E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A3B0C6"/>
                          </a:solidFill>
                          <a:latin typeface="Helvetica Neue"/>
                        </a:rPr>
                        <a:t>The wrong question outscores the paraphrase. At 0.95 it served an append/extend answer to an insert/remove question. Runs at 0.99</a:t>
                      </a:r>
                    </a:p>
                  </a:txBody>
                  <a:tcPr marL="91440" marR="91440" marT="45720" marB="45720">
                    <a:solidFill>
                      <a:srgbClr val="0B0E1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EF3FA"/>
                          </a:solidFill>
                          <a:latin typeface="Helvetica Neue"/>
                        </a:rPr>
                        <a:t>PII over-blocking</a:t>
                      </a:r>
                    </a:p>
                  </a:txBody>
                  <a:tcPr marL="91440" marR="91440" marT="45720" marB="45720">
                    <a:solidFill>
                      <a:srgbClr val="151B2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A3B0C6"/>
                          </a:solidFill>
                          <a:latin typeface="Helvetica Neue"/>
                        </a:rPr>
                        <a:t>"starts on Monday" and "capital of France"</a:t>
                      </a:r>
                    </a:p>
                  </a:txBody>
                  <a:tcPr marL="91440" marR="91440" marT="45720" marB="45720">
                    <a:solidFill>
                      <a:srgbClr val="151B2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A3B0C6"/>
                          </a:solidFill>
                          <a:latin typeface="Helvetica Neue"/>
                        </a:rPr>
                        <a:t>Blocked as DATE_TIME and GPE until we set an entity-type allow-list</a:t>
                      </a:r>
                    </a:p>
                  </a:txBody>
                  <a:tcPr marL="91440" marR="91440" marT="45720" marB="45720">
                    <a:solidFill>
                      <a:srgbClr val="151B2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EF3FA"/>
                          </a:solidFill>
                          <a:latin typeface="Helvetica Neue"/>
                        </a:rPr>
                        <a:t>Classifier footprint</a:t>
                      </a:r>
                    </a:p>
                  </a:txBody>
                  <a:tcPr marL="91440" marR="91440" marT="45720" marB="45720">
                    <a:solidFill>
                      <a:srgbClr val="0B0E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A3B0C6"/>
                          </a:solidFill>
                          <a:latin typeface="Helvetica Neue"/>
                        </a:rPr>
                        <a:t>10.3 GB RAM, 5 CPU processes</a:t>
                      </a:r>
                    </a:p>
                  </a:txBody>
                  <a:tcPr marL="91440" marR="91440" marT="45720" marB="45720">
                    <a:solidFill>
                      <a:srgbClr val="0B0E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A3B0C6"/>
                          </a:solidFill>
                          <a:latin typeface="Helvetica Neue"/>
                        </a:rPr>
                        <a:t>One process per Vela model; 8 GB OOMs</a:t>
                      </a:r>
                    </a:p>
                  </a:txBody>
                  <a:tcPr marL="91440" marR="91440" marT="45720" marB="45720">
                    <a:solidFill>
                      <a:srgbClr val="0B0E1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521647" y="638251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4D4D"/>
                </a:solidFill>
                <a:latin typeface="Menlo"/>
              </a:rPr>
              <a:t>17:00  ·  </a:t>
            </a:r>
            <a:r>
              <a:rPr sz="1000">
                <a:solidFill>
                  <a:srgbClr val="6E7D96"/>
                </a:solidFill>
                <a:latin typeface="Menlo"/>
              </a:rP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83080" cy="63500"/>
          </a:xfrm>
          <a:prstGeom prst="rect">
            <a:avLst/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30352"/>
            <a:ext cx="1087495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EF3FA"/>
                </a:solidFill>
                <a:latin typeface="Helvetica Neue"/>
              </a:rPr>
              <a:t>Routing is not enough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8872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B0C6"/>
                </a:solidFill>
                <a:latin typeface="Helvetica Neue"/>
              </a:rPr>
              <a:t>Defence in depth. Routing covers ingress; it cannot be the only control.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938528"/>
            <a:ext cx="3490874" cy="2240280"/>
          </a:xfrm>
          <a:prstGeom prst="rect">
            <a:avLst/>
          </a:prstGeom>
          <a:solidFill>
            <a:srgbClr val="151B26"/>
          </a:solidFill>
          <a:ln w="12700">
            <a:solidFill>
              <a:srgbClr val="2E3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938528"/>
            <a:ext cx="3490874" cy="38100"/>
          </a:xfrm>
          <a:prstGeom prst="rect">
            <a:avLst/>
          </a:prstGeom>
          <a:solidFill>
            <a:srgbClr val="FF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176272"/>
            <a:ext cx="30885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EF3FA"/>
                </a:solidFill>
                <a:latin typeface="Helvetica Neue"/>
              </a:rPr>
              <a:t>1. Semantic routing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651760"/>
            <a:ext cx="3088538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3B0C6"/>
                </a:solidFill>
                <a:latin typeface="Helvetica Neue"/>
              </a:rPr>
              <a:t>Classifies and places the majority of requests correctly, before any GPU work. Cheap, fast, and the first line.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50410" y="1938528"/>
            <a:ext cx="3490874" cy="2240280"/>
          </a:xfrm>
          <a:prstGeom prst="rect">
            <a:avLst/>
          </a:prstGeom>
          <a:solidFill>
            <a:srgbClr val="151B26"/>
          </a:solidFill>
          <a:ln w="12700">
            <a:solidFill>
              <a:srgbClr val="2E3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0410" y="1938528"/>
            <a:ext cx="3490874" cy="38100"/>
          </a:xfrm>
          <a:prstGeom prst="rect">
            <a:avLst/>
          </a:prstGeom>
          <a:solidFill>
            <a:srgbClr val="4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1578" y="2176272"/>
            <a:ext cx="30885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EF3FA"/>
                </a:solidFill>
                <a:latin typeface="Helvetica Neue"/>
              </a:rPr>
              <a:t>2. Evaluation &amp; guardrails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1578" y="2651760"/>
            <a:ext cx="3088538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3B0C6"/>
                </a:solidFill>
                <a:latin typeface="Helvetica Neue"/>
              </a:rPr>
              <a:t>Catch what routing misclassifies. Classification is probabilistic — plan for the tail, do not pretend it is not there.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2452" y="1938528"/>
            <a:ext cx="3490874" cy="2240280"/>
          </a:xfrm>
          <a:prstGeom prst="rect">
            <a:avLst/>
          </a:prstGeom>
          <a:solidFill>
            <a:srgbClr val="151B26"/>
          </a:solidFill>
          <a:ln w="12700">
            <a:solidFill>
              <a:srgbClr val="2E3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2452" y="1938528"/>
            <a:ext cx="3490874" cy="38100"/>
          </a:xfrm>
          <a:prstGeom prst="rect">
            <a:avLst/>
          </a:prstGeom>
          <a:solidFill>
            <a:srgbClr val="B38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3620" y="2176272"/>
            <a:ext cx="30885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EF3FA"/>
                </a:solidFill>
                <a:latin typeface="Helvetica Neue"/>
              </a:rPr>
              <a:t>3. Egress controls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3620" y="2651760"/>
            <a:ext cx="3088538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3B0C6"/>
                </a:solidFill>
                <a:latin typeface="Helvetica Neue"/>
              </a:rPr>
              <a:t>Filter sensitive content out of responses. A local model can still emit PII; routing never saw the answer, only the question.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398264"/>
            <a:ext cx="10874959" cy="658368"/>
          </a:xfrm>
          <a:prstGeom prst="rect">
            <a:avLst/>
          </a:prstGeom>
          <a:solidFill>
            <a:srgbClr val="1E2636"/>
          </a:solidFill>
          <a:ln w="12700">
            <a:solidFill>
              <a:srgbClr val="FFC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4398264"/>
            <a:ext cx="50800" cy="658368"/>
          </a:xfrm>
          <a:prstGeom prst="rect">
            <a:avLst/>
          </a:prstGeom>
          <a:solidFill>
            <a:srgbClr val="FFC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4517136"/>
            <a:ext cx="10472623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C857"/>
                </a:solidFill>
                <a:latin typeface="Helvetica Neue"/>
              </a:rPr>
              <a:t>Sensitivity tiers in practice: Critical (PII, accounts) on-prem only with audit · High on-prem preferred · Medium cloud with DLP · Low anywhere.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1647" y="638251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4D4D"/>
                </a:solidFill>
                <a:latin typeface="Menlo"/>
              </a:rPr>
              <a:t>18:00  ·  </a:t>
            </a:r>
            <a:r>
              <a:rPr sz="1000">
                <a:solidFill>
                  <a:srgbClr val="6E7D96"/>
                </a:solidFill>
                <a:latin typeface="Menlo"/>
              </a:rP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83080" cy="63500"/>
          </a:xfrm>
          <a:prstGeom prst="rect">
            <a:avLst/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30352"/>
            <a:ext cx="1087495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EF3FA"/>
                </a:solidFill>
                <a:latin typeface="Helvetica Neue"/>
              </a:rPr>
              <a:t>Where this bites hardest: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8872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B0C6"/>
                </a:solidFill>
                <a:latin typeface="Helvetica Neue"/>
              </a:rPr>
              <a:t>An agent is not one request. It is a loop.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700784"/>
            <a:ext cx="3490874" cy="2240280"/>
          </a:xfrm>
          <a:prstGeom prst="rect">
            <a:avLst/>
          </a:prstGeom>
          <a:solidFill>
            <a:srgbClr val="151B26"/>
          </a:solidFill>
          <a:ln w="12700">
            <a:solidFill>
              <a:srgbClr val="2E3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00784"/>
            <a:ext cx="3490874" cy="38100"/>
          </a:xfrm>
          <a:prstGeom prst="rect">
            <a:avLst/>
          </a:prstGeom>
          <a:solidFill>
            <a:srgbClr val="FF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938528"/>
            <a:ext cx="30885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EF3FA"/>
                </a:solidFill>
                <a:latin typeface="Helvetica Neue"/>
              </a:rPr>
              <a:t>The multiplier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414016"/>
            <a:ext cx="3088538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3B0C6"/>
                </a:solidFill>
                <a:latin typeface="Helvetica Neue"/>
              </a:rPr>
              <a:t>A single agent task generates 10–50+ model calls. Without routing, every one of them hits the same expensive model.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50410" y="1700784"/>
            <a:ext cx="3490874" cy="2240280"/>
          </a:xfrm>
          <a:prstGeom prst="rect">
            <a:avLst/>
          </a:prstGeom>
          <a:solidFill>
            <a:srgbClr val="151B26"/>
          </a:solidFill>
          <a:ln w="12700">
            <a:solidFill>
              <a:srgbClr val="2E3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0410" y="1700784"/>
            <a:ext cx="3490874" cy="38100"/>
          </a:xfrm>
          <a:prstGeom prst="rect">
            <a:avLst/>
          </a:prstGeom>
          <a:solidFill>
            <a:srgbClr val="4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1578" y="1938528"/>
            <a:ext cx="30885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EF3FA"/>
                </a:solidFill>
                <a:latin typeface="Helvetica Neue"/>
              </a:rPr>
              <a:t>The saving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1578" y="2414016"/>
            <a:ext cx="3088538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3B0C6"/>
                </a:solidFill>
                <a:latin typeface="Helvetica Neue"/>
              </a:rPr>
              <a:t>Each call reaches the right model at the right cost — the project reports 80%+ reduction, and the easy sub-tasks come back in milliseconds from a local model.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2452" y="1700784"/>
            <a:ext cx="3490874" cy="2240280"/>
          </a:xfrm>
          <a:prstGeom prst="rect">
            <a:avLst/>
          </a:prstGeom>
          <a:solidFill>
            <a:srgbClr val="151B26"/>
          </a:solidFill>
          <a:ln w="12700">
            <a:solidFill>
              <a:srgbClr val="2E3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2452" y="1700784"/>
            <a:ext cx="3490874" cy="38100"/>
          </a:xfrm>
          <a:prstGeom prst="rect">
            <a:avLst/>
          </a:prstGeom>
          <a:solidFill>
            <a:srgbClr val="B38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3620" y="1938528"/>
            <a:ext cx="30885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EF3FA"/>
                </a:solidFill>
                <a:latin typeface="Helvetica Neue"/>
              </a:rPr>
              <a:t>The safety case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3620" y="2414016"/>
            <a:ext cx="3088538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3B0C6"/>
                </a:solidFill>
                <a:latin typeface="Helvetica Neue"/>
              </a:rPr>
              <a:t>Every call in the loop passes the same classification. One policy covers an agent you did not write and cannot inspect.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160520"/>
            <a:ext cx="10874959" cy="475488"/>
          </a:xfrm>
          <a:prstGeom prst="rect">
            <a:avLst/>
          </a:prstGeom>
          <a:solidFill>
            <a:srgbClr val="1E2636"/>
          </a:solidFill>
          <a:ln w="12700">
            <a:solidFill>
              <a:srgbClr val="FFC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4160520"/>
            <a:ext cx="50800" cy="475488"/>
          </a:xfrm>
          <a:prstGeom prst="rect">
            <a:avLst/>
          </a:prstGeom>
          <a:solidFill>
            <a:srgbClr val="FFC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4279392"/>
            <a:ext cx="1047262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C857"/>
                </a:solidFill>
                <a:latin typeface="Helvetica Neue"/>
              </a:rPr>
              <a:t>Agents do not need to know about model selection. They send model: "auto".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1647" y="638251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4D4D"/>
                </a:solidFill>
                <a:latin typeface="Menlo"/>
              </a:rPr>
              <a:t>18:45  ·  </a:t>
            </a:r>
            <a:r>
              <a:rPr sz="1000">
                <a:solidFill>
                  <a:srgbClr val="6E7D96"/>
                </a:solidFill>
                <a:latin typeface="Menlo"/>
              </a:rP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83080" cy="63500"/>
          </a:xfrm>
          <a:prstGeom prst="rect">
            <a:avLst/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30352"/>
            <a:ext cx="1087495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EF3FA"/>
                </a:solidFill>
                <a:latin typeface="Helvetica Neue"/>
              </a:rPr>
              <a:t>vLLM-SR and llm-d answer different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8872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B0C6"/>
                </a:solidFill>
                <a:latin typeface="Helvetica Neue"/>
              </a:rPr>
              <a:t>Complementary, not competing. Most confusion about either one dissolves here.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938528"/>
            <a:ext cx="5318607" cy="3200400"/>
          </a:xfrm>
          <a:prstGeom prst="rect">
            <a:avLst/>
          </a:prstGeom>
          <a:solidFill>
            <a:srgbClr val="151B26"/>
          </a:solidFill>
          <a:ln w="12700">
            <a:solidFill>
              <a:srgbClr val="2E3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938528"/>
            <a:ext cx="5318607" cy="475488"/>
          </a:xfrm>
          <a:prstGeom prst="rect">
            <a:avLst/>
          </a:prstGeom>
          <a:solidFill>
            <a:srgbClr val="1E26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938528"/>
            <a:ext cx="50800" cy="475488"/>
          </a:xfrm>
          <a:prstGeom prst="rect">
            <a:avLst/>
          </a:prstGeom>
          <a:solidFill>
            <a:srgbClr val="4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057400"/>
            <a:ext cx="48796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DD6C8"/>
                </a:solidFill>
                <a:latin typeface="Helvetica Neue"/>
              </a:rPr>
              <a:t>vLLM-SR — the model picker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560320"/>
            <a:ext cx="487969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>
                <a:solidFill>
                  <a:srgbClr val="A3B0C6"/>
                </a:solidFill>
                <a:latin typeface="Helvetica Neue"/>
              </a:rPr>
              <a:t>Question: what model should handle this?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>
                <a:solidFill>
                  <a:srgbClr val="A3B0C6"/>
                </a:solidFill>
                <a:latin typeface="Helvetica Neue"/>
              </a:rPr>
              <a:t>Routes to entirely different base models.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>
                <a:solidFill>
                  <a:srgbClr val="A3B0C6"/>
                </a:solidFill>
                <a:latin typeface="Helvetica Neue"/>
              </a:rPr>
              <a:t>Logic: semantics, policy rules, intent, safety.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>
                <a:solidFill>
                  <a:srgbClr val="A3B0C6"/>
                </a:solidFill>
                <a:latin typeface="Helvetica Neue"/>
              </a:rPr>
              <a:t>Output: a declared model and a rewritten request.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4719" y="1938528"/>
            <a:ext cx="5318607" cy="3200400"/>
          </a:xfrm>
          <a:prstGeom prst="rect">
            <a:avLst/>
          </a:prstGeom>
          <a:solidFill>
            <a:srgbClr val="151B26"/>
          </a:solidFill>
          <a:ln w="12700">
            <a:solidFill>
              <a:srgbClr val="2E3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4719" y="1938528"/>
            <a:ext cx="5318607" cy="475488"/>
          </a:xfrm>
          <a:prstGeom prst="rect">
            <a:avLst/>
          </a:prstGeom>
          <a:solidFill>
            <a:srgbClr val="1E26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4719" y="1938528"/>
            <a:ext cx="50800" cy="475488"/>
          </a:xfrm>
          <a:prstGeom prst="rect">
            <a:avLst/>
          </a:prstGeom>
          <a:solidFill>
            <a:srgbClr val="FF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4175" y="2057400"/>
            <a:ext cx="48796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4D4D"/>
                </a:solidFill>
                <a:latin typeface="Helvetica Neue"/>
              </a:rPr>
              <a:t>llm-d — the endpoint picker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4175" y="2560320"/>
            <a:ext cx="487969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>
                <a:solidFill>
                  <a:srgbClr val="A3B0C6"/>
                </a:solidFill>
                <a:latin typeface="Helvetica Neue"/>
              </a:rPr>
              <a:t>Question: where should this request execute?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>
                <a:solidFill>
                  <a:srgbClr val="A3B0C6"/>
                </a:solidFill>
                <a:latin typeface="Helvetica Neue"/>
              </a:rPr>
              <a:t>Routes among replicas serving the same model.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>
                <a:solidFill>
                  <a:srgbClr val="A3B0C6"/>
                </a:solidFill>
                <a:latin typeface="Helvetica Neue"/>
              </a:rPr>
              <a:t>Logic: load, continuous batching, KV-cache locality.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>
                <a:solidFill>
                  <a:srgbClr val="A3B0C6"/>
                </a:solidFill>
                <a:latin typeface="Helvetica Neue"/>
              </a:rPr>
              <a:t>Output: a specific physical GPU instance.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1647" y="638251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4D4D"/>
                </a:solidFill>
                <a:latin typeface="Menlo"/>
              </a:rPr>
              <a:t>19:15  ·  </a:t>
            </a:r>
            <a:r>
              <a:rPr sz="1000">
                <a:solidFill>
                  <a:srgbClr val="6E7D96"/>
                </a:solidFill>
                <a:latin typeface="Menlo"/>
              </a:rP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83080" cy="63500"/>
          </a:xfrm>
          <a:prstGeom prst="rect">
            <a:avLst/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30352"/>
            <a:ext cx="1087495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EF3FA"/>
                </a:solidFill>
                <a:latin typeface="Helvetica Neue"/>
              </a:rPr>
              <a:t>The demo: what is actually running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8872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B0C6"/>
                </a:solidFill>
                <a:latin typeface="Helvetica Neue"/>
              </a:rPr>
              <a:t>vLLM Semantic Router on OpenShift AI, in front of two vLLM models on KServe. Everything you are about to see is live.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938528"/>
            <a:ext cx="3490874" cy="2834640"/>
          </a:xfrm>
          <a:prstGeom prst="rect">
            <a:avLst/>
          </a:prstGeom>
          <a:solidFill>
            <a:srgbClr val="151B26"/>
          </a:solidFill>
          <a:ln w="12700">
            <a:solidFill>
              <a:srgbClr val="2E3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938528"/>
            <a:ext cx="3490874" cy="38100"/>
          </a:xfrm>
          <a:prstGeom prst="rect">
            <a:avLst/>
          </a:prstGeom>
          <a:solidFill>
            <a:srgbClr val="FF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176272"/>
            <a:ext cx="30885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EF3FA"/>
                </a:solidFill>
                <a:latin typeface="Helvetica Neue"/>
              </a:rPr>
              <a:t>Front door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651760"/>
            <a:ext cx="3088538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3B0C6"/>
                </a:solidFill>
                <a:latin typeface="Helvetica Neue"/>
              </a:rPr>
              <a:t>OpenShift Route → Envoy → the router as a gRPC external processor in the same pod. One OpenAI-compatible endpoint; the client sends model: "auto".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50410" y="1938528"/>
            <a:ext cx="3490874" cy="2834640"/>
          </a:xfrm>
          <a:prstGeom prst="rect">
            <a:avLst/>
          </a:prstGeom>
          <a:solidFill>
            <a:srgbClr val="151B26"/>
          </a:solidFill>
          <a:ln w="12700">
            <a:solidFill>
              <a:srgbClr val="2E3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0410" y="1938528"/>
            <a:ext cx="3490874" cy="38100"/>
          </a:xfrm>
          <a:prstGeom prst="rect">
            <a:avLst/>
          </a:prstGeom>
          <a:solidFill>
            <a:srgbClr val="4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1578" y="2176272"/>
            <a:ext cx="30885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EF3FA"/>
                </a:solidFill>
                <a:latin typeface="Helvetica Neue"/>
              </a:rPr>
              <a:t>Backends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1578" y="2651760"/>
            <a:ext cx="3088538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3B0C6"/>
                </a:solidFill>
                <a:latin typeface="Helvetica Neue"/>
              </a:rPr>
              <a:t>Qwen-2.5-7B-Instruct on an L40S for hard, urgent and quantitative work. Phi-3-mini on a T4 for everything else. Both served by vLLM on KServe.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2452" y="1938528"/>
            <a:ext cx="3490874" cy="2834640"/>
          </a:xfrm>
          <a:prstGeom prst="rect">
            <a:avLst/>
          </a:prstGeom>
          <a:solidFill>
            <a:srgbClr val="151B26"/>
          </a:solidFill>
          <a:ln w="12700">
            <a:solidFill>
              <a:srgbClr val="2E3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2452" y="1938528"/>
            <a:ext cx="3490874" cy="38100"/>
          </a:xfrm>
          <a:prstGeom prst="rect">
            <a:avLst/>
          </a:prstGeom>
          <a:solidFill>
            <a:srgbClr val="B38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3620" y="2176272"/>
            <a:ext cx="30885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EF3FA"/>
                </a:solidFill>
                <a:latin typeface="Helvetica Neue"/>
              </a:rPr>
              <a:t>The brain is CPU-only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3620" y="2651760"/>
            <a:ext cx="3088538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3B0C6"/>
                </a:solidFill>
                <a:latin typeface="Helvetica Neue"/>
              </a:rPr>
              <a:t>Five Vela processes and the Go router share one container on a plain worker with no GPU. The accelerators only ever generate tokens.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1647" y="638251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E7D96"/>
                </a:solidFill>
                <a:latin typeface="Menlo"/>
              </a:rP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83080" cy="63500"/>
          </a:xfrm>
          <a:prstGeom prst="rect">
            <a:avLst/>
          </a:prstGeom>
          <a:solidFill>
            <a:srgbClr val="EE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30352"/>
            <a:ext cx="1087495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EF3FA"/>
                </a:solidFill>
                <a:latin typeface="Helvetica Neue"/>
              </a:rPr>
              <a:t>Fifteen use cases, one click each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8872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B0C6"/>
                </a:solidFill>
                <a:latin typeface="Helvetica Neue"/>
              </a:rPr>
              <a:t>Each declares the route it expects, so the console shows pass or fail against reality — including when it fails.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938528"/>
          <a:ext cx="1087495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651760"/>
                <a:gridCol w="6668719"/>
              </a:tblGrid>
              <a:tr h="53340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4D4D"/>
                          </a:solidFill>
                          <a:latin typeface="Helvetica Neue"/>
                        </a:rPr>
                        <a:t>GROUP</a:t>
                      </a:r>
                    </a:p>
                  </a:txBody>
                  <a:tcPr marL="91440" marR="91440">
                    <a:solidFill>
                      <a:srgbClr val="0B0E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4D4D"/>
                          </a:solidFill>
                          <a:latin typeface="Helvetica Neue"/>
                        </a:rPr>
                        <a:t>WHAT IT SHOWS</a:t>
                      </a:r>
                    </a:p>
                  </a:txBody>
                  <a:tcPr marL="91440" marR="91440">
                    <a:solidFill>
                      <a:srgbClr val="0B0E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4D4D"/>
                          </a:solidFill>
                          <a:latin typeface="Helvetica Neue"/>
                        </a:rPr>
                        <a:t>CASES</a:t>
                      </a:r>
                    </a:p>
                  </a:txBody>
                  <a:tcPr marL="91440" marR="91440">
                    <a:solidFill>
                      <a:srgbClr val="0B0E14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EF3FA"/>
                          </a:solidFill>
                          <a:latin typeface="Helvetica Neue"/>
                        </a:rPr>
                        <a:t>Intent routing</a:t>
                      </a:r>
                    </a:p>
                  </a:txBody>
                  <a:tcPr marL="91440" marR="91440" marT="45720" marB="45720">
                    <a:solidFill>
                      <a:srgbClr val="151B2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A3B0C6"/>
                          </a:solidFill>
                          <a:latin typeface="Helvetica Neue"/>
                        </a:rPr>
                        <a:t>Coding and math to the 7B model, general chat to the 3.8B. The client never changed.</a:t>
                      </a:r>
                    </a:p>
                  </a:txBody>
                  <a:tcPr marL="91440" marR="91440" marT="45720" marB="45720">
                    <a:solidFill>
                      <a:srgbClr val="151B2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A3B0C6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151B26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EF3FA"/>
                          </a:solidFill>
                          <a:latin typeface="Helvetica Neue"/>
                        </a:rPr>
                        <a:t>Complexity scaling</a:t>
                      </a:r>
                    </a:p>
                  </a:txBody>
                  <a:tcPr marL="91440" marR="91440" marT="45720" marB="45720">
                    <a:solidFill>
                      <a:srgbClr val="0B0E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A3B0C6"/>
                          </a:solidFill>
                          <a:latin typeface="Helvetica Neue"/>
                        </a:rPr>
                        <a:t>Same topic, graded by difficulty, routed in opposite directions.</a:t>
                      </a:r>
                    </a:p>
                  </a:txBody>
                  <a:tcPr marL="91440" marR="91440" marT="45720" marB="45720">
                    <a:solidFill>
                      <a:srgbClr val="0B0E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A3B0C6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0B0E14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EF3FA"/>
                          </a:solidFill>
                          <a:latin typeface="Helvetica Neue"/>
                        </a:rPr>
                        <a:t>Policy &amp; priority</a:t>
                      </a:r>
                    </a:p>
                  </a:txBody>
                  <a:tcPr marL="91440" marR="91440" marT="45720" marB="45720">
                    <a:solidFill>
                      <a:srgbClr val="151B2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A3B0C6"/>
                          </a:solidFill>
                          <a:latin typeface="Helvetica Neue"/>
                        </a:rPr>
                        <a:t>Urgent security work overrides the cost optimiser; user pushback escalates and disables the cache.</a:t>
                      </a:r>
                    </a:p>
                  </a:txBody>
                  <a:tcPr marL="91440" marR="91440" marT="45720" marB="45720">
                    <a:solidFill>
                      <a:srgbClr val="151B2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A3B0C6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151B26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EF3FA"/>
                          </a:solidFill>
                          <a:latin typeface="Helvetica Neue"/>
                        </a:rPr>
                        <a:t>Guardrails</a:t>
                      </a:r>
                    </a:p>
                  </a:txBody>
                  <a:tcPr marL="91440" marR="91440" marT="45720" marB="45720">
                    <a:solidFill>
                      <a:srgbClr val="0B0E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A3B0C6"/>
                          </a:solidFill>
                          <a:latin typeface="Helvetica Neue"/>
                        </a:rPr>
                        <a:t>Keyword rules and ML classifiers, blocking in under a second with no GPU involved.</a:t>
                      </a:r>
                    </a:p>
                  </a:txBody>
                  <a:tcPr marL="91440" marR="91440" marT="45720" marB="45720">
                    <a:solidFill>
                      <a:srgbClr val="0B0E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A3B0C6"/>
                          </a:solidFill>
                          <a:latin typeface="Helvetica Neue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0B0E14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EF3FA"/>
                          </a:solidFill>
                          <a:latin typeface="Helvetica Neue"/>
                        </a:rPr>
                        <a:t>Cache &amp; cost</a:t>
                      </a:r>
                    </a:p>
                  </a:txBody>
                  <a:tcPr marL="91440" marR="91440" marT="45720" marB="45720">
                    <a:solidFill>
                      <a:srgbClr val="151B2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A3B0C6"/>
                          </a:solidFill>
                          <a:latin typeface="Helvetica Neue"/>
                        </a:rPr>
                        <a:t>A repeat in 0.75 s instead of 6.9 s, a near-miss correctly refused, and pinning a model to opt out.</a:t>
                      </a:r>
                    </a:p>
                  </a:txBody>
                  <a:tcPr marL="91440" marR="91440" marT="45720" marB="45720">
                    <a:solidFill>
                      <a:srgbClr val="151B26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A3B0C6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151B2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521647" y="638251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E7D96"/>
                </a:solidFill>
                <a:latin typeface="Menlo"/>
              </a:rP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621127" y="1920240"/>
            <a:ext cx="6949440" cy="1463040"/>
          </a:xfrm>
          <a:prstGeom prst="rect">
            <a:avLst/>
          </a:prstGeom>
          <a:solidFill>
            <a:srgbClr val="1E2636"/>
          </a:solidFill>
          <a:ln w="19050">
            <a:solidFill>
              <a:srgbClr val="2E3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621127" y="1920240"/>
            <a:ext cx="694944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EF3FA"/>
                </a:solidFill>
                <a:latin typeface="Menlo"/>
              </a:rPr>
              <a:t>&gt; ./run_demo.sh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657600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3B0C6"/>
                </a:solidFill>
                <a:latin typeface="Helvetica Neue"/>
              </a:rPr>
              <a:t>Live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343400"/>
            <a:ext cx="1087495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700"/>
              </a:spcAft>
            </a:pPr>
            <a:r>
              <a:rPr sz="1200" b="0">
                <a:solidFill>
                  <a:srgbClr val="6E7D96"/>
                </a:solidFill>
                <a:latin typeface="Menlo"/>
              </a:rPr>
              <a:t>Project · vllm-sr.ai</a:t>
            </a:r>
          </a:p>
          <a:p>
            <a:pPr algn="ctr">
              <a:spcBef>
                <a:spcPts val="0"/>
              </a:spcBef>
              <a:spcAft>
                <a:spcPts val="700"/>
              </a:spcAft>
            </a:pPr>
            <a:r>
              <a:rPr sz="1200" b="0">
                <a:solidFill>
                  <a:srgbClr val="6E7D96"/>
                </a:solidFill>
                <a:latin typeface="Menlo"/>
              </a:rPr>
              <a:t>Upstream · github.com/vllm-project/semantic-router</a:t>
            </a:r>
          </a:p>
          <a:p>
            <a:pPr algn="ctr">
              <a:spcBef>
                <a:spcPts val="0"/>
              </a:spcBef>
              <a:spcAft>
                <a:spcPts val="700"/>
              </a:spcAft>
            </a:pPr>
            <a:r>
              <a:rPr sz="1200" b="0">
                <a:solidFill>
                  <a:srgbClr val="6E7D96"/>
                </a:solidFill>
                <a:latin typeface="Menlo"/>
              </a:rPr>
              <a:t>This demo · github.com/ritzshah/vllm-semantic-router-demo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21647" y="638251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6E7D96"/>
                </a:solidFill>
                <a:latin typeface="Menlo"/>
              </a:rPr>
              <a:t>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