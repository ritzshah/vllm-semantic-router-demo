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premise, not the product. Nobody in this room runs one model. The question is who decides which one handles a given request — and today that decision is scattered across every application you 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pain. Let it land before naming the product. Most teams recognise at least three of these four.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quote verbatim — it is the project's own framing. The four bullets are the four things it decides. Note the fourth: this is auditable, which is what makes it a platform concern rather than a clever proxy.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audience takes one slide away, make it this one. MoE is someone else's decision baked into weights. MoM is your decision, in your config, that you can audit and change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point: this composes with what you already run. Standard Envoy, Kubernetes Gateway API, Istio. It is not a new front door you have to adopt wholesale.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once, slowly. The rest of the deck is one slide per stage. Flag that stages 2 and 4 are the ones people usually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callout is the design discipline that makes the whole thing composable: one signal can be reused by many decisions, because it has no opinion about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stops your decision list becoming an unmaintainable pile of overlapping conditions. Define the difficulty score once; reference it from ten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the governance story, and it is much stronger than ‘we block PII’. The same detector can be advisory in one recipe and blocking in another.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Loopers are the part worth dwelling on — cascade cheap-then-expensive, or panel several models and compare. That is not routing any more; it is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your demo's before/after in one sentence: pin a model and you opt out of everything the router does for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the question a platform team always asks: can I run different policies for different consumers without standing up a second router? Yes.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Very concrete. Point out that a team can start by swapping one string and tune a bespoke recipe later.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 point is the one infrastructure people care about: the intelligence layer does not compete with the serving layer for GPUs.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a cache hit and a guardrail block are both answered by the router — neither reaches a GPU. That is where the latency contrast in the demo comes from.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the 8 GB. Older material quotes ~440 MB, which is the adapter footprint, not what a Kubernetes pod loading four classifiers actually needs. Understating it only creates a support question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slide. The message is ‘no rip and replace’ — do not spend long 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strongest slide in the original deck and it survives unchanged. Semantics in front, hardware scheduling behind.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caches, and they are complementary: the router's semantic cache skips whole requests; llm-d's prefix cache skips recomputing the shared front of every request.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people photograph. Have the architecture diagram from the repo open in a second tab if anyone asks for detail.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Switch to the console and run them. Lead with the two complexity cases back to back, then the two jailbreak cases back to back.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callout out loud rather than hiding it. Volunteering the caveat on your own numbers buys you more credibility than the numbers 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console. Clear the counters first so the tally starts at zero in front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58368" y="1600200"/>
            <a:ext cx="9509760" cy="365760"/>
          </a:xfrm>
          <a:prstGeom prst="rect">
            <a:avLst/>
          </a:prstGeom>
          <a:noFill/>
        </p:spPr>
        <p:txBody>
          <a:bodyPr wrap="square" anchor="t" lIns="0" rIns="0" tIns="0" bIns="0">
            <a:spAutoFit/>
          </a:bodyPr>
          <a:lstStyle/>
          <a:p>
            <a:pPr>
              <a:spcBef>
                <a:spcPts val="0"/>
              </a:spcBef>
              <a:spcAft>
                <a:spcPts val="0"/>
              </a:spcAft>
            </a:pPr>
            <a:r>
              <a:rPr sz="1200" b="1">
                <a:solidFill>
                  <a:srgbClr val="FF4D4D"/>
                </a:solidFill>
                <a:latin typeface="Menlo"/>
              </a:rPr>
              <a:t>VLLM SEMANTIC ROUTER</a:t>
            </a:r>
          </a:p>
        </p:txBody>
      </p:sp>
      <p:sp>
        <p:nvSpPr>
          <p:cNvPr id="3" name="TextBox 2"/>
          <p:cNvSpPr txBox="1"/>
          <p:nvPr/>
        </p:nvSpPr>
        <p:spPr>
          <a:xfrm>
            <a:off x="658368" y="2103120"/>
            <a:ext cx="9692640" cy="1737360"/>
          </a:xfrm>
          <a:prstGeom prst="rect">
            <a:avLst/>
          </a:prstGeom>
          <a:noFill/>
        </p:spPr>
        <p:txBody>
          <a:bodyPr wrap="square" anchor="t" lIns="0" rIns="0" tIns="0" bIns="0">
            <a:spAutoFit/>
          </a:bodyPr>
          <a:lstStyle/>
          <a:p>
            <a:pPr>
              <a:lnSpc>
                <a:spcPct val="103000"/>
              </a:lnSpc>
              <a:spcBef>
                <a:spcPts val="0"/>
              </a:spcBef>
              <a:spcAft>
                <a:spcPts val="0"/>
              </a:spcAft>
            </a:pPr>
            <a:r>
              <a:rPr sz="4600" b="1">
                <a:solidFill>
                  <a:srgbClr val="EEF3FA"/>
                </a:solidFill>
                <a:latin typeface="Helvetica Neue"/>
              </a:rPr>
              <a:t>Intelligence Beyond Any One Model</a:t>
            </a:r>
          </a:p>
        </p:txBody>
      </p:sp>
      <p:sp>
        <p:nvSpPr>
          <p:cNvPr id="4" name="Rectangle 3"/>
          <p:cNvSpPr/>
          <p:nvPr/>
        </p:nvSpPr>
        <p:spPr>
          <a:xfrm>
            <a:off x="658368" y="4069080"/>
            <a:ext cx="1005840" cy="762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34840"/>
            <a:ext cx="7589520" cy="1188720"/>
          </a:xfrm>
          <a:prstGeom prst="rect">
            <a:avLst/>
          </a:prstGeom>
          <a:noFill/>
        </p:spPr>
        <p:txBody>
          <a:bodyPr wrap="square" anchor="t" lIns="0" rIns="0" tIns="0" bIns="0">
            <a:spAutoFit/>
          </a:bodyPr>
          <a:lstStyle/>
          <a:p>
            <a:pPr>
              <a:lnSpc>
                <a:spcPct val="145000"/>
              </a:lnSpc>
              <a:spcBef>
                <a:spcPts val="0"/>
              </a:spcBef>
              <a:spcAft>
                <a:spcPts val="0"/>
              </a:spcAft>
            </a:pPr>
            <a:r>
              <a:rPr sz="1500" b="0">
                <a:solidFill>
                  <a:srgbClr val="A3B0C6"/>
                </a:solidFill>
                <a:latin typeface="Helvetica Neue"/>
              </a:rPr>
              <a:t>Signal-driven routing, guardrails and semantic caching for Mixture-of-Models systems on OpenShift AI.</a:t>
            </a:r>
          </a:p>
        </p:txBody>
      </p:sp>
      <p:sp>
        <p:nvSpPr>
          <p:cNvPr id="6" name="TextBox 5"/>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Every application is making the same decision, separately</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Model choice is hard-coded in application code, repeated in every service, and invisible to the platform team.</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A trivial request and a hard one cost the same, because both named the same model.</a:t>
            </a:r>
          </a:p>
          <a:p>
            <a:pPr>
              <a:lnSpc>
                <a:spcPct val="135000"/>
              </a:lnSpc>
              <a:spcBef>
                <a:spcPts val="0"/>
              </a:spcBef>
              <a:spcAft>
                <a:spcPts val="1100"/>
              </a:spcAft>
            </a:pPr>
            <a:r>
              <a:rPr sz="1450">
                <a:solidFill>
                  <a:srgbClr val="FF4D4D"/>
                </a:solidFill>
                <a:latin typeface="Helvetica Neue"/>
              </a:rPr>
              <a:t>▪   Safety and privacy policy is re-implemented per application, inconsistently.</a:t>
            </a:r>
          </a:p>
          <a:p>
            <a:pPr>
              <a:lnSpc>
                <a:spcPct val="135000"/>
              </a:lnSpc>
              <a:spcBef>
                <a:spcPts val="0"/>
              </a:spcBef>
              <a:spcAft>
                <a:spcPts val="1100"/>
              </a:spcAft>
            </a:pPr>
            <a:r>
              <a:rPr sz="1450">
                <a:solidFill>
                  <a:srgbClr val="FF4D4D"/>
                </a:solidFill>
                <a:latin typeface="Helvetica Neue"/>
              </a:rPr>
              <a:t>▪   Nobody can answer “why did this request go there?” after the fact.</a:t>
            </a:r>
          </a:p>
          <a:p>
            <a:pPr>
              <a:lnSpc>
                <a:spcPct val="135000"/>
              </a:lnSpc>
              <a:spcBef>
                <a:spcPts val="0"/>
              </a:spcBef>
              <a:spcAft>
                <a:spcPts val="1100"/>
              </a:spcAft>
            </a:pPr>
            <a:r>
              <a:rPr sz="1450">
                <a:solidFill>
                  <a:srgbClr val="FF4D4D"/>
                </a:solidFill>
                <a:latin typeface="Helvetica Neue"/>
              </a:rPr>
              <a:t>▪   Adding a model means changing every client that might want it.</a:t>
            </a:r>
          </a:p>
        </p:txBody>
      </p:sp>
      <p:sp>
        <p:nvSpPr>
          <p:cNvPr id="7" name="TextBox 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A shared decision layer, not another SDK</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“An open-source routing and control layer for building Mixture-of-Models systems across heterogeneous AI infrastructure.”</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The right model path — direct, specialist, local, cascade, or collaborative.</a:t>
            </a:r>
          </a:p>
          <a:p>
            <a:pPr>
              <a:lnSpc>
                <a:spcPct val="135000"/>
              </a:lnSpc>
              <a:spcBef>
                <a:spcPts val="0"/>
              </a:spcBef>
              <a:spcAft>
                <a:spcPts val="1100"/>
              </a:spcAft>
            </a:pPr>
            <a:r>
              <a:rPr sz="1450">
                <a:solidFill>
                  <a:srgbClr val="FF4D4D"/>
                </a:solidFill>
                <a:latin typeface="Helvetica Neue"/>
              </a:rPr>
              <a:t>▪   The right supporting capabilities — retrieval, memory, tools, prompts, caching, verification.</a:t>
            </a:r>
          </a:p>
          <a:p>
            <a:pPr>
              <a:lnSpc>
                <a:spcPct val="135000"/>
              </a:lnSpc>
              <a:spcBef>
                <a:spcPts val="0"/>
              </a:spcBef>
              <a:spcAft>
                <a:spcPts val="1100"/>
              </a:spcAft>
            </a:pPr>
            <a:r>
              <a:rPr sz="1450">
                <a:solidFill>
                  <a:srgbClr val="FF4D4D"/>
                </a:solidFill>
                <a:latin typeface="Helvetica Neue"/>
              </a:rPr>
              <a:t>▪   The right execution boundary — configured cloud, data center, or edge backends.</a:t>
            </a:r>
          </a:p>
          <a:p>
            <a:pPr>
              <a:lnSpc>
                <a:spcPct val="135000"/>
              </a:lnSpc>
              <a:spcBef>
                <a:spcPts val="0"/>
              </a:spcBef>
              <a:spcAft>
                <a:spcPts val="1100"/>
              </a:spcAft>
            </a:pPr>
            <a:r>
              <a:rPr sz="1450">
                <a:solidFill>
                  <a:srgbClr val="FF4D4D"/>
                </a:solidFill>
                <a:latin typeface="Helvetica Neue"/>
              </a:rPr>
              <a:t>▪   Evidence for what happened — routing metadata plus feedback and evaluation workflows.</a:t>
            </a:r>
          </a:p>
        </p:txBody>
      </p:sp>
      <p:sp>
        <p:nvSpPr>
          <p:cNvPr id="7" name="TextBox 6"/>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vllm-sr.ai/docs/intro</a:t>
            </a:r>
          </a:p>
        </p:txBody>
      </p:sp>
      <p:sp>
        <p:nvSpPr>
          <p:cNvPr id="8" name="TextBox 7"/>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Mixture-of-Models is not Mixture-of-Experts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These get conflated constantly. They operate at completely different levels.</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MoE — Mixture-of-Experts</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An architecture pattern inside a single model.</a:t>
            </a:r>
          </a:p>
          <a:p>
            <a:pPr>
              <a:lnSpc>
                <a:spcPct val="135000"/>
              </a:lnSpc>
              <a:spcBef>
                <a:spcPts val="0"/>
              </a:spcBef>
              <a:spcAft>
                <a:spcPts val="1000"/>
              </a:spcAft>
            </a:pPr>
            <a:r>
              <a:rPr sz="1200" b="0">
                <a:solidFill>
                  <a:srgbClr val="A3B0C6"/>
                </a:solidFill>
                <a:latin typeface="Helvetica Neue"/>
              </a:rPr>
              <a:t>Sparse expert activation across layers.</a:t>
            </a:r>
          </a:p>
          <a:p>
            <a:pPr>
              <a:lnSpc>
                <a:spcPct val="135000"/>
              </a:lnSpc>
              <a:spcBef>
                <a:spcPts val="0"/>
              </a:spcBef>
              <a:spcAft>
                <a:spcPts val="1000"/>
              </a:spcAft>
            </a:pPr>
            <a:r>
              <a:rPr sz="1200" b="0">
                <a:solidFill>
                  <a:srgbClr val="A3B0C6"/>
                </a:solidFill>
                <a:latin typeface="Helvetica Neue"/>
              </a:rPr>
              <a:t>Chosen by the model vendor at training time.</a:t>
            </a:r>
          </a:p>
          <a:p>
            <a:pPr>
              <a:lnSpc>
                <a:spcPct val="135000"/>
              </a:lnSpc>
              <a:spcBef>
                <a:spcPts val="0"/>
              </a:spcBef>
              <a:spcAft>
                <a:spcPts val="1000"/>
              </a:spcAft>
            </a:pPr>
            <a:r>
              <a:rPr sz="1200" b="0">
                <a:solidFill>
                  <a:srgbClr val="A3B0C6"/>
                </a:solidFill>
                <a:latin typeface="Helvetica Neue"/>
              </a:rPr>
              <a:t>You cannot inspect or change the routing.</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MoM — Mixture-of-Models</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 system pattern orchestrating multiple independent models.</a:t>
            </a:r>
          </a:p>
          <a:p>
            <a:pPr>
              <a:lnSpc>
                <a:spcPct val="135000"/>
              </a:lnSpc>
              <a:spcBef>
                <a:spcPts val="0"/>
              </a:spcBef>
              <a:spcAft>
                <a:spcPts val="1000"/>
              </a:spcAft>
            </a:pPr>
            <a:r>
              <a:rPr sz="1200" b="0">
                <a:solidFill>
                  <a:srgbClr val="A3B0C6"/>
                </a:solidFill>
                <a:latin typeface="Helvetica Neue"/>
              </a:rPr>
              <a:t>Models differ in architecture, training data, capabilities and hardware.</a:t>
            </a:r>
          </a:p>
          <a:p>
            <a:pPr>
              <a:lnSpc>
                <a:spcPct val="135000"/>
              </a:lnSpc>
              <a:spcBef>
                <a:spcPts val="0"/>
              </a:spcBef>
              <a:spcAft>
                <a:spcPts val="1000"/>
              </a:spcAft>
            </a:pPr>
            <a:r>
              <a:rPr sz="1200" b="0">
                <a:solidFill>
                  <a:srgbClr val="A3B0C6"/>
                </a:solidFill>
                <a:latin typeface="Helvetica Neue"/>
              </a:rPr>
              <a:t>Chosen by you, in configuration, at request time.</a:t>
            </a:r>
          </a:p>
          <a:p>
            <a:pPr>
              <a:lnSpc>
                <a:spcPct val="135000"/>
              </a:lnSpc>
              <a:spcBef>
                <a:spcPts val="0"/>
              </a:spcBef>
              <a:spcAft>
                <a:spcPts val="1000"/>
              </a:spcAft>
            </a:pPr>
            <a:r>
              <a:rPr sz="1200" b="0">
                <a:solidFill>
                  <a:srgbClr val="A3B0C6"/>
                </a:solidFill>
                <a:latin typeface="Helvetica Neue"/>
              </a:rPr>
              <a:t>Every decision is declared in YAML and observable.</a:t>
            </a:r>
          </a:p>
        </p:txBody>
      </p:sp>
      <p:sp>
        <p:nvSpPr>
          <p:cNvPr id="15" name="TextBox 14"/>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How it attaches: an Envoy external processor</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The router is not in your request path as a library. It is a gRPC external processor that Envoy consults mid-request.</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Clients speak the ordinary OpenAI-compatible API. No SDK, no client change.</a:t>
            </a:r>
          </a:p>
          <a:p>
            <a:pPr>
              <a:lnSpc>
                <a:spcPct val="135000"/>
              </a:lnSpc>
              <a:spcBef>
                <a:spcPts val="0"/>
              </a:spcBef>
              <a:spcAft>
                <a:spcPts val="1100"/>
              </a:spcAft>
            </a:pPr>
            <a:r>
              <a:rPr sz="1450">
                <a:solidFill>
                  <a:srgbClr val="FF4D4D"/>
                </a:solidFill>
                <a:latin typeface="Helvetica Neue"/>
              </a:rPr>
              <a:t>▪   Envoy calls the router over gRPC; the router classifies and returns a decision.</a:t>
            </a:r>
          </a:p>
          <a:p>
            <a:pPr>
              <a:lnSpc>
                <a:spcPct val="135000"/>
              </a:lnSpc>
              <a:spcBef>
                <a:spcPts val="0"/>
              </a:spcBef>
              <a:spcAft>
                <a:spcPts val="1100"/>
              </a:spcAft>
            </a:pPr>
            <a:r>
              <a:rPr sz="1450">
                <a:solidFill>
                  <a:srgbClr val="FF4D4D"/>
                </a:solidFill>
                <a:latin typeface="Helvetica Neue"/>
              </a:rPr>
              <a:t>▪   The router can answer immediately — a guardrail block or a cache hit never reaches a model.</a:t>
            </a:r>
          </a:p>
          <a:p>
            <a:pPr>
              <a:lnSpc>
                <a:spcPct val="135000"/>
              </a:lnSpc>
              <a:spcBef>
                <a:spcPts val="0"/>
              </a:spcBef>
              <a:spcAft>
                <a:spcPts val="1100"/>
              </a:spcAft>
            </a:pPr>
            <a:r>
              <a:rPr sz="1450">
                <a:solidFill>
                  <a:srgbClr val="FF4D4D"/>
                </a:solidFill>
                <a:latin typeface="Helvetica Neue"/>
              </a:rPr>
              <a:t>▪   Otherwise it rewrites the request and Envoy forwards it to the chosen backend.</a:t>
            </a:r>
          </a:p>
        </p:txBody>
      </p:sp>
      <p:sp>
        <p:nvSpPr>
          <p:cNvPr id="7" name="TextBox 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pipeline: five stages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stage has one job, and the separation is what makes the policy readable.</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Signals</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Extract facts from the request, conversation, identity and content. Signals describe; they never choose a backend.</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Projections</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Coordinate evidence. Combine several signal outputs into one reusable result.</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Decisions</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Apply policy. Boolean rules over signals and projections, resolved by priority.</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Algorithms</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Select one model, or coordinate several across a cascade, panel or multi-round workflow.</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Model Pools</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Execute. Providers bind logical model names to physical endpoints.</a:t>
            </a:r>
          </a:p>
        </p:txBody>
      </p:sp>
      <p:sp>
        <p:nvSpPr>
          <p:cNvPr id="21" name="TextBox 20"/>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vllm-sr.ai/docs/overview/signal-driven-decisions</a:t>
            </a:r>
          </a:p>
        </p:txBody>
      </p:sp>
      <p:sp>
        <p:nvSpPr>
          <p:cNvPr id="22" name="TextBox 21"/>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1 — Signals extract facts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signal gives a name to something detected from the request, conversation, identity, or content.” Deterministic and learned signals sit side by side.</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Deterministic</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Keyword lists, metadata predicates, context-length bands. Cheap, auditable, trivially explained to a compliance team — and trivially evaded.</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Learned</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Embedding similarity and classifier models detecting intent, domain, complexity, PII and jailbreak patterns. Robust to paraphrase; probabilistic.</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Dimensions observed</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Intent, difficulty, context, modality, identity, risk, preference, and system state.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Signals describe facts. They do not choose the backend.</a:t>
            </a:r>
          </a:p>
        </p:txBody>
      </p:sp>
      <p:sp>
        <p:nvSpPr>
          <p:cNvPr id="20" name="TextBox 19"/>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2 — Projections coordinate evidence</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stage most people have not seen. Projections turn overlapping, noisy signal output into something a policy can reference without repeating itself.</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Partitions</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“Choose a coherent winner among overlapping matches.” When three domain classifiers all fire, a partition decides which one the policy acts on.</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Scores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“Combine weighted inputs.” Complexity and context evidence collapse into a single difficulty score.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Mappings</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“Convert a score into named routing bands.” A continuous difficulty score becomes easy / medium / hard, which a decision can match on.</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3 — Decisions apply policy</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Boolean rules with arbitrary nesting over signals and projections. Priority resolves conflicts: the highest-priority matching decision wins.</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Eligibility before optimisation</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“Authorization, local-only processing, modality, context capacity, and tool compatibility should make a route eligible or ineligible before an optimizer compares cost or latency.”</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What a match supplies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Candidate models, an optional algorithm, and route-local plugins — so caching and guardrail behaviour can differ per route.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Detection ≠ enforcement</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PII signal reports a match. The decision and its plugins choose whether to block, reroute, transform, or merely observe.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Hard requirements stay visible in the policy, not buried in a scoring function.</a:t>
            </a:r>
          </a:p>
        </p:txBody>
      </p:sp>
      <p:sp>
        <p:nvSpPr>
          <p:cNvPr id="20" name="TextBox 19"/>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4 — Algorithms select or coordinate</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Two families. Most demos only ever show the first.</a:t>
            </a:r>
          </a:p>
        </p:txBody>
      </p:sp>
      <p:sp>
        <p:nvSpPr>
          <p:cNvPr id="5" name="Rectangle 4"/>
          <p:cNvSpPr/>
          <p:nvPr/>
        </p:nvSpPr>
        <p:spPr>
          <a:xfrm>
            <a:off x="658368"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Selection algorithms</a:t>
            </a:r>
          </a:p>
        </p:txBody>
      </p:sp>
      <p:sp>
        <p:nvSpPr>
          <p:cNvPr id="8" name="TextBox 7"/>
          <p:cNvSpPr txBox="1"/>
          <p:nvPr/>
        </p:nvSpPr>
        <p:spPr>
          <a:xfrm>
            <a:off x="859536"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Choose one candidate from the eligible set — by fixed order, semantic fit, measured latency, or accumulated feedback.</a:t>
            </a:r>
          </a:p>
        </p:txBody>
      </p:sp>
      <p:sp>
        <p:nvSpPr>
          <p:cNvPr id="9" name="Rectangle 8"/>
          <p:cNvSpPr/>
          <p:nvPr/>
        </p:nvSpPr>
        <p:spPr>
          <a:xfrm>
            <a:off x="4350410"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Looper algorithms</a:t>
            </a:r>
          </a:p>
        </p:txBody>
      </p:sp>
      <p:sp>
        <p:nvSpPr>
          <p:cNvPr id="12" name="TextBox 11"/>
          <p:cNvSpPr txBox="1"/>
          <p:nvPr/>
        </p:nvSpPr>
        <p:spPr>
          <a:xfrm>
            <a:off x="4551578"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Coordinate several models: cascades, panels, multi-round processes and workflows. One request, many models, orchestrated by the router.</a:t>
            </a:r>
          </a:p>
        </p:txBody>
      </p:sp>
      <p:sp>
        <p:nvSpPr>
          <p:cNvPr id="13" name="Rectangle 12"/>
          <p:cNvSpPr/>
          <p:nvPr/>
        </p:nvSpPr>
        <p:spPr>
          <a:xfrm>
            <a:off x="8042452"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Why it sits here</a:t>
            </a:r>
          </a:p>
        </p:txBody>
      </p:sp>
      <p:sp>
        <p:nvSpPr>
          <p:cNvPr id="16" name="TextBox 15"/>
          <p:cNvSpPr txBox="1"/>
          <p:nvPr/>
        </p:nvSpPr>
        <p:spPr>
          <a:xfrm>
            <a:off x="8243620"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Eligibility was already settled in stage 3, so an optimiser can compare cost and latency freely without violating a hard requirement.</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5 — Model pools execute</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Providers bind logical model names to physical endpoints, so policy never hard-codes an address.</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Heterogeneous by design</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Local vLLM or Ollama, Kubernetes services, and remote OpenAI-compatible endpoints can all sit in the same pool.</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Clear division of labour</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The router picks the path; the backend owns replica placement. It does not try to be a load balancer.</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Pass-through is explicit</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Naming a concrete backend model bypasses recipe signals, decisions, route-local plugins, cache, learning and session routing.</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Recipes and entrypoints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recipe is the unit of policy isolation. An entrypoint selects which recipe handles a request.</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What a recipe owns</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Its own signals, projections, decisions, algorithms, plugins, cache namespace and routing state.</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What it shares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Providers and stores can be shared across recipes without policy leaking between them.</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Why you want this</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Two teams, two risk appetites, one platform. Nobody has to agree on a single global threshold.</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MoM V1 ships five built-in recipes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is exposed as a virtual model name, so adopting one is a string change in the client.</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RECIPE</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VIRTUAL MODEL</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OPTIMISES FOR</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Balance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vllm-sr/mom-v1-blend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Difficulty, consequential advice and answer-recovery signals</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Speed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vllm-sr/mom-v1-flash</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lowest added latency</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vllm-sr/mom-v1-lite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cheapest viable path</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Accuracy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vllm-sr/mom-v1-ultra</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Usually one strong model</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Privacy — Guard and PII on Vela 2.0 0.3B</a:t>
                      </a:r>
                    </a:p>
                  </a:txBody>
                  <a:tcPr marL="91440" marR="91440" marT="45720" marB="45720">
                    <a:solidFill>
                      <a:srgbClr val="151B26"/>
                    </a:solidFill>
                  </a:tcPr>
                </a:tc>
              </a:tr>
            </a:tbl>
          </a:graphicData>
        </a:graphic>
      </p:graphicFrame>
      <p:sp>
        <p:nvSpPr>
          <p:cNvPr id="6" name="TextBox 5"/>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vllm-sr.ai/docs/next/overview/mom-model-family</a:t>
            </a:r>
          </a:p>
        </p:txBody>
      </p:sp>
      <p:sp>
        <p:nvSpPr>
          <p:cNvPr id="7" name="TextBox 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model family behind the signals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Signal extraction runs on small, specialised models — not on the GPUs serving your traffic.</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Vela 2.0 0.3B</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Classification model used for Guard and PII in the Vault recipe. Reads up to 8,192 tokens, truncating beyond that.</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Decision models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Shipped open in v0.4 “Hermes”, alongside the Vela classification models, as one Mixture-of-Models system.</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CPU-native</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Signal extraction does not need GPU compute. Your accelerators stay dedicated to serving tokens.</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Plugins: what happens on the way through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Configurable per decision, so a route can tighten or disable any of them.</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Semantic cache</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Embedding similarity, not a hash. A reworded question hits the same cache entry. Thresholds are per-route — strict where a near-miss would be costly.</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Prompt guard</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Jailbreak detection combining deterministic phrase rules with a classifier, so an unseen phrasing is still caught.</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PII handling</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Token-level entity detection. Whether that blocks, redacts, reroutes or just records is the decision's call, not the detector's.</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Footprint and prerequisites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Two layers with very different hardware profiles.</a:t>
            </a:r>
          </a:p>
        </p:txBody>
      </p:sp>
      <p:sp>
        <p:nvSpPr>
          <p:cNvPr id="5" name="Rectangle 4"/>
          <p:cNvSpPr/>
          <p:nvPr/>
        </p:nvSpPr>
        <p:spPr>
          <a:xfrm>
            <a:off x="658368"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Router layer</a:t>
            </a:r>
          </a:p>
        </p:txBody>
      </p:sp>
      <p:sp>
        <p:nvSpPr>
          <p:cNvPr id="8" name="TextBox 7"/>
          <p:cNvSpPr txBox="1"/>
          <p:nvPr/>
        </p:nvSpPr>
        <p:spPr>
          <a:xfrm>
            <a:off x="859536"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Runs entirely on CPU. In the Kubernetes deployment in this repo the router pod requests 4 GB and is limited to 8 GB, and pulls roughly 4 GB of classifier weights onto a PVC on first start.</a:t>
            </a:r>
          </a:p>
        </p:txBody>
      </p:sp>
      <p:sp>
        <p:nvSpPr>
          <p:cNvPr id="9" name="Rectangle 8"/>
          <p:cNvSpPr/>
          <p:nvPr/>
        </p:nvSpPr>
        <p:spPr>
          <a:xfrm>
            <a:off x="4350410"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 layer</a:t>
            </a:r>
          </a:p>
        </p:txBody>
      </p:sp>
      <p:sp>
        <p:nvSpPr>
          <p:cNvPr id="12" name="TextBox 11"/>
          <p:cNvSpPr txBox="1"/>
          <p:nvPr/>
        </p:nvSpPr>
        <p:spPr>
          <a:xfrm>
            <a:off x="4551578"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GPUs, for the models actually generating tokens. Any OpenAI-compatible server — this demo uses vLLM on KServe.</a:t>
            </a:r>
          </a:p>
        </p:txBody>
      </p:sp>
      <p:sp>
        <p:nvSpPr>
          <p:cNvPr id="13" name="Rectangle 12"/>
          <p:cNvSpPr/>
          <p:nvPr/>
        </p:nvSpPr>
        <p:spPr>
          <a:xfrm>
            <a:off x="8042452"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Deployment</a:t>
            </a:r>
          </a:p>
        </p:txBody>
      </p:sp>
      <p:sp>
        <p:nvSpPr>
          <p:cNvPr id="16" name="TextBox 15"/>
          <p:cNvSpPr txBox="1"/>
          <p:nvPr/>
        </p:nvSpPr>
        <p:spPr>
          <a:xfrm>
            <a:off x="8243620"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Docker or Podman for local evaluation; Kubernetes for anything real.</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Compatible with what you already run</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router is an Envoy external processor, so it inherits the ecosystem rather than replacing it.</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API surface</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OpenAI-compatible and Anthropic-compatible endpoints. Clients do not change.</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Infrastructure</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Standard Envoy, Kubernetes Gateway API, Istio service mesh.</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vLLM, Ollama, Kubernetes services, and remote OpenAI-compatible providers, mixed freely in one pool.</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vLLM-SR and llm-d answer different questions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They are complementary, not competing. Most confusion about either one dissolves here.</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vLLM-SR — the model picker</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what model should handle this?</a:t>
            </a:r>
          </a:p>
          <a:p>
            <a:pPr>
              <a:lnSpc>
                <a:spcPct val="135000"/>
              </a:lnSpc>
              <a:spcBef>
                <a:spcPts val="0"/>
              </a:spcBef>
              <a:spcAft>
                <a:spcPts val="1000"/>
              </a:spcAft>
            </a:pPr>
            <a:r>
              <a:rPr sz="1200" b="0">
                <a:solidFill>
                  <a:srgbClr val="A3B0C6"/>
                </a:solidFill>
                <a:latin typeface="Helvetica Neue"/>
              </a:rPr>
              <a:t>Routes to entirely different base models.</a:t>
            </a:r>
          </a:p>
          <a:p>
            <a:pPr>
              <a:lnSpc>
                <a:spcPct val="135000"/>
              </a:lnSpc>
              <a:spcBef>
                <a:spcPts val="0"/>
              </a:spcBef>
              <a:spcAft>
                <a:spcPts val="1000"/>
              </a:spcAft>
            </a:pPr>
            <a:r>
              <a:rPr sz="1200" b="0">
                <a:solidFill>
                  <a:srgbClr val="A3B0C6"/>
                </a:solidFill>
                <a:latin typeface="Helvetica Neue"/>
              </a:rPr>
              <a:t>Logic: semantics, policy rules, intent, safety.</a:t>
            </a:r>
          </a:p>
          <a:p>
            <a:pPr>
              <a:lnSpc>
                <a:spcPct val="135000"/>
              </a:lnSpc>
              <a:spcBef>
                <a:spcPts val="0"/>
              </a:spcBef>
              <a:spcAft>
                <a:spcPts val="1000"/>
              </a:spcAft>
            </a:pPr>
            <a:r>
              <a:rPr sz="1200" b="0">
                <a:solidFill>
                  <a:srgbClr val="A3B0C6"/>
                </a:solidFill>
                <a:latin typeface="Helvetica Neue"/>
              </a:rPr>
              <a:t>Output: a declared model and a rewritten request.</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llm-d — the endpoint picker</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where should this request execute?</a:t>
            </a:r>
          </a:p>
          <a:p>
            <a:pPr>
              <a:lnSpc>
                <a:spcPct val="135000"/>
              </a:lnSpc>
              <a:spcBef>
                <a:spcPts val="0"/>
              </a:spcBef>
              <a:spcAft>
                <a:spcPts val="1000"/>
              </a:spcAft>
            </a:pPr>
            <a:r>
              <a:rPr sz="1200" b="0">
                <a:solidFill>
                  <a:srgbClr val="A3B0C6"/>
                </a:solidFill>
                <a:latin typeface="Helvetica Neue"/>
              </a:rPr>
              <a:t>Routes among replicas serving the same model.</a:t>
            </a:r>
          </a:p>
          <a:p>
            <a:pPr>
              <a:lnSpc>
                <a:spcPct val="135000"/>
              </a:lnSpc>
              <a:spcBef>
                <a:spcPts val="0"/>
              </a:spcBef>
              <a:spcAft>
                <a:spcPts val="1000"/>
              </a:spcAft>
            </a:pPr>
            <a:r>
              <a:rPr sz="1200" b="0">
                <a:solidFill>
                  <a:srgbClr val="A3B0C6"/>
                </a:solidFill>
                <a:latin typeface="Helvetica Neue"/>
              </a:rPr>
              <a:t>Logic: load, continuous batching, KV-cache locality.</a:t>
            </a:r>
          </a:p>
          <a:p>
            <a:pPr>
              <a:lnSpc>
                <a:spcPct val="135000"/>
              </a:lnSpc>
              <a:spcBef>
                <a:spcPts val="0"/>
              </a:spcBef>
              <a:spcAft>
                <a:spcPts val="1000"/>
              </a:spcAft>
            </a:pPr>
            <a:r>
              <a:rPr sz="1200" b="0">
                <a:solidFill>
                  <a:srgbClr val="A3B0C6"/>
                </a:solidFill>
                <a:latin typeface="Helvetica Neue"/>
              </a:rPr>
              <a:t>Output: a specific physical GPU instance.</a:t>
            </a:r>
          </a:p>
        </p:txBody>
      </p:sp>
      <p:sp>
        <p:nvSpPr>
          <p:cNvPr id="15" name="TextBox 14"/>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Together: one request, two routing layers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semantic router goes in front, because there is no point scheduling GPU work for a request a guardrail is about to block.</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Gateway</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Request arrives at Istio or the Kubernetes Gateway API.</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vLLM-SR</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Signals, policy and guardrails. Selects a model — or answers immediately.</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InferencePool</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The chosen logical model resolves to a pool of replicas.</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llm-d</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Prefix-cache-aware scheduling picks the best replica.</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GPU</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Prefill and decode run where the cache already is.</a:t>
            </a:r>
          </a:p>
        </p:txBody>
      </p:sp>
      <p:sp>
        <p:nvSpPr>
          <p:cNvPr id="21" name="TextBox 20"/>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demo: what is actually running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vLLM Semantic Router on OpenShift AI, in front of two vLLM backends on KServe.</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Front door</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OpenShift Route → Envoy → the router as a gRPC external processor in the same pod. One OpenAI-compatible endpoint; clients send model: “auto”.</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Qwen-2.5-7B-Instruct for hard, urgent and quantitative work. Phi-3-mini for everything else. Each on its own GPU, served by vLLM on KServe.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Policy</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Fourteen decisions in one YAML file. Guardrails at priority 1000–1600, routing at 10–300, so a routing change can never outrank a safety rule.</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Fifteen use cases, one click each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Every case declares the route it expects, so the console shows a pass or fail badge against reality.</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GROUP</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WHAT IT SHOWS</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CASES</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Intent routing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Coding and math go to the 7B model; general chat goes to the 3.8B one. The client never changed.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Complexity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The same topic, graded by difficulty, routed in opposite directions.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Policy &amp; priority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Urgent security work overrides the cost optimiser. User pushback escalates and disables the cache.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Guardrails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Keyword rules and ML classifiers, blocking in tens of milliseconds with no GPU involved.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5</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Cache &amp; 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A reworded question hits the cache. Pinning a model opts out of all of it.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bl>
          </a:graphicData>
        </a:graphic>
      </p:graphicFrame>
      <p:sp>
        <p:nvSpPr>
          <p:cNvPr id="6" name="TextBox 5"/>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the project is going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Worth naming the release you are demoing — this is moving quickly.</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v0.4 “Hermes”</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Shipped open Decision models and Vela classification models together as one Mixture-of-Models system.</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v0.5 “Ariadne”</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Focused on following a route across models, sessions and evaluation — closing the loop from decision to outcome.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Also in the docs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sr-bench 1.0 as the project's benchmark suite, and a Fleet Simulator for capacity planning and power modelling.</a:t>
            </a:r>
          </a:p>
        </p:txBody>
      </p:sp>
      <p:sp>
        <p:nvSpPr>
          <p:cNvPr id="17" name="Rectangle 16"/>
          <p:cNvSpPr/>
          <p:nvPr/>
        </p:nvSpPr>
        <p:spPr>
          <a:xfrm>
            <a:off x="658368" y="4398264"/>
            <a:ext cx="10874959" cy="65836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65836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42062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Early project material quotes up to 10% higher accuracy, 50% lower latency and 50% fewer tokens. Treat those as indicative and re-validate against sr-bench for your own workload.</a:t>
            </a:r>
          </a:p>
        </p:txBody>
      </p:sp>
      <p:sp>
        <p:nvSpPr>
          <p:cNvPr id="20" name="TextBox 19"/>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2621127" y="1920240"/>
            <a:ext cx="6949440" cy="1463040"/>
          </a:xfrm>
          <a:prstGeom prst="rect">
            <a:avLst/>
          </a:prstGeom>
          <a:solidFill>
            <a:srgbClr val="1E2636"/>
          </a:solidFill>
          <a:ln w="1905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621127" y="1920240"/>
            <a:ext cx="6949440" cy="1463040"/>
          </a:xfrm>
          <a:prstGeom prst="rect">
            <a:avLst/>
          </a:prstGeom>
          <a:noFill/>
        </p:spPr>
        <p:txBody>
          <a:bodyPr wrap="square" anchor="ctr" lIns="0" rIns="0" tIns="0" bIns="0">
            <a:spAutoFit/>
          </a:bodyPr>
          <a:lstStyle/>
          <a:p>
            <a:pPr algn="ctr">
              <a:spcBef>
                <a:spcPts val="0"/>
              </a:spcBef>
              <a:spcAft>
                <a:spcPts val="0"/>
              </a:spcAft>
            </a:pPr>
            <a:r>
              <a:rPr sz="4000" b="1">
                <a:solidFill>
                  <a:srgbClr val="EEF3FA"/>
                </a:solidFill>
                <a:latin typeface="Menlo"/>
              </a:rPr>
              <a:t>&gt; ./run_demo.sh</a:t>
            </a:r>
          </a:p>
        </p:txBody>
      </p:sp>
      <p:sp>
        <p:nvSpPr>
          <p:cNvPr id="4" name="TextBox 3"/>
          <p:cNvSpPr txBox="1"/>
          <p:nvPr/>
        </p:nvSpPr>
        <p:spPr>
          <a:xfrm>
            <a:off x="658368" y="3657600"/>
            <a:ext cx="10874959" cy="457200"/>
          </a:xfrm>
          <a:prstGeom prst="rect">
            <a:avLst/>
          </a:prstGeom>
          <a:noFill/>
        </p:spPr>
        <p:txBody>
          <a:bodyPr wrap="square" anchor="t" lIns="0" rIns="0" tIns="0" bIns="0">
            <a:spAutoFit/>
          </a:bodyPr>
          <a:lstStyle/>
          <a:p>
            <a:pPr algn="ctr">
              <a:spcBef>
                <a:spcPts val="0"/>
              </a:spcBef>
              <a:spcAft>
                <a:spcPts val="0"/>
              </a:spcAft>
            </a:pPr>
            <a:r>
              <a:rPr sz="1600" b="1">
                <a:solidFill>
                  <a:srgbClr val="A3B0C6"/>
                </a:solidFill>
                <a:latin typeface="Helvetica Neue"/>
              </a:rPr>
              <a:t>Live demonstration</a:t>
            </a:r>
          </a:p>
        </p:txBody>
      </p:sp>
      <p:sp>
        <p:nvSpPr>
          <p:cNvPr id="5" name="TextBox 4"/>
          <p:cNvSpPr txBox="1"/>
          <p:nvPr/>
        </p:nvSpPr>
        <p:spPr>
          <a:xfrm>
            <a:off x="658368" y="4343400"/>
            <a:ext cx="10874959" cy="1280160"/>
          </a:xfrm>
          <a:prstGeom prst="rect">
            <a:avLst/>
          </a:prstGeom>
          <a:noFill/>
        </p:spPr>
        <p:txBody>
          <a:bodyPr wrap="square" anchor="t" lIns="0" rIns="0" tIns="0" bIns="0">
            <a:spAutoFit/>
          </a:bodyPr>
          <a:lstStyle/>
          <a:p>
            <a:pPr algn="ctr">
              <a:spcBef>
                <a:spcPts val="0"/>
              </a:spcBef>
              <a:spcAft>
                <a:spcPts val="700"/>
              </a:spcAft>
            </a:pPr>
            <a:r>
              <a:rPr sz="1200" b="0">
                <a:solidFill>
                  <a:srgbClr val="6E7D96"/>
                </a:solidFill>
                <a:latin typeface="Menlo"/>
              </a:rPr>
              <a:t>Project · vllm-sr.ai</a:t>
            </a:r>
          </a:p>
          <a:p>
            <a:pPr algn="ctr">
              <a:spcBef>
                <a:spcPts val="0"/>
              </a:spcBef>
              <a:spcAft>
                <a:spcPts val="700"/>
              </a:spcAft>
            </a:pPr>
            <a:r>
              <a:rPr sz="1200" b="0">
                <a:solidFill>
                  <a:srgbClr val="6E7D96"/>
                </a:solidFill>
                <a:latin typeface="Menlo"/>
              </a:rPr>
              <a:t>Upstream · github.com/vllm-project/semantic-router</a:t>
            </a:r>
          </a:p>
          <a:p>
            <a:pPr algn="ctr">
              <a:spcBef>
                <a:spcPts val="0"/>
              </a:spcBef>
              <a:spcAft>
                <a:spcPts val="700"/>
              </a:spcAft>
            </a:pPr>
            <a:r>
              <a:rPr sz="1200" b="0">
                <a:solidFill>
                  <a:srgbClr val="6E7D96"/>
                </a:solidFill>
                <a:latin typeface="Menlo"/>
              </a:rPr>
              <a:t>This demo · github.com/ritzshah/vllm-semantic-router-demo</a:t>
            </a:r>
          </a:p>
        </p:txBody>
      </p:sp>
      <p:sp>
        <p:nvSpPr>
          <p:cNvPr id="6" name="TextBox 5"/>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