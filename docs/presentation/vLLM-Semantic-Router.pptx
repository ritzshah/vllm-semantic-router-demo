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premise, not the product. Nobody in this room runs one model. The question is who decides which one handles a given request — and today that decision is scattered across every application you own.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pain. Let it land before naming the product. Most teams recognise at least three of these four.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quote verbatim — it is the project's own framing. The four bullets are the four things it decides. Note the fourth: this is auditable, which is what makes it a platform concern rather than a clever proxy.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audience takes one slide away, make it this one. MoE is someone else's decision baked into weights. MoM is your decision, in your config, that you can audit and change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architectural point: this composes with what you already run. Standard Envoy, Kubernetes Gateway API, Istio. It is not a new front door you have to adopt wholesale.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once, slowly. The rest of the deck is one slide per stage. Flag that stages 2 and 4 are the ones people usually have not seen.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callout is the design discipline that makes the whole thing composable: one signal can be reused by many decisions, because it has no opinion about outcomes.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stops your decision list becoming an unmaintainable pile of overlapping conditions. Define the difficulty score once; reference it from ten decisions.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column is the governance story, and it is much stronger than ‘we block PII’. The same detector can be advisory in one recipe and blocking in another.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Loopers are the part worth dwelling on — cascade cheap-then-expensive, or panel several models and compare. That is not routing any more; it is orchestration.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column is your demo's before/after in one sentence: pin a model and you opt out of everything the router does for you.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the question a platform team always asks: can I run different policies for different consumers without standing up a second router? Yes.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Very concrete. Point out that a team can start by swapping one string and tune a bespoke recipe later.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CPU point is the one infrastructure people care about: the intelligence layer does not compete with the serving layer for GPUs.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out that a cache hit and a guardrail block are both answered by the router — neither reaches a GPU. That is where the latency contrast in the demo comes from.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8 GB. Older material quotes ~440 MB, which is the adapter footprint, not what a Kubernetes pod loading four classifiers actually needs. Understating it only creates a support question later.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slide. The message is ‘no rip and replace’ — do not spend long here.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strongest slide in the original deck and it survives unchanged. Semantics in front, hardware scheduling behind.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caches, and they are complementary: the router's semantic cache skips whole requests; llm-d's prefix cache skips recomputing the shared front of every request.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photograph. Have the architecture diagram from the repo open in a second tab if anyone asks for detail.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Switch to the console and run them. Lead with the two complexity cases back to back, then the two jailbreak cases back to back.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callout out loud rather than hiding it. Volunteering the caveat on your own numbers buys you more credibility than the numbers do.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console. Clear the counters first so the tally starts at zero in front of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58368" y="1600200"/>
            <a:ext cx="9509760" cy="365760"/>
          </a:xfrm>
          <a:prstGeom prst="rect">
            <a:avLst/>
          </a:prstGeom>
          <a:noFill/>
        </p:spPr>
        <p:txBody>
          <a:bodyPr wrap="square" anchor="t" lIns="0" rIns="0" tIns="0" bIns="0">
            <a:spAutoFit/>
          </a:bodyPr>
          <a:lstStyle/>
          <a:p>
            <a:pPr>
              <a:spcBef>
                <a:spcPts val="0"/>
              </a:spcBef>
              <a:spcAft>
                <a:spcPts val="0"/>
              </a:spcAft>
            </a:pPr>
            <a:r>
              <a:rPr sz="1200" b="1">
                <a:solidFill>
                  <a:srgbClr val="FF4D4D"/>
                </a:solidFill>
                <a:latin typeface="Menlo"/>
              </a:rPr>
              <a:t>VLLM SEMANTIC ROUTER</a:t>
            </a:r>
          </a:p>
        </p:txBody>
      </p:sp>
      <p:sp>
        <p:nvSpPr>
          <p:cNvPr id="3" name="TextBox 2"/>
          <p:cNvSpPr txBox="1"/>
          <p:nvPr/>
        </p:nvSpPr>
        <p:spPr>
          <a:xfrm>
            <a:off x="658368" y="2103120"/>
            <a:ext cx="9692640" cy="1737360"/>
          </a:xfrm>
          <a:prstGeom prst="rect">
            <a:avLst/>
          </a:prstGeom>
          <a:noFill/>
        </p:spPr>
        <p:txBody>
          <a:bodyPr wrap="square" anchor="t" lIns="0" rIns="0" tIns="0" bIns="0">
            <a:spAutoFit/>
          </a:bodyPr>
          <a:lstStyle/>
          <a:p>
            <a:pPr>
              <a:lnSpc>
                <a:spcPct val="103000"/>
              </a:lnSpc>
              <a:spcBef>
                <a:spcPts val="0"/>
              </a:spcBef>
              <a:spcAft>
                <a:spcPts val="0"/>
              </a:spcAft>
            </a:pPr>
            <a:r>
              <a:rPr sz="4600" b="1">
                <a:solidFill>
                  <a:srgbClr val="EEF3FA"/>
                </a:solidFill>
                <a:latin typeface="Helvetica Neue"/>
              </a:rPr>
              <a:t>Intelligence Beyond Any One Model</a:t>
            </a:r>
          </a:p>
        </p:txBody>
      </p:sp>
      <p:sp>
        <p:nvSpPr>
          <p:cNvPr id="4" name="Rectangle 3"/>
          <p:cNvSpPr/>
          <p:nvPr/>
        </p:nvSpPr>
        <p:spPr>
          <a:xfrm>
            <a:off x="658368" y="4069080"/>
            <a:ext cx="1005840" cy="762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4434840"/>
            <a:ext cx="7589520" cy="1188720"/>
          </a:xfrm>
          <a:prstGeom prst="rect">
            <a:avLst/>
          </a:prstGeom>
          <a:noFill/>
        </p:spPr>
        <p:txBody>
          <a:bodyPr wrap="square" anchor="t" lIns="0" rIns="0" tIns="0" bIns="0">
            <a:spAutoFit/>
          </a:bodyPr>
          <a:lstStyle/>
          <a:p>
            <a:pPr>
              <a:lnSpc>
                <a:spcPct val="145000"/>
              </a:lnSpc>
              <a:spcBef>
                <a:spcPts val="0"/>
              </a:spcBef>
              <a:spcAft>
                <a:spcPts val="0"/>
              </a:spcAft>
            </a:pPr>
            <a:r>
              <a:rPr sz="1500" b="0">
                <a:solidFill>
                  <a:srgbClr val="A3B0C6"/>
                </a:solidFill>
                <a:latin typeface="Helvetica Neue"/>
              </a:rPr>
              <a:t>Signal-driven routing, guardrails and semantic caching for Mixture-of-Models systems on OpenShift AI.</a:t>
            </a:r>
          </a:p>
        </p:txBody>
      </p:sp>
      <p:sp>
        <p:nvSpPr>
          <p:cNvPr id="6" name="TextBox 5"/>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Every application is making the same decision, separately</a:t>
            </a:r>
          </a:p>
        </p:txBody>
      </p:sp>
      <p:sp>
        <p:nvSpPr>
          <p:cNvPr id="4" name="Rectangle 3"/>
          <p:cNvSpPr/>
          <p:nvPr/>
        </p:nvSpPr>
        <p:spPr>
          <a:xfrm>
            <a:off x="658368" y="1335024"/>
            <a:ext cx="50800" cy="694944"/>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335024"/>
            <a:ext cx="9966960" cy="694944"/>
          </a:xfrm>
          <a:prstGeom prst="rect">
            <a:avLst/>
          </a:prstGeom>
          <a:noFill/>
        </p:spPr>
        <p:txBody>
          <a:bodyPr wrap="square" anchor="t" lIns="0" rIns="0" tIns="0" bIns="0">
            <a:spAutoFit/>
          </a:bodyPr>
          <a:lstStyle/>
          <a:p>
            <a:pPr>
              <a:lnSpc>
                <a:spcPct val="130000"/>
              </a:lnSpc>
              <a:spcBef>
                <a:spcPts val="0"/>
              </a:spcBef>
              <a:spcAft>
                <a:spcPts val="0"/>
              </a:spcAft>
            </a:pPr>
            <a:r>
              <a:rPr sz="1800" b="1">
                <a:solidFill>
                  <a:srgbClr val="EEF3FA"/>
                </a:solidFill>
                <a:latin typeface="Helvetica Neue"/>
              </a:rPr>
              <a:t>Model choice is hard-coded in application code, repeated in every service, and invisible to the platform team.</a:t>
            </a:r>
          </a:p>
        </p:txBody>
      </p:sp>
      <p:sp>
        <p:nvSpPr>
          <p:cNvPr id="6" name="TextBox 5"/>
          <p:cNvSpPr txBox="1"/>
          <p:nvPr/>
        </p:nvSpPr>
        <p:spPr>
          <a:xfrm>
            <a:off x="658368" y="2340864"/>
            <a:ext cx="10241280" cy="2743200"/>
          </a:xfrm>
          <a:prstGeom prst="rect">
            <a:avLst/>
          </a:prstGeom>
          <a:noFill/>
        </p:spPr>
        <p:txBody>
          <a:bodyPr wrap="square" anchor="t" lIns="0" rIns="0" tIns="0" bIns="0">
            <a:spAutoFit/>
          </a:bodyPr>
          <a:lstStyle/>
          <a:p>
            <a:pPr>
              <a:lnSpc>
                <a:spcPct val="135000"/>
              </a:lnSpc>
              <a:spcBef>
                <a:spcPts val="0"/>
              </a:spcBef>
              <a:spcAft>
                <a:spcPts val="1100"/>
              </a:spcAft>
            </a:pPr>
            <a:r>
              <a:rPr sz="1450">
                <a:solidFill>
                  <a:srgbClr val="FF4D4D"/>
                </a:solidFill>
                <a:latin typeface="Helvetica Neue"/>
              </a:rPr>
              <a:t>▪   A trivial request and a hard one cost the same, because both named the same model.</a:t>
            </a:r>
          </a:p>
          <a:p>
            <a:pPr>
              <a:lnSpc>
                <a:spcPct val="135000"/>
              </a:lnSpc>
              <a:spcBef>
                <a:spcPts val="0"/>
              </a:spcBef>
              <a:spcAft>
                <a:spcPts val="1100"/>
              </a:spcAft>
            </a:pPr>
            <a:r>
              <a:rPr sz="1450">
                <a:solidFill>
                  <a:srgbClr val="FF4D4D"/>
                </a:solidFill>
                <a:latin typeface="Helvetica Neue"/>
              </a:rPr>
              <a:t>▪   Safety and privacy policy is re-implemented per application, inconsistently.</a:t>
            </a:r>
          </a:p>
          <a:p>
            <a:pPr>
              <a:lnSpc>
                <a:spcPct val="135000"/>
              </a:lnSpc>
              <a:spcBef>
                <a:spcPts val="0"/>
              </a:spcBef>
              <a:spcAft>
                <a:spcPts val="1100"/>
              </a:spcAft>
            </a:pPr>
            <a:r>
              <a:rPr sz="1450">
                <a:solidFill>
                  <a:srgbClr val="FF4D4D"/>
                </a:solidFill>
                <a:latin typeface="Helvetica Neue"/>
              </a:rPr>
              <a:t>▪   Nobody can answer “why did this request go there?” after the fact.</a:t>
            </a:r>
          </a:p>
          <a:p>
            <a:pPr>
              <a:lnSpc>
                <a:spcPct val="135000"/>
              </a:lnSpc>
              <a:spcBef>
                <a:spcPts val="0"/>
              </a:spcBef>
              <a:spcAft>
                <a:spcPts val="1100"/>
              </a:spcAft>
            </a:pPr>
            <a:r>
              <a:rPr sz="1450">
                <a:solidFill>
                  <a:srgbClr val="FF4D4D"/>
                </a:solidFill>
                <a:latin typeface="Helvetica Neue"/>
              </a:rPr>
              <a:t>▪   Adding a model means changing every client that might want it.</a:t>
            </a:r>
          </a:p>
        </p:txBody>
      </p:sp>
      <p:sp>
        <p:nvSpPr>
          <p:cNvPr id="7" name="TextBox 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2 /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A shared decision layer, not another SDK</a:t>
            </a:r>
          </a:p>
        </p:txBody>
      </p:sp>
      <p:sp>
        <p:nvSpPr>
          <p:cNvPr id="4" name="Rectangle 3"/>
          <p:cNvSpPr/>
          <p:nvPr/>
        </p:nvSpPr>
        <p:spPr>
          <a:xfrm>
            <a:off x="658368" y="1335024"/>
            <a:ext cx="50800" cy="694944"/>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335024"/>
            <a:ext cx="9966960" cy="694944"/>
          </a:xfrm>
          <a:prstGeom prst="rect">
            <a:avLst/>
          </a:prstGeom>
          <a:noFill/>
        </p:spPr>
        <p:txBody>
          <a:bodyPr wrap="square" anchor="t" lIns="0" rIns="0" tIns="0" bIns="0">
            <a:spAutoFit/>
          </a:bodyPr>
          <a:lstStyle/>
          <a:p>
            <a:pPr>
              <a:lnSpc>
                <a:spcPct val="130000"/>
              </a:lnSpc>
              <a:spcBef>
                <a:spcPts val="0"/>
              </a:spcBef>
              <a:spcAft>
                <a:spcPts val="0"/>
              </a:spcAft>
            </a:pPr>
            <a:r>
              <a:rPr sz="1800" b="1">
                <a:solidFill>
                  <a:srgbClr val="EEF3FA"/>
                </a:solidFill>
                <a:latin typeface="Helvetica Neue"/>
              </a:rPr>
              <a:t>“An open-source routing and control layer for building Mixture-of-Models systems across heterogeneous AI infrastructure.”</a:t>
            </a:r>
          </a:p>
        </p:txBody>
      </p:sp>
      <p:sp>
        <p:nvSpPr>
          <p:cNvPr id="6" name="TextBox 5"/>
          <p:cNvSpPr txBox="1"/>
          <p:nvPr/>
        </p:nvSpPr>
        <p:spPr>
          <a:xfrm>
            <a:off x="658368" y="2340864"/>
            <a:ext cx="10241280" cy="2743200"/>
          </a:xfrm>
          <a:prstGeom prst="rect">
            <a:avLst/>
          </a:prstGeom>
          <a:noFill/>
        </p:spPr>
        <p:txBody>
          <a:bodyPr wrap="square" anchor="t" lIns="0" rIns="0" tIns="0" bIns="0">
            <a:spAutoFit/>
          </a:bodyPr>
          <a:lstStyle/>
          <a:p>
            <a:pPr>
              <a:lnSpc>
                <a:spcPct val="135000"/>
              </a:lnSpc>
              <a:spcBef>
                <a:spcPts val="0"/>
              </a:spcBef>
              <a:spcAft>
                <a:spcPts val="1100"/>
              </a:spcAft>
            </a:pPr>
            <a:r>
              <a:rPr sz="1450">
                <a:solidFill>
                  <a:srgbClr val="FF4D4D"/>
                </a:solidFill>
                <a:latin typeface="Helvetica Neue"/>
              </a:rPr>
              <a:t>▪   The right model path — direct, specialist, local, cascade, or collaborative.</a:t>
            </a:r>
          </a:p>
          <a:p>
            <a:pPr>
              <a:lnSpc>
                <a:spcPct val="135000"/>
              </a:lnSpc>
              <a:spcBef>
                <a:spcPts val="0"/>
              </a:spcBef>
              <a:spcAft>
                <a:spcPts val="1100"/>
              </a:spcAft>
            </a:pPr>
            <a:r>
              <a:rPr sz="1450">
                <a:solidFill>
                  <a:srgbClr val="FF4D4D"/>
                </a:solidFill>
                <a:latin typeface="Helvetica Neue"/>
              </a:rPr>
              <a:t>▪   The right supporting capabilities — retrieval, memory, tools, prompts, caching, verification.</a:t>
            </a:r>
          </a:p>
          <a:p>
            <a:pPr>
              <a:lnSpc>
                <a:spcPct val="135000"/>
              </a:lnSpc>
              <a:spcBef>
                <a:spcPts val="0"/>
              </a:spcBef>
              <a:spcAft>
                <a:spcPts val="1100"/>
              </a:spcAft>
            </a:pPr>
            <a:r>
              <a:rPr sz="1450">
                <a:solidFill>
                  <a:srgbClr val="FF4D4D"/>
                </a:solidFill>
                <a:latin typeface="Helvetica Neue"/>
              </a:rPr>
              <a:t>▪   The right execution boundary — configured cloud, data center, or edge backends.</a:t>
            </a:r>
          </a:p>
          <a:p>
            <a:pPr>
              <a:lnSpc>
                <a:spcPct val="135000"/>
              </a:lnSpc>
              <a:spcBef>
                <a:spcPts val="0"/>
              </a:spcBef>
              <a:spcAft>
                <a:spcPts val="1100"/>
              </a:spcAft>
            </a:pPr>
            <a:r>
              <a:rPr sz="1450">
                <a:solidFill>
                  <a:srgbClr val="FF4D4D"/>
                </a:solidFill>
                <a:latin typeface="Helvetica Neue"/>
              </a:rPr>
              <a:t>▪   Evidence for what happened — routing metadata plus feedback and evaluation workflows.</a:t>
            </a:r>
          </a:p>
        </p:txBody>
      </p:sp>
      <p:sp>
        <p:nvSpPr>
          <p:cNvPr id="7" name="TextBox 6"/>
          <p:cNvSpPr txBox="1"/>
          <p:nvPr/>
        </p:nvSpPr>
        <p:spPr>
          <a:xfrm>
            <a:off x="658368" y="6382512"/>
            <a:ext cx="6400800" cy="274320"/>
          </a:xfrm>
          <a:prstGeom prst="rect">
            <a:avLst/>
          </a:prstGeom>
          <a:noFill/>
        </p:spPr>
        <p:txBody>
          <a:bodyPr wrap="square" anchor="t" lIns="0" rIns="0" tIns="0" bIns="0">
            <a:spAutoFit/>
          </a:bodyPr>
          <a:lstStyle/>
          <a:p>
            <a:pPr>
              <a:spcBef>
                <a:spcPts val="0"/>
              </a:spcBef>
              <a:spcAft>
                <a:spcPts val="0"/>
              </a:spcAft>
            </a:pPr>
            <a:r>
              <a:rPr sz="900" b="0">
                <a:solidFill>
                  <a:srgbClr val="6E7D96"/>
                </a:solidFill>
                <a:latin typeface="Menlo"/>
              </a:rPr>
              <a:t>vllm-sr.ai/docs/intro</a:t>
            </a:r>
          </a:p>
        </p:txBody>
      </p:sp>
      <p:sp>
        <p:nvSpPr>
          <p:cNvPr id="8" name="TextBox 7"/>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3 / 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Mixture-of-Models is not Mixture-of-Experts</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These get conflated constantly. They operate at completely different levels.</a:t>
            </a:r>
          </a:p>
        </p:txBody>
      </p:sp>
      <p:sp>
        <p:nvSpPr>
          <p:cNvPr id="5" name="Rectangle 4"/>
          <p:cNvSpPr/>
          <p:nvPr/>
        </p:nvSpPr>
        <p:spPr>
          <a:xfrm>
            <a:off x="658368" y="1938528"/>
            <a:ext cx="5318607" cy="320040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5318607" cy="475488"/>
          </a:xfrm>
          <a:prstGeom prst="rect">
            <a:avLst/>
          </a:prstGeom>
          <a:solidFill>
            <a:srgbClr val="1E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38528"/>
            <a:ext cx="50800" cy="475488"/>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057400"/>
            <a:ext cx="4879695" cy="329184"/>
          </a:xfrm>
          <a:prstGeom prst="rect">
            <a:avLst/>
          </a:prstGeom>
          <a:noFill/>
        </p:spPr>
        <p:txBody>
          <a:bodyPr wrap="square" anchor="t" lIns="0" rIns="0" tIns="0" bIns="0">
            <a:spAutoFit/>
          </a:bodyPr>
          <a:lstStyle/>
          <a:p>
            <a:pPr>
              <a:spcBef>
                <a:spcPts val="0"/>
              </a:spcBef>
              <a:spcAft>
                <a:spcPts val="0"/>
              </a:spcAft>
            </a:pPr>
            <a:r>
              <a:rPr sz="1500" b="1">
                <a:solidFill>
                  <a:srgbClr val="4DD6C8"/>
                </a:solidFill>
                <a:latin typeface="Helvetica Neue"/>
              </a:rPr>
              <a:t>MoE — Mixture-of-Experts</a:t>
            </a:r>
          </a:p>
        </p:txBody>
      </p:sp>
      <p:sp>
        <p:nvSpPr>
          <p:cNvPr id="9" name="TextBox 8"/>
          <p:cNvSpPr txBox="1"/>
          <p:nvPr/>
        </p:nvSpPr>
        <p:spPr>
          <a:xfrm>
            <a:off x="877824" y="2560320"/>
            <a:ext cx="4879695" cy="2377440"/>
          </a:xfrm>
          <a:prstGeom prst="rect">
            <a:avLst/>
          </a:prstGeom>
          <a:noFill/>
        </p:spPr>
        <p:txBody>
          <a:bodyPr wrap="square" anchor="t" lIns="0" rIns="0" tIns="0" bIns="0">
            <a:spAutoFit/>
          </a:bodyPr>
          <a:lstStyle/>
          <a:p>
            <a:pPr>
              <a:lnSpc>
                <a:spcPct val="135000"/>
              </a:lnSpc>
              <a:spcBef>
                <a:spcPts val="0"/>
              </a:spcBef>
              <a:spcAft>
                <a:spcPts val="1000"/>
              </a:spcAft>
            </a:pPr>
            <a:r>
              <a:rPr sz="1200" b="0">
                <a:solidFill>
                  <a:srgbClr val="A3B0C6"/>
                </a:solidFill>
                <a:latin typeface="Helvetica Neue"/>
              </a:rPr>
              <a:t>An architecture pattern inside a single model.</a:t>
            </a:r>
          </a:p>
          <a:p>
            <a:pPr>
              <a:lnSpc>
                <a:spcPct val="135000"/>
              </a:lnSpc>
              <a:spcBef>
                <a:spcPts val="0"/>
              </a:spcBef>
              <a:spcAft>
                <a:spcPts val="1000"/>
              </a:spcAft>
            </a:pPr>
            <a:r>
              <a:rPr sz="1200" b="0">
                <a:solidFill>
                  <a:srgbClr val="A3B0C6"/>
                </a:solidFill>
                <a:latin typeface="Helvetica Neue"/>
              </a:rPr>
              <a:t>Sparse expert activation across layers.</a:t>
            </a:r>
          </a:p>
          <a:p>
            <a:pPr>
              <a:lnSpc>
                <a:spcPct val="135000"/>
              </a:lnSpc>
              <a:spcBef>
                <a:spcPts val="0"/>
              </a:spcBef>
              <a:spcAft>
                <a:spcPts val="1000"/>
              </a:spcAft>
            </a:pPr>
            <a:r>
              <a:rPr sz="1200" b="0">
                <a:solidFill>
                  <a:srgbClr val="A3B0C6"/>
                </a:solidFill>
                <a:latin typeface="Helvetica Neue"/>
              </a:rPr>
              <a:t>Chosen by the model vendor at training time.</a:t>
            </a:r>
          </a:p>
          <a:p>
            <a:pPr>
              <a:lnSpc>
                <a:spcPct val="135000"/>
              </a:lnSpc>
              <a:spcBef>
                <a:spcPts val="0"/>
              </a:spcBef>
              <a:spcAft>
                <a:spcPts val="1000"/>
              </a:spcAft>
            </a:pPr>
            <a:r>
              <a:rPr sz="1200" b="0">
                <a:solidFill>
                  <a:srgbClr val="A3B0C6"/>
                </a:solidFill>
                <a:latin typeface="Helvetica Neue"/>
              </a:rPr>
              <a:t>You cannot inspect or change the routing.</a:t>
            </a:r>
          </a:p>
        </p:txBody>
      </p:sp>
      <p:sp>
        <p:nvSpPr>
          <p:cNvPr id="10" name="Rectangle 9"/>
          <p:cNvSpPr/>
          <p:nvPr/>
        </p:nvSpPr>
        <p:spPr>
          <a:xfrm>
            <a:off x="6214719" y="1938528"/>
            <a:ext cx="5318607" cy="320040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4719" y="1938528"/>
            <a:ext cx="5318607" cy="475488"/>
          </a:xfrm>
          <a:prstGeom prst="rect">
            <a:avLst/>
          </a:prstGeom>
          <a:solidFill>
            <a:srgbClr val="1E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4719" y="1938528"/>
            <a:ext cx="50800" cy="475488"/>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4175" y="2057400"/>
            <a:ext cx="4879695" cy="329184"/>
          </a:xfrm>
          <a:prstGeom prst="rect">
            <a:avLst/>
          </a:prstGeom>
          <a:noFill/>
        </p:spPr>
        <p:txBody>
          <a:bodyPr wrap="square" anchor="t" lIns="0" rIns="0" tIns="0" bIns="0">
            <a:spAutoFit/>
          </a:bodyPr>
          <a:lstStyle/>
          <a:p>
            <a:pPr>
              <a:spcBef>
                <a:spcPts val="0"/>
              </a:spcBef>
              <a:spcAft>
                <a:spcPts val="0"/>
              </a:spcAft>
            </a:pPr>
            <a:r>
              <a:rPr sz="1500" b="1">
                <a:solidFill>
                  <a:srgbClr val="FF4D4D"/>
                </a:solidFill>
                <a:latin typeface="Helvetica Neue"/>
              </a:rPr>
              <a:t>MoM — Mixture-of-Models</a:t>
            </a:r>
          </a:p>
        </p:txBody>
      </p:sp>
      <p:sp>
        <p:nvSpPr>
          <p:cNvPr id="14" name="TextBox 13"/>
          <p:cNvSpPr txBox="1"/>
          <p:nvPr/>
        </p:nvSpPr>
        <p:spPr>
          <a:xfrm>
            <a:off x="6434175" y="2560320"/>
            <a:ext cx="4879695" cy="2377440"/>
          </a:xfrm>
          <a:prstGeom prst="rect">
            <a:avLst/>
          </a:prstGeom>
          <a:noFill/>
        </p:spPr>
        <p:txBody>
          <a:bodyPr wrap="square" anchor="t" lIns="0" rIns="0" tIns="0" bIns="0">
            <a:spAutoFit/>
          </a:bodyPr>
          <a:lstStyle/>
          <a:p>
            <a:pPr>
              <a:lnSpc>
                <a:spcPct val="135000"/>
              </a:lnSpc>
              <a:spcBef>
                <a:spcPts val="0"/>
              </a:spcBef>
              <a:spcAft>
                <a:spcPts val="1000"/>
              </a:spcAft>
            </a:pPr>
            <a:r>
              <a:rPr sz="1200" b="0">
                <a:solidFill>
                  <a:srgbClr val="A3B0C6"/>
                </a:solidFill>
                <a:latin typeface="Helvetica Neue"/>
              </a:rPr>
              <a:t>A system pattern orchestrating multiple independent models.</a:t>
            </a:r>
          </a:p>
          <a:p>
            <a:pPr>
              <a:lnSpc>
                <a:spcPct val="135000"/>
              </a:lnSpc>
              <a:spcBef>
                <a:spcPts val="0"/>
              </a:spcBef>
              <a:spcAft>
                <a:spcPts val="1000"/>
              </a:spcAft>
            </a:pPr>
            <a:r>
              <a:rPr sz="1200" b="0">
                <a:solidFill>
                  <a:srgbClr val="A3B0C6"/>
                </a:solidFill>
                <a:latin typeface="Helvetica Neue"/>
              </a:rPr>
              <a:t>Models differ in architecture, training data, capabilities and hardware.</a:t>
            </a:r>
          </a:p>
          <a:p>
            <a:pPr>
              <a:lnSpc>
                <a:spcPct val="135000"/>
              </a:lnSpc>
              <a:spcBef>
                <a:spcPts val="0"/>
              </a:spcBef>
              <a:spcAft>
                <a:spcPts val="1000"/>
              </a:spcAft>
            </a:pPr>
            <a:r>
              <a:rPr sz="1200" b="0">
                <a:solidFill>
                  <a:srgbClr val="A3B0C6"/>
                </a:solidFill>
                <a:latin typeface="Helvetica Neue"/>
              </a:rPr>
              <a:t>Chosen by you, in configuration, at request time.</a:t>
            </a:r>
          </a:p>
          <a:p>
            <a:pPr>
              <a:lnSpc>
                <a:spcPct val="135000"/>
              </a:lnSpc>
              <a:spcBef>
                <a:spcPts val="0"/>
              </a:spcBef>
              <a:spcAft>
                <a:spcPts val="1000"/>
              </a:spcAft>
            </a:pPr>
            <a:r>
              <a:rPr sz="1200" b="0">
                <a:solidFill>
                  <a:srgbClr val="A3B0C6"/>
                </a:solidFill>
                <a:latin typeface="Helvetica Neue"/>
              </a:rPr>
              <a:t>Every decision is declared in YAML and observable.</a:t>
            </a:r>
          </a:p>
        </p:txBody>
      </p:sp>
      <p:sp>
        <p:nvSpPr>
          <p:cNvPr id="15" name="TextBox 14"/>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4 / 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How it attaches: an Envoy external processor</a:t>
            </a:r>
          </a:p>
        </p:txBody>
      </p:sp>
      <p:sp>
        <p:nvSpPr>
          <p:cNvPr id="4" name="Rectangle 3"/>
          <p:cNvSpPr/>
          <p:nvPr/>
        </p:nvSpPr>
        <p:spPr>
          <a:xfrm>
            <a:off x="658368" y="1335024"/>
            <a:ext cx="50800" cy="694944"/>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335024"/>
            <a:ext cx="9966960" cy="694944"/>
          </a:xfrm>
          <a:prstGeom prst="rect">
            <a:avLst/>
          </a:prstGeom>
          <a:noFill/>
        </p:spPr>
        <p:txBody>
          <a:bodyPr wrap="square" anchor="t" lIns="0" rIns="0" tIns="0" bIns="0">
            <a:spAutoFit/>
          </a:bodyPr>
          <a:lstStyle/>
          <a:p>
            <a:pPr>
              <a:lnSpc>
                <a:spcPct val="130000"/>
              </a:lnSpc>
              <a:spcBef>
                <a:spcPts val="0"/>
              </a:spcBef>
              <a:spcAft>
                <a:spcPts val="0"/>
              </a:spcAft>
            </a:pPr>
            <a:r>
              <a:rPr sz="1800" b="1">
                <a:solidFill>
                  <a:srgbClr val="EEF3FA"/>
                </a:solidFill>
                <a:latin typeface="Helvetica Neue"/>
              </a:rPr>
              <a:t>The router is not in your request path as a library. It is a gRPC external processor that Envoy consults mid-request.</a:t>
            </a:r>
          </a:p>
        </p:txBody>
      </p:sp>
      <p:sp>
        <p:nvSpPr>
          <p:cNvPr id="6" name="TextBox 5"/>
          <p:cNvSpPr txBox="1"/>
          <p:nvPr/>
        </p:nvSpPr>
        <p:spPr>
          <a:xfrm>
            <a:off x="658368" y="2340864"/>
            <a:ext cx="10241280" cy="2743200"/>
          </a:xfrm>
          <a:prstGeom prst="rect">
            <a:avLst/>
          </a:prstGeom>
          <a:noFill/>
        </p:spPr>
        <p:txBody>
          <a:bodyPr wrap="square" anchor="t" lIns="0" rIns="0" tIns="0" bIns="0">
            <a:spAutoFit/>
          </a:bodyPr>
          <a:lstStyle/>
          <a:p>
            <a:pPr>
              <a:lnSpc>
                <a:spcPct val="135000"/>
              </a:lnSpc>
              <a:spcBef>
                <a:spcPts val="0"/>
              </a:spcBef>
              <a:spcAft>
                <a:spcPts val="1100"/>
              </a:spcAft>
            </a:pPr>
            <a:r>
              <a:rPr sz="1450">
                <a:solidFill>
                  <a:srgbClr val="FF4D4D"/>
                </a:solidFill>
                <a:latin typeface="Helvetica Neue"/>
              </a:rPr>
              <a:t>▪   Clients speak the ordinary OpenAI-compatible API. No SDK, no client change.</a:t>
            </a:r>
          </a:p>
          <a:p>
            <a:pPr>
              <a:lnSpc>
                <a:spcPct val="135000"/>
              </a:lnSpc>
              <a:spcBef>
                <a:spcPts val="0"/>
              </a:spcBef>
              <a:spcAft>
                <a:spcPts val="1100"/>
              </a:spcAft>
            </a:pPr>
            <a:r>
              <a:rPr sz="1450">
                <a:solidFill>
                  <a:srgbClr val="FF4D4D"/>
                </a:solidFill>
                <a:latin typeface="Helvetica Neue"/>
              </a:rPr>
              <a:t>▪   Envoy calls the router over gRPC; the router classifies and returns a decision.</a:t>
            </a:r>
          </a:p>
          <a:p>
            <a:pPr>
              <a:lnSpc>
                <a:spcPct val="135000"/>
              </a:lnSpc>
              <a:spcBef>
                <a:spcPts val="0"/>
              </a:spcBef>
              <a:spcAft>
                <a:spcPts val="1100"/>
              </a:spcAft>
            </a:pPr>
            <a:r>
              <a:rPr sz="1450">
                <a:solidFill>
                  <a:srgbClr val="FF4D4D"/>
                </a:solidFill>
                <a:latin typeface="Helvetica Neue"/>
              </a:rPr>
              <a:t>▪   The router can answer immediately — a guardrail block or a cache hit never reaches a model.</a:t>
            </a:r>
          </a:p>
          <a:p>
            <a:pPr>
              <a:lnSpc>
                <a:spcPct val="135000"/>
              </a:lnSpc>
              <a:spcBef>
                <a:spcPts val="0"/>
              </a:spcBef>
              <a:spcAft>
                <a:spcPts val="1100"/>
              </a:spcAft>
            </a:pPr>
            <a:r>
              <a:rPr sz="1450">
                <a:solidFill>
                  <a:srgbClr val="FF4D4D"/>
                </a:solidFill>
                <a:latin typeface="Helvetica Neue"/>
              </a:rPr>
              <a:t>▪   Otherwise it rewrites the request and Envoy forwards it to the chosen backend.</a:t>
            </a:r>
          </a:p>
        </p:txBody>
      </p:sp>
      <p:sp>
        <p:nvSpPr>
          <p:cNvPr id="7" name="TextBox 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5 / 23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The pipeline: five stages</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Each stage has one job, and the separation is what makes the policy readable.</a:t>
            </a:r>
          </a:p>
        </p:txBody>
      </p:sp>
      <p:sp>
        <p:nvSpPr>
          <p:cNvPr id="5" name="Rectangle 4"/>
          <p:cNvSpPr/>
          <p:nvPr/>
        </p:nvSpPr>
        <p:spPr>
          <a:xfrm>
            <a:off x="658368" y="1938528"/>
            <a:ext cx="10874959" cy="25400"/>
          </a:xfrm>
          <a:prstGeom prst="rect">
            <a:avLst/>
          </a:prstGeom>
          <a:solidFill>
            <a:srgbClr val="2E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58368"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1</a:t>
            </a:r>
          </a:p>
        </p:txBody>
      </p:sp>
      <p:sp>
        <p:nvSpPr>
          <p:cNvPr id="7" name="TextBox 6"/>
          <p:cNvSpPr txBox="1"/>
          <p:nvPr/>
        </p:nvSpPr>
        <p:spPr>
          <a:xfrm>
            <a:off x="658368"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Signals</a:t>
            </a:r>
          </a:p>
        </p:txBody>
      </p:sp>
      <p:sp>
        <p:nvSpPr>
          <p:cNvPr id="8" name="TextBox 7"/>
          <p:cNvSpPr txBox="1"/>
          <p:nvPr/>
        </p:nvSpPr>
        <p:spPr>
          <a:xfrm>
            <a:off x="658368"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Extract facts from the request, conversation, identity and content. Signals describe; they never choose a backend.</a:t>
            </a:r>
          </a:p>
        </p:txBody>
      </p:sp>
      <p:sp>
        <p:nvSpPr>
          <p:cNvPr id="9" name="Oval 8"/>
          <p:cNvSpPr/>
          <p:nvPr/>
        </p:nvSpPr>
        <p:spPr>
          <a:xfrm>
            <a:off x="2869935"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2</a:t>
            </a:r>
          </a:p>
        </p:txBody>
      </p:sp>
      <p:sp>
        <p:nvSpPr>
          <p:cNvPr id="10" name="TextBox 9"/>
          <p:cNvSpPr txBox="1"/>
          <p:nvPr/>
        </p:nvSpPr>
        <p:spPr>
          <a:xfrm>
            <a:off x="2869935"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Projections</a:t>
            </a:r>
          </a:p>
        </p:txBody>
      </p:sp>
      <p:sp>
        <p:nvSpPr>
          <p:cNvPr id="11" name="TextBox 10"/>
          <p:cNvSpPr txBox="1"/>
          <p:nvPr/>
        </p:nvSpPr>
        <p:spPr>
          <a:xfrm>
            <a:off x="2869935"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Coordinate evidence. Combine several signal outputs into one reusable result.</a:t>
            </a:r>
          </a:p>
        </p:txBody>
      </p:sp>
      <p:sp>
        <p:nvSpPr>
          <p:cNvPr id="12" name="Oval 11"/>
          <p:cNvSpPr/>
          <p:nvPr/>
        </p:nvSpPr>
        <p:spPr>
          <a:xfrm>
            <a:off x="5081503"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3</a:t>
            </a:r>
          </a:p>
        </p:txBody>
      </p:sp>
      <p:sp>
        <p:nvSpPr>
          <p:cNvPr id="13" name="TextBox 12"/>
          <p:cNvSpPr txBox="1"/>
          <p:nvPr/>
        </p:nvSpPr>
        <p:spPr>
          <a:xfrm>
            <a:off x="5081503"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Decisions</a:t>
            </a:r>
          </a:p>
        </p:txBody>
      </p:sp>
      <p:sp>
        <p:nvSpPr>
          <p:cNvPr id="14" name="TextBox 13"/>
          <p:cNvSpPr txBox="1"/>
          <p:nvPr/>
        </p:nvSpPr>
        <p:spPr>
          <a:xfrm>
            <a:off x="5081503"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Apply policy. Boolean rules over signals and projections, resolved by priority.</a:t>
            </a:r>
          </a:p>
        </p:txBody>
      </p:sp>
      <p:sp>
        <p:nvSpPr>
          <p:cNvPr id="15" name="Oval 14"/>
          <p:cNvSpPr/>
          <p:nvPr/>
        </p:nvSpPr>
        <p:spPr>
          <a:xfrm>
            <a:off x="7293071"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4</a:t>
            </a:r>
          </a:p>
        </p:txBody>
      </p:sp>
      <p:sp>
        <p:nvSpPr>
          <p:cNvPr id="16" name="TextBox 15"/>
          <p:cNvSpPr txBox="1"/>
          <p:nvPr/>
        </p:nvSpPr>
        <p:spPr>
          <a:xfrm>
            <a:off x="7293071"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Algorithms</a:t>
            </a:r>
          </a:p>
        </p:txBody>
      </p:sp>
      <p:sp>
        <p:nvSpPr>
          <p:cNvPr id="17" name="TextBox 16"/>
          <p:cNvSpPr txBox="1"/>
          <p:nvPr/>
        </p:nvSpPr>
        <p:spPr>
          <a:xfrm>
            <a:off x="7293071"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Select one model, or coordinate several across a cascade, panel or multi-round workflow.</a:t>
            </a:r>
          </a:p>
        </p:txBody>
      </p:sp>
      <p:sp>
        <p:nvSpPr>
          <p:cNvPr id="18" name="Oval 17"/>
          <p:cNvSpPr/>
          <p:nvPr/>
        </p:nvSpPr>
        <p:spPr>
          <a:xfrm>
            <a:off x="9504639"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5</a:t>
            </a:r>
          </a:p>
        </p:txBody>
      </p:sp>
      <p:sp>
        <p:nvSpPr>
          <p:cNvPr id="19" name="TextBox 18"/>
          <p:cNvSpPr txBox="1"/>
          <p:nvPr/>
        </p:nvSpPr>
        <p:spPr>
          <a:xfrm>
            <a:off x="9504639"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Model Pools</a:t>
            </a:r>
          </a:p>
        </p:txBody>
      </p:sp>
      <p:sp>
        <p:nvSpPr>
          <p:cNvPr id="20" name="TextBox 19"/>
          <p:cNvSpPr txBox="1"/>
          <p:nvPr/>
        </p:nvSpPr>
        <p:spPr>
          <a:xfrm>
            <a:off x="9504639"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Execute. Providers bind logical model names to physical endpoints.</a:t>
            </a:r>
          </a:p>
        </p:txBody>
      </p:sp>
      <p:sp>
        <p:nvSpPr>
          <p:cNvPr id="21" name="TextBox 20"/>
          <p:cNvSpPr txBox="1"/>
          <p:nvPr/>
        </p:nvSpPr>
        <p:spPr>
          <a:xfrm>
            <a:off x="658368" y="6382512"/>
            <a:ext cx="6400800" cy="274320"/>
          </a:xfrm>
          <a:prstGeom prst="rect">
            <a:avLst/>
          </a:prstGeom>
          <a:noFill/>
        </p:spPr>
        <p:txBody>
          <a:bodyPr wrap="square" anchor="t" lIns="0" rIns="0" tIns="0" bIns="0">
            <a:spAutoFit/>
          </a:bodyPr>
          <a:lstStyle/>
          <a:p>
            <a:pPr>
              <a:spcBef>
                <a:spcPts val="0"/>
              </a:spcBef>
              <a:spcAft>
                <a:spcPts val="0"/>
              </a:spcAft>
            </a:pPr>
            <a:r>
              <a:rPr sz="900" b="0">
                <a:solidFill>
                  <a:srgbClr val="6E7D96"/>
                </a:solidFill>
                <a:latin typeface="Menlo"/>
              </a:rPr>
              <a:t>vllm-sr.ai/docs/overview/signal-driven-decisions</a:t>
            </a:r>
          </a:p>
        </p:txBody>
      </p:sp>
      <p:sp>
        <p:nvSpPr>
          <p:cNvPr id="22" name="TextBox 21"/>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6 / 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Stage 1 — Signals extract facts</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“A signal gives a name to something detected from the request, conversation, identity, or content.” Deterministic and learned signals sit side by side.</a:t>
            </a:r>
          </a:p>
        </p:txBody>
      </p:sp>
      <p:sp>
        <p:nvSpPr>
          <p:cNvPr id="5" name="Rectangle 4"/>
          <p:cNvSpPr/>
          <p:nvPr/>
        </p:nvSpPr>
        <p:spPr>
          <a:xfrm>
            <a:off x="658368" y="1938528"/>
            <a:ext cx="3490874" cy="224028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Deterministic</a:t>
            </a:r>
          </a:p>
        </p:txBody>
      </p:sp>
      <p:sp>
        <p:nvSpPr>
          <p:cNvPr id="8" name="TextBox 7"/>
          <p:cNvSpPr txBox="1"/>
          <p:nvPr/>
        </p:nvSpPr>
        <p:spPr>
          <a:xfrm>
            <a:off x="859536" y="2651760"/>
            <a:ext cx="3088538" cy="132588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Keyword lists, metadata predicates, context-length bands. Cheap, auditable, trivially explained to a compliance team — and trivially evaded.</a:t>
            </a:r>
          </a:p>
        </p:txBody>
      </p:sp>
      <p:sp>
        <p:nvSpPr>
          <p:cNvPr id="9" name="Rectangle 8"/>
          <p:cNvSpPr/>
          <p:nvPr/>
        </p:nvSpPr>
        <p:spPr>
          <a:xfrm>
            <a:off x="4350410" y="1938528"/>
            <a:ext cx="3490874" cy="224028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Learned</a:t>
            </a:r>
          </a:p>
        </p:txBody>
      </p:sp>
      <p:sp>
        <p:nvSpPr>
          <p:cNvPr id="12" name="TextBox 11"/>
          <p:cNvSpPr txBox="1"/>
          <p:nvPr/>
        </p:nvSpPr>
        <p:spPr>
          <a:xfrm>
            <a:off x="4551578" y="2651760"/>
            <a:ext cx="3088538" cy="132588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Embedding similarity and classifier models detecting intent, domain, complexity, PII and jailbreak patterns. More robust than keywords; probabilistic, and worth measuring on your own prompts.</a:t>
            </a:r>
          </a:p>
        </p:txBody>
      </p:sp>
      <p:sp>
        <p:nvSpPr>
          <p:cNvPr id="13" name="Rectangle 12"/>
          <p:cNvSpPr/>
          <p:nvPr/>
        </p:nvSpPr>
        <p:spPr>
          <a:xfrm>
            <a:off x="8042452" y="1938528"/>
            <a:ext cx="3490874" cy="224028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Dimensions observed</a:t>
            </a:r>
          </a:p>
        </p:txBody>
      </p:sp>
      <p:sp>
        <p:nvSpPr>
          <p:cNvPr id="16" name="TextBox 15"/>
          <p:cNvSpPr txBox="1"/>
          <p:nvPr/>
        </p:nvSpPr>
        <p:spPr>
          <a:xfrm>
            <a:off x="8243620" y="2651760"/>
            <a:ext cx="3088538" cy="132588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Intent, difficulty, context, modality, identity, risk, preference, and system state.</a:t>
            </a:r>
          </a:p>
        </p:txBody>
      </p:sp>
      <p:sp>
        <p:nvSpPr>
          <p:cNvPr id="17" name="Rectangle 16"/>
          <p:cNvSpPr/>
          <p:nvPr/>
        </p:nvSpPr>
        <p:spPr>
          <a:xfrm>
            <a:off x="658368" y="4398264"/>
            <a:ext cx="10874959" cy="475488"/>
          </a:xfrm>
          <a:prstGeom prst="rect">
            <a:avLst/>
          </a:prstGeom>
          <a:solidFill>
            <a:srgbClr val="1E2636"/>
          </a:solidFill>
          <a:ln w="1270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398264"/>
            <a:ext cx="50800" cy="47548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517136"/>
            <a:ext cx="10472623" cy="237744"/>
          </a:xfrm>
          <a:prstGeom prst="rect">
            <a:avLst/>
          </a:prstGeom>
          <a:noFill/>
        </p:spPr>
        <p:txBody>
          <a:bodyPr wrap="square" anchor="t" lIns="0" rIns="0" tIns="0" bIns="0">
            <a:spAutoFit/>
          </a:bodyPr>
          <a:lstStyle/>
          <a:p>
            <a:pPr>
              <a:lnSpc>
                <a:spcPct val="130000"/>
              </a:lnSpc>
              <a:spcBef>
                <a:spcPts val="0"/>
              </a:spcBef>
              <a:spcAft>
                <a:spcPts val="0"/>
              </a:spcAft>
            </a:pPr>
            <a:r>
              <a:rPr sz="1250" b="0">
                <a:solidFill>
                  <a:srgbClr val="FFC857"/>
                </a:solidFill>
                <a:latin typeface="Helvetica Neue"/>
              </a:rPr>
              <a:t>Signals describe facts. They do not choose the backend.</a:t>
            </a:r>
          </a:p>
        </p:txBody>
      </p:sp>
      <p:sp>
        <p:nvSpPr>
          <p:cNvPr id="20" name="TextBox 19"/>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7 / 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Stage 2 — Projections coordinate evidence</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The stage most people have not seen. Projections turn overlapping, noisy signal output into something a policy can reference without repeating itself.</a:t>
            </a:r>
          </a:p>
        </p:txBody>
      </p:sp>
      <p:sp>
        <p:nvSpPr>
          <p:cNvPr id="5" name="Rectangle 4"/>
          <p:cNvSpPr/>
          <p:nvPr/>
        </p:nvSpPr>
        <p:spPr>
          <a:xfrm>
            <a:off x="658368"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Partitions</a:t>
            </a:r>
          </a:p>
        </p:txBody>
      </p:sp>
      <p:sp>
        <p:nvSpPr>
          <p:cNvPr id="8" name="TextBox 7"/>
          <p:cNvSpPr txBox="1"/>
          <p:nvPr/>
        </p:nvSpPr>
        <p:spPr>
          <a:xfrm>
            <a:off x="859536"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“Choose a coherent winner among overlapping matches.” When three domain classifiers all fire, a partition decides which one the policy acts on.</a:t>
            </a:r>
          </a:p>
        </p:txBody>
      </p:sp>
      <p:sp>
        <p:nvSpPr>
          <p:cNvPr id="9" name="Rectangle 8"/>
          <p:cNvSpPr/>
          <p:nvPr/>
        </p:nvSpPr>
        <p:spPr>
          <a:xfrm>
            <a:off x="4350410"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Scores</a:t>
            </a:r>
          </a:p>
        </p:txBody>
      </p:sp>
      <p:sp>
        <p:nvSpPr>
          <p:cNvPr id="12" name="TextBox 11"/>
          <p:cNvSpPr txBox="1"/>
          <p:nvPr/>
        </p:nvSpPr>
        <p:spPr>
          <a:xfrm>
            <a:off x="4551578"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“Combine weighted inputs.” Complexity and context evidence collapse into a single difficulty score.</a:t>
            </a:r>
          </a:p>
        </p:txBody>
      </p:sp>
      <p:sp>
        <p:nvSpPr>
          <p:cNvPr id="13" name="Rectangle 12"/>
          <p:cNvSpPr/>
          <p:nvPr/>
        </p:nvSpPr>
        <p:spPr>
          <a:xfrm>
            <a:off x="8042452"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Mappings</a:t>
            </a:r>
          </a:p>
        </p:txBody>
      </p:sp>
      <p:sp>
        <p:nvSpPr>
          <p:cNvPr id="16" name="TextBox 15"/>
          <p:cNvSpPr txBox="1"/>
          <p:nvPr/>
        </p:nvSpPr>
        <p:spPr>
          <a:xfrm>
            <a:off x="8243620"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“Convert a score into named routing bands.” A continuous difficulty score becomes easy / medium / hard, which a decision can match on.</a:t>
            </a:r>
          </a:p>
        </p:txBody>
      </p:sp>
      <p:sp>
        <p:nvSpPr>
          <p:cNvPr id="17" name="TextBox 1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8 /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Stage 3 — Decisions apply policy</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Boolean rules with arbitrary nesting over signals and projections. Priority resolves conflicts: the highest-priority matching decision wins.</a:t>
            </a:r>
          </a:p>
        </p:txBody>
      </p:sp>
      <p:sp>
        <p:nvSpPr>
          <p:cNvPr id="5" name="Rectangle 4"/>
          <p:cNvSpPr/>
          <p:nvPr/>
        </p:nvSpPr>
        <p:spPr>
          <a:xfrm>
            <a:off x="658368" y="1938528"/>
            <a:ext cx="3490874" cy="224028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Eligibility before optimisation</a:t>
            </a:r>
          </a:p>
        </p:txBody>
      </p:sp>
      <p:sp>
        <p:nvSpPr>
          <p:cNvPr id="8" name="TextBox 7"/>
          <p:cNvSpPr txBox="1"/>
          <p:nvPr/>
        </p:nvSpPr>
        <p:spPr>
          <a:xfrm>
            <a:off x="859536" y="2651760"/>
            <a:ext cx="3088538" cy="132588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“Authorization, local-only processing, modality, context capacity, and tool compatibility should make a route eligible or ineligible before an optimizer compares cost or latency.”</a:t>
            </a:r>
          </a:p>
        </p:txBody>
      </p:sp>
      <p:sp>
        <p:nvSpPr>
          <p:cNvPr id="9" name="Rectangle 8"/>
          <p:cNvSpPr/>
          <p:nvPr/>
        </p:nvSpPr>
        <p:spPr>
          <a:xfrm>
            <a:off x="4350410" y="1938528"/>
            <a:ext cx="3490874" cy="224028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What a match supplies</a:t>
            </a:r>
          </a:p>
        </p:txBody>
      </p:sp>
      <p:sp>
        <p:nvSpPr>
          <p:cNvPr id="12" name="TextBox 11"/>
          <p:cNvSpPr txBox="1"/>
          <p:nvPr/>
        </p:nvSpPr>
        <p:spPr>
          <a:xfrm>
            <a:off x="4551578" y="2651760"/>
            <a:ext cx="3088538" cy="132588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Candidate models, an optional algorithm, and route-local plugins — so caching and guardrail behaviour can differ per route.</a:t>
            </a:r>
          </a:p>
        </p:txBody>
      </p:sp>
      <p:sp>
        <p:nvSpPr>
          <p:cNvPr id="13" name="Rectangle 12"/>
          <p:cNvSpPr/>
          <p:nvPr/>
        </p:nvSpPr>
        <p:spPr>
          <a:xfrm>
            <a:off x="8042452" y="1938528"/>
            <a:ext cx="3490874" cy="224028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Detection ≠ enforcement</a:t>
            </a:r>
          </a:p>
        </p:txBody>
      </p:sp>
      <p:sp>
        <p:nvSpPr>
          <p:cNvPr id="16" name="TextBox 15"/>
          <p:cNvSpPr txBox="1"/>
          <p:nvPr/>
        </p:nvSpPr>
        <p:spPr>
          <a:xfrm>
            <a:off x="8243620" y="2651760"/>
            <a:ext cx="3088538" cy="132588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A PII signal reports a match. The decision and its plugins choose whether to block, reroute, transform, or merely observe.</a:t>
            </a:r>
          </a:p>
        </p:txBody>
      </p:sp>
      <p:sp>
        <p:nvSpPr>
          <p:cNvPr id="17" name="Rectangle 16"/>
          <p:cNvSpPr/>
          <p:nvPr/>
        </p:nvSpPr>
        <p:spPr>
          <a:xfrm>
            <a:off x="658368" y="4398264"/>
            <a:ext cx="10874959" cy="475488"/>
          </a:xfrm>
          <a:prstGeom prst="rect">
            <a:avLst/>
          </a:prstGeom>
          <a:solidFill>
            <a:srgbClr val="1E2636"/>
          </a:solidFill>
          <a:ln w="1270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398264"/>
            <a:ext cx="50800" cy="47548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517136"/>
            <a:ext cx="10472623" cy="237744"/>
          </a:xfrm>
          <a:prstGeom prst="rect">
            <a:avLst/>
          </a:prstGeom>
          <a:noFill/>
        </p:spPr>
        <p:txBody>
          <a:bodyPr wrap="square" anchor="t" lIns="0" rIns="0" tIns="0" bIns="0">
            <a:spAutoFit/>
          </a:bodyPr>
          <a:lstStyle/>
          <a:p>
            <a:pPr>
              <a:lnSpc>
                <a:spcPct val="130000"/>
              </a:lnSpc>
              <a:spcBef>
                <a:spcPts val="0"/>
              </a:spcBef>
              <a:spcAft>
                <a:spcPts val="0"/>
              </a:spcAft>
            </a:pPr>
            <a:r>
              <a:rPr sz="1250" b="0">
                <a:solidFill>
                  <a:srgbClr val="FFC857"/>
                </a:solidFill>
                <a:latin typeface="Helvetica Neue"/>
              </a:rPr>
              <a:t>Hard requirements stay visible in the policy, not buried in a scoring function.</a:t>
            </a:r>
          </a:p>
        </p:txBody>
      </p:sp>
      <p:sp>
        <p:nvSpPr>
          <p:cNvPr id="20" name="TextBox 19"/>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9 /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Stage 4 — Algorithms select or coordinate</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Two families. Most demos only ever show the first.</a:t>
            </a:r>
          </a:p>
        </p:txBody>
      </p:sp>
      <p:sp>
        <p:nvSpPr>
          <p:cNvPr id="5" name="Rectangle 4"/>
          <p:cNvSpPr/>
          <p:nvPr/>
        </p:nvSpPr>
        <p:spPr>
          <a:xfrm>
            <a:off x="658368" y="1700784"/>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700784"/>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938528"/>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Selection algorithms</a:t>
            </a:r>
          </a:p>
        </p:txBody>
      </p:sp>
      <p:sp>
        <p:nvSpPr>
          <p:cNvPr id="8" name="TextBox 7"/>
          <p:cNvSpPr txBox="1"/>
          <p:nvPr/>
        </p:nvSpPr>
        <p:spPr>
          <a:xfrm>
            <a:off x="859536" y="2414016"/>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Choose one candidate from the eligible set — by fixed order, semantic fit, measured latency, or accumulated feedback.</a:t>
            </a:r>
          </a:p>
        </p:txBody>
      </p:sp>
      <p:sp>
        <p:nvSpPr>
          <p:cNvPr id="9" name="Rectangle 8"/>
          <p:cNvSpPr/>
          <p:nvPr/>
        </p:nvSpPr>
        <p:spPr>
          <a:xfrm>
            <a:off x="4350410" y="1700784"/>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700784"/>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1938528"/>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Looper algorithms</a:t>
            </a:r>
          </a:p>
        </p:txBody>
      </p:sp>
      <p:sp>
        <p:nvSpPr>
          <p:cNvPr id="12" name="TextBox 11"/>
          <p:cNvSpPr txBox="1"/>
          <p:nvPr/>
        </p:nvSpPr>
        <p:spPr>
          <a:xfrm>
            <a:off x="4551578" y="2414016"/>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Coordinate several models: cascades, panels, multi-round processes and workflows. One request, many models, orchestrated by the router.</a:t>
            </a:r>
          </a:p>
        </p:txBody>
      </p:sp>
      <p:sp>
        <p:nvSpPr>
          <p:cNvPr id="13" name="Rectangle 12"/>
          <p:cNvSpPr/>
          <p:nvPr/>
        </p:nvSpPr>
        <p:spPr>
          <a:xfrm>
            <a:off x="8042452" y="1700784"/>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700784"/>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1938528"/>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Why it sits here</a:t>
            </a:r>
          </a:p>
        </p:txBody>
      </p:sp>
      <p:sp>
        <p:nvSpPr>
          <p:cNvPr id="16" name="TextBox 15"/>
          <p:cNvSpPr txBox="1"/>
          <p:nvPr/>
        </p:nvSpPr>
        <p:spPr>
          <a:xfrm>
            <a:off x="8243620" y="2414016"/>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Eligibility was already settled in stage 3, so an optimiser can compare cost and latency freely without violating a hard requirement.</a:t>
            </a:r>
          </a:p>
        </p:txBody>
      </p:sp>
      <p:sp>
        <p:nvSpPr>
          <p:cNvPr id="17" name="TextBox 1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10 / 23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Stage 5 — Model pools execute</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Providers bind logical model names to physical endpoints, so policy never hard-codes an address.</a:t>
            </a:r>
          </a:p>
        </p:txBody>
      </p:sp>
      <p:sp>
        <p:nvSpPr>
          <p:cNvPr id="5" name="Rectangle 4"/>
          <p:cNvSpPr/>
          <p:nvPr/>
        </p:nvSpPr>
        <p:spPr>
          <a:xfrm>
            <a:off x="658368"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Heterogeneous by design</a:t>
            </a:r>
          </a:p>
        </p:txBody>
      </p:sp>
      <p:sp>
        <p:nvSpPr>
          <p:cNvPr id="8" name="TextBox 7"/>
          <p:cNvSpPr txBox="1"/>
          <p:nvPr/>
        </p:nvSpPr>
        <p:spPr>
          <a:xfrm>
            <a:off x="859536"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Local vLLM or Ollama, Kubernetes services, and remote OpenAI-compatible endpoints can all sit in the same pool.</a:t>
            </a:r>
          </a:p>
        </p:txBody>
      </p:sp>
      <p:sp>
        <p:nvSpPr>
          <p:cNvPr id="9" name="Rectangle 8"/>
          <p:cNvSpPr/>
          <p:nvPr/>
        </p:nvSpPr>
        <p:spPr>
          <a:xfrm>
            <a:off x="4350410"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Clear division of labour</a:t>
            </a:r>
          </a:p>
        </p:txBody>
      </p:sp>
      <p:sp>
        <p:nvSpPr>
          <p:cNvPr id="12" name="TextBox 11"/>
          <p:cNvSpPr txBox="1"/>
          <p:nvPr/>
        </p:nvSpPr>
        <p:spPr>
          <a:xfrm>
            <a:off x="4551578"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The router picks the path; the backend owns replica placement. It does not try to be a load balancer.</a:t>
            </a:r>
          </a:p>
        </p:txBody>
      </p:sp>
      <p:sp>
        <p:nvSpPr>
          <p:cNvPr id="13" name="Rectangle 12"/>
          <p:cNvSpPr/>
          <p:nvPr/>
        </p:nvSpPr>
        <p:spPr>
          <a:xfrm>
            <a:off x="8042452"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Pass-through is explicit</a:t>
            </a:r>
          </a:p>
        </p:txBody>
      </p:sp>
      <p:sp>
        <p:nvSpPr>
          <p:cNvPr id="16" name="TextBox 15"/>
          <p:cNvSpPr txBox="1"/>
          <p:nvPr/>
        </p:nvSpPr>
        <p:spPr>
          <a:xfrm>
            <a:off x="8243620"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Naming a concrete backend model bypasses recipe signals, decisions, route-local plugins, cache, learning and session routing.</a:t>
            </a:r>
          </a:p>
        </p:txBody>
      </p:sp>
      <p:sp>
        <p:nvSpPr>
          <p:cNvPr id="17" name="TextBox 1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11 / 23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Recipes and entrypoints</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A recipe is the unit of policy isolation. An entrypoint selects which recipe handles a request.</a:t>
            </a:r>
          </a:p>
        </p:txBody>
      </p:sp>
      <p:sp>
        <p:nvSpPr>
          <p:cNvPr id="5" name="Rectangle 4"/>
          <p:cNvSpPr/>
          <p:nvPr/>
        </p:nvSpPr>
        <p:spPr>
          <a:xfrm>
            <a:off x="658368"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What a recipe owns</a:t>
            </a:r>
          </a:p>
        </p:txBody>
      </p:sp>
      <p:sp>
        <p:nvSpPr>
          <p:cNvPr id="8" name="TextBox 7"/>
          <p:cNvSpPr txBox="1"/>
          <p:nvPr/>
        </p:nvSpPr>
        <p:spPr>
          <a:xfrm>
            <a:off x="859536"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Its own signals, projections, decisions, algorithms, plugins, cache namespace and routing state.</a:t>
            </a:r>
          </a:p>
        </p:txBody>
      </p:sp>
      <p:sp>
        <p:nvSpPr>
          <p:cNvPr id="9" name="Rectangle 8"/>
          <p:cNvSpPr/>
          <p:nvPr/>
        </p:nvSpPr>
        <p:spPr>
          <a:xfrm>
            <a:off x="4350410"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What it shares</a:t>
            </a:r>
          </a:p>
        </p:txBody>
      </p:sp>
      <p:sp>
        <p:nvSpPr>
          <p:cNvPr id="12" name="TextBox 11"/>
          <p:cNvSpPr txBox="1"/>
          <p:nvPr/>
        </p:nvSpPr>
        <p:spPr>
          <a:xfrm>
            <a:off x="4551578"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Providers and stores can be shared across recipes without policy leaking between them.</a:t>
            </a:r>
          </a:p>
        </p:txBody>
      </p:sp>
      <p:sp>
        <p:nvSpPr>
          <p:cNvPr id="13" name="Rectangle 12"/>
          <p:cNvSpPr/>
          <p:nvPr/>
        </p:nvSpPr>
        <p:spPr>
          <a:xfrm>
            <a:off x="8042452"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Why you want this</a:t>
            </a:r>
          </a:p>
        </p:txBody>
      </p:sp>
      <p:sp>
        <p:nvSpPr>
          <p:cNvPr id="16" name="TextBox 15"/>
          <p:cNvSpPr txBox="1"/>
          <p:nvPr/>
        </p:nvSpPr>
        <p:spPr>
          <a:xfrm>
            <a:off x="8243620"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Two teams, two risk appetites, one platform. Nobody has to agree on a single global threshold.</a:t>
            </a:r>
          </a:p>
        </p:txBody>
      </p:sp>
      <p:sp>
        <p:nvSpPr>
          <p:cNvPr id="17" name="TextBox 1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12 / 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MoM V1 ships five built-in recipes</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Each is exposed as a virtual model name, so adopting one is a string change in the client.</a:t>
            </a:r>
          </a:p>
        </p:txBody>
      </p:sp>
      <p:graphicFrame>
        <p:nvGraphicFramePr>
          <p:cNvPr id="5" name="Table 4"/>
          <p:cNvGraphicFramePr>
            <a:graphicFrameLocks noGrp="1"/>
          </p:cNvGraphicFramePr>
          <p:nvPr/>
        </p:nvGraphicFramePr>
        <p:xfrm>
          <a:off x="658368" y="1938528"/>
          <a:ext cx="10874959" cy="3200400"/>
        </p:xfrm>
        <a:graphic>
          <a:graphicData uri="http://schemas.openxmlformats.org/drawingml/2006/table">
            <a:tbl>
              <a:tblPr firstRow="1" bandRow="1">
                <a:tableStyleId>{5C22544A-7EE6-4342-B048-85BDC9FD1C3A}</a:tableStyleId>
              </a:tblPr>
              <a:tblGrid>
                <a:gridCol w="1554480"/>
                <a:gridCol w="2651760"/>
                <a:gridCol w="6668719"/>
              </a:tblGrid>
              <a:tr h="533400">
                <a:tc>
                  <a:txBody>
                    <a:bodyPr wrap="square"/>
                    <a:lstStyle/>
                    <a:p>
                      <a:pPr>
                        <a:spcBef>
                          <a:spcPts val="0"/>
                        </a:spcBef>
                        <a:spcAft>
                          <a:spcPts val="0"/>
                        </a:spcAft>
                      </a:pPr>
                      <a:r>
                        <a:rPr sz="1000" b="1">
                          <a:solidFill>
                            <a:srgbClr val="FF4D4D"/>
                          </a:solidFill>
                          <a:latin typeface="Helvetica Neue"/>
                        </a:rPr>
                        <a:t>RECIPE</a:t>
                      </a:r>
                    </a:p>
                  </a:txBody>
                  <a:tcPr marL="91440" marR="91440">
                    <a:solidFill>
                      <a:srgbClr val="0B0E14"/>
                    </a:solidFill>
                  </a:tcPr>
                </a:tc>
                <a:tc>
                  <a:txBody>
                    <a:bodyPr wrap="square"/>
                    <a:lstStyle/>
                    <a:p>
                      <a:pPr>
                        <a:spcBef>
                          <a:spcPts val="0"/>
                        </a:spcBef>
                        <a:spcAft>
                          <a:spcPts val="0"/>
                        </a:spcAft>
                      </a:pPr>
                      <a:r>
                        <a:rPr sz="1000" b="1">
                          <a:solidFill>
                            <a:srgbClr val="FF4D4D"/>
                          </a:solidFill>
                          <a:latin typeface="Helvetica Neue"/>
                        </a:rPr>
                        <a:t>VIRTUAL MODEL</a:t>
                      </a:r>
                    </a:p>
                  </a:txBody>
                  <a:tcPr marL="91440" marR="91440">
                    <a:solidFill>
                      <a:srgbClr val="0B0E14"/>
                    </a:solidFill>
                  </a:tcPr>
                </a:tc>
                <a:tc>
                  <a:txBody>
                    <a:bodyPr wrap="square"/>
                    <a:lstStyle/>
                    <a:p>
                      <a:pPr>
                        <a:spcBef>
                          <a:spcPts val="0"/>
                        </a:spcBef>
                        <a:spcAft>
                          <a:spcPts val="0"/>
                        </a:spcAft>
                      </a:pPr>
                      <a:r>
                        <a:rPr sz="1000" b="1">
                          <a:solidFill>
                            <a:srgbClr val="FF4D4D"/>
                          </a:solidFill>
                          <a:latin typeface="Helvetica Neue"/>
                        </a:rPr>
                        <a:t>OPTIMISES FOR</a:t>
                      </a:r>
                    </a:p>
                  </a:txBody>
                  <a:tcPr marL="91440" marR="91440">
                    <a:solidFill>
                      <a:srgbClr val="0B0E14"/>
                    </a:solidFill>
                  </a:tcPr>
                </a:tc>
              </a:tr>
              <a:tr h="533400">
                <a:tc>
                  <a:txBody>
                    <a:bodyPr wrap="square"/>
                    <a:lstStyle/>
                    <a:p>
                      <a:pPr>
                        <a:lnSpc>
                          <a:spcPct val="125000"/>
                        </a:lnSpc>
                        <a:spcBef>
                          <a:spcPts val="0"/>
                        </a:spcBef>
                        <a:spcAft>
                          <a:spcPts val="0"/>
                        </a:spcAft>
                      </a:pPr>
                      <a:r>
                        <a:rPr sz="1100" b="1">
                          <a:solidFill>
                            <a:srgbClr val="EEF3FA"/>
                          </a:solidFill>
                          <a:latin typeface="Helvetica Neue"/>
                        </a:rPr>
                        <a:t>Balance</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Menlo"/>
                        </a:rPr>
                        <a:t>vllm-sr/mom-v1-blend</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Helvetica Neue"/>
                        </a:rPr>
                        <a:t>Difficulty, consequential advice and answer-recovery signals</a:t>
                      </a:r>
                    </a:p>
                  </a:txBody>
                  <a:tcPr marL="91440" marR="91440" marT="45720" marB="45720">
                    <a:solidFill>
                      <a:srgbClr val="151B26"/>
                    </a:solidFill>
                  </a:tcPr>
                </a:tc>
              </a:tr>
              <a:tr h="533400">
                <a:tc>
                  <a:txBody>
                    <a:bodyPr wrap="square"/>
                    <a:lstStyle/>
                    <a:p>
                      <a:pPr>
                        <a:lnSpc>
                          <a:spcPct val="125000"/>
                        </a:lnSpc>
                        <a:spcBef>
                          <a:spcPts val="0"/>
                        </a:spcBef>
                        <a:spcAft>
                          <a:spcPts val="0"/>
                        </a:spcAft>
                      </a:pPr>
                      <a:r>
                        <a:rPr sz="1100" b="1">
                          <a:solidFill>
                            <a:srgbClr val="EEF3FA"/>
                          </a:solidFill>
                          <a:latin typeface="Helvetica Neue"/>
                        </a:rPr>
                        <a:t>Speed</a:t>
                      </a:r>
                    </a:p>
                  </a:txBody>
                  <a:tcPr marL="91440" marR="91440" marT="45720" marB="45720">
                    <a:solidFill>
                      <a:srgbClr val="0B0E14"/>
                    </a:solidFill>
                  </a:tcPr>
                </a:tc>
                <a:tc>
                  <a:txBody>
                    <a:bodyPr wrap="square"/>
                    <a:lstStyle/>
                    <a:p>
                      <a:pPr>
                        <a:lnSpc>
                          <a:spcPct val="125000"/>
                        </a:lnSpc>
                        <a:spcBef>
                          <a:spcPts val="0"/>
                        </a:spcBef>
                        <a:spcAft>
                          <a:spcPts val="0"/>
                        </a:spcAft>
                      </a:pPr>
                      <a:r>
                        <a:rPr sz="1050" b="0">
                          <a:solidFill>
                            <a:srgbClr val="A3B0C6"/>
                          </a:solidFill>
                          <a:latin typeface="Menlo"/>
                        </a:rPr>
                        <a:t>vllm-sr/mom-v1-flash</a:t>
                      </a:r>
                    </a:p>
                  </a:txBody>
                  <a:tcPr marL="91440" marR="91440" marT="45720" marB="45720">
                    <a:solidFill>
                      <a:srgbClr val="0B0E14"/>
                    </a:solidFill>
                  </a:tcPr>
                </a:tc>
                <a:tc>
                  <a:txBody>
                    <a:bodyPr wrap="square"/>
                    <a:lstStyle/>
                    <a:p>
                      <a:pPr>
                        <a:lnSpc>
                          <a:spcPct val="125000"/>
                        </a:lnSpc>
                        <a:spcBef>
                          <a:spcPts val="0"/>
                        </a:spcBef>
                        <a:spcAft>
                          <a:spcPts val="0"/>
                        </a:spcAft>
                      </a:pPr>
                      <a:r>
                        <a:rPr sz="1050" b="0">
                          <a:solidFill>
                            <a:srgbClr val="A3B0C6"/>
                          </a:solidFill>
                          <a:latin typeface="Helvetica Neue"/>
                        </a:rPr>
                        <a:t>Lighter signal set, lowest added latency</a:t>
                      </a:r>
                    </a:p>
                  </a:txBody>
                  <a:tcPr marL="91440" marR="91440" marT="45720" marB="45720">
                    <a:solidFill>
                      <a:srgbClr val="0B0E14"/>
                    </a:solidFill>
                  </a:tcPr>
                </a:tc>
              </a:tr>
              <a:tr h="533400">
                <a:tc>
                  <a:txBody>
                    <a:bodyPr wrap="square"/>
                    <a:lstStyle/>
                    <a:p>
                      <a:pPr>
                        <a:lnSpc>
                          <a:spcPct val="125000"/>
                        </a:lnSpc>
                        <a:spcBef>
                          <a:spcPts val="0"/>
                        </a:spcBef>
                        <a:spcAft>
                          <a:spcPts val="0"/>
                        </a:spcAft>
                      </a:pPr>
                      <a:r>
                        <a:rPr sz="1100" b="1">
                          <a:solidFill>
                            <a:srgbClr val="EEF3FA"/>
                          </a:solidFill>
                          <a:latin typeface="Helvetica Neue"/>
                        </a:rPr>
                        <a:t>Cost</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Menlo"/>
                        </a:rPr>
                        <a:t>vllm-sr/mom-v1-lite</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Helvetica Neue"/>
                        </a:rPr>
                        <a:t>Lighter signal set, cheapest viable path</a:t>
                      </a:r>
                    </a:p>
                  </a:txBody>
                  <a:tcPr marL="91440" marR="91440" marT="45720" marB="45720">
                    <a:solidFill>
                      <a:srgbClr val="151B26"/>
                    </a:solidFill>
                  </a:tcPr>
                </a:tc>
              </a:tr>
              <a:tr h="533400">
                <a:tc>
                  <a:txBody>
                    <a:bodyPr wrap="square"/>
                    <a:lstStyle/>
                    <a:p>
                      <a:pPr>
                        <a:lnSpc>
                          <a:spcPct val="125000"/>
                        </a:lnSpc>
                        <a:spcBef>
                          <a:spcPts val="0"/>
                        </a:spcBef>
                        <a:spcAft>
                          <a:spcPts val="0"/>
                        </a:spcAft>
                      </a:pPr>
                      <a:r>
                        <a:rPr sz="1100" b="1">
                          <a:solidFill>
                            <a:srgbClr val="EEF3FA"/>
                          </a:solidFill>
                          <a:latin typeface="Helvetica Neue"/>
                        </a:rPr>
                        <a:t>Accuracy</a:t>
                      </a:r>
                    </a:p>
                  </a:txBody>
                  <a:tcPr marL="91440" marR="91440" marT="45720" marB="45720">
                    <a:solidFill>
                      <a:srgbClr val="0B0E14"/>
                    </a:solidFill>
                  </a:tcPr>
                </a:tc>
                <a:tc>
                  <a:txBody>
                    <a:bodyPr wrap="square"/>
                    <a:lstStyle/>
                    <a:p>
                      <a:pPr>
                        <a:lnSpc>
                          <a:spcPct val="125000"/>
                        </a:lnSpc>
                        <a:spcBef>
                          <a:spcPts val="0"/>
                        </a:spcBef>
                        <a:spcAft>
                          <a:spcPts val="0"/>
                        </a:spcAft>
                      </a:pPr>
                      <a:r>
                        <a:rPr sz="1050" b="0">
                          <a:solidFill>
                            <a:srgbClr val="A3B0C6"/>
                          </a:solidFill>
                          <a:latin typeface="Menlo"/>
                        </a:rPr>
                        <a:t>vllm-sr/mom-v1-ultra</a:t>
                      </a:r>
                    </a:p>
                  </a:txBody>
                  <a:tcPr marL="91440" marR="91440" marT="45720" marB="45720">
                    <a:solidFill>
                      <a:srgbClr val="0B0E14"/>
                    </a:solidFill>
                  </a:tcPr>
                </a:tc>
                <a:tc>
                  <a:txBody>
                    <a:bodyPr wrap="square"/>
                    <a:lstStyle/>
                    <a:p>
                      <a:pPr>
                        <a:lnSpc>
                          <a:spcPct val="125000"/>
                        </a:lnSpc>
                        <a:spcBef>
                          <a:spcPts val="0"/>
                        </a:spcBef>
                        <a:spcAft>
                          <a:spcPts val="0"/>
                        </a:spcAft>
                      </a:pPr>
                      <a:r>
                        <a:rPr sz="1050" b="0">
                          <a:solidFill>
                            <a:srgbClr val="A3B0C6"/>
                          </a:solidFill>
                          <a:latin typeface="Helvetica Neue"/>
                        </a:rPr>
                        <a:t>Usually one strong model</a:t>
                      </a:r>
                    </a:p>
                  </a:txBody>
                  <a:tcPr marL="91440" marR="91440" marT="45720" marB="45720">
                    <a:solidFill>
                      <a:srgbClr val="0B0E14"/>
                    </a:solidFill>
                  </a:tcPr>
                </a:tc>
              </a:tr>
              <a:tr h="533400">
                <a:tc>
                  <a:txBody>
                    <a:bodyPr wrap="square"/>
                    <a:lstStyle/>
                    <a:p>
                      <a:pPr>
                        <a:lnSpc>
                          <a:spcPct val="125000"/>
                        </a:lnSpc>
                        <a:spcBef>
                          <a:spcPts val="0"/>
                        </a:spcBef>
                        <a:spcAft>
                          <a:spcPts val="0"/>
                        </a:spcAft>
                      </a:pPr>
                      <a:r>
                        <a:rPr sz="1100" b="1">
                          <a:solidFill>
                            <a:srgbClr val="EEF3FA"/>
                          </a:solidFill>
                          <a:latin typeface="Helvetica Neue"/>
                        </a:rPr>
                        <a:t>Vault</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Menlo"/>
                        </a:rPr>
                        <a:t>vllm-sr/mom-v1-vault</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Helvetica Neue"/>
                        </a:rPr>
                        <a:t>Privacy — Guard and PII on Vela 2.0 0.3B</a:t>
                      </a:r>
                    </a:p>
                  </a:txBody>
                  <a:tcPr marL="91440" marR="91440" marT="45720" marB="45720">
                    <a:solidFill>
                      <a:srgbClr val="151B26"/>
                    </a:solidFill>
                  </a:tcPr>
                </a:tc>
              </a:tr>
            </a:tbl>
          </a:graphicData>
        </a:graphic>
      </p:graphicFrame>
      <p:sp>
        <p:nvSpPr>
          <p:cNvPr id="6" name="TextBox 5"/>
          <p:cNvSpPr txBox="1"/>
          <p:nvPr/>
        </p:nvSpPr>
        <p:spPr>
          <a:xfrm>
            <a:off x="658368" y="6382512"/>
            <a:ext cx="6400800" cy="274320"/>
          </a:xfrm>
          <a:prstGeom prst="rect">
            <a:avLst/>
          </a:prstGeom>
          <a:noFill/>
        </p:spPr>
        <p:txBody>
          <a:bodyPr wrap="square" anchor="t" lIns="0" rIns="0" tIns="0" bIns="0">
            <a:spAutoFit/>
          </a:bodyPr>
          <a:lstStyle/>
          <a:p>
            <a:pPr>
              <a:spcBef>
                <a:spcPts val="0"/>
              </a:spcBef>
              <a:spcAft>
                <a:spcPts val="0"/>
              </a:spcAft>
            </a:pPr>
            <a:r>
              <a:rPr sz="900" b="0">
                <a:solidFill>
                  <a:srgbClr val="6E7D96"/>
                </a:solidFill>
                <a:latin typeface="Menlo"/>
              </a:rPr>
              <a:t>vllm-sr.ai/docs/next/overview/mom-model-family</a:t>
            </a:r>
          </a:p>
        </p:txBody>
      </p:sp>
      <p:sp>
        <p:nvSpPr>
          <p:cNvPr id="7" name="TextBox 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13 /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The model family behind the signals</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Signal extraction runs on small, specialised models — not on the GPUs serving your traffic.</a:t>
            </a:r>
          </a:p>
        </p:txBody>
      </p:sp>
      <p:sp>
        <p:nvSpPr>
          <p:cNvPr id="5" name="Rectangle 4"/>
          <p:cNvSpPr/>
          <p:nvPr/>
        </p:nvSpPr>
        <p:spPr>
          <a:xfrm>
            <a:off x="658368"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Vela 2.0 0.3B</a:t>
            </a:r>
          </a:p>
        </p:txBody>
      </p:sp>
      <p:sp>
        <p:nvSpPr>
          <p:cNvPr id="8" name="TextBox 7"/>
          <p:cNvSpPr txBox="1"/>
          <p:nvPr/>
        </p:nvSpPr>
        <p:spPr>
          <a:xfrm>
            <a:off x="859536"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Classification model used for Guard and PII in the Vault recipe. Reads up to 8,192 tokens, truncating beyond that.</a:t>
            </a:r>
          </a:p>
        </p:txBody>
      </p:sp>
      <p:sp>
        <p:nvSpPr>
          <p:cNvPr id="9" name="Rectangle 8"/>
          <p:cNvSpPr/>
          <p:nvPr/>
        </p:nvSpPr>
        <p:spPr>
          <a:xfrm>
            <a:off x="4350410"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Decision models</a:t>
            </a:r>
          </a:p>
        </p:txBody>
      </p:sp>
      <p:sp>
        <p:nvSpPr>
          <p:cNvPr id="12" name="TextBox 11"/>
          <p:cNvSpPr txBox="1"/>
          <p:nvPr/>
        </p:nvSpPr>
        <p:spPr>
          <a:xfrm>
            <a:off x="4551578"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Shipped open in v0.4 “Hermes”, alongside the Vela classification models, as one Mixture-of-Models system.</a:t>
            </a:r>
          </a:p>
        </p:txBody>
      </p:sp>
      <p:sp>
        <p:nvSpPr>
          <p:cNvPr id="13" name="Rectangle 12"/>
          <p:cNvSpPr/>
          <p:nvPr/>
        </p:nvSpPr>
        <p:spPr>
          <a:xfrm>
            <a:off x="8042452"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CPU-native</a:t>
            </a:r>
          </a:p>
        </p:txBody>
      </p:sp>
      <p:sp>
        <p:nvSpPr>
          <p:cNvPr id="16" name="TextBox 15"/>
          <p:cNvSpPr txBox="1"/>
          <p:nvPr/>
        </p:nvSpPr>
        <p:spPr>
          <a:xfrm>
            <a:off x="8243620"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Signal extraction does not need GPU compute. Your accelerators stay dedicated to serving tokens.</a:t>
            </a:r>
          </a:p>
        </p:txBody>
      </p:sp>
      <p:sp>
        <p:nvSpPr>
          <p:cNvPr id="17" name="TextBox 1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14 / 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Plugins: what happens on the way through</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Configurable per decision, so a route can tighten or disable any of them.</a:t>
            </a:r>
          </a:p>
        </p:txBody>
      </p:sp>
      <p:sp>
        <p:nvSpPr>
          <p:cNvPr id="5" name="Rectangle 4"/>
          <p:cNvSpPr/>
          <p:nvPr/>
        </p:nvSpPr>
        <p:spPr>
          <a:xfrm>
            <a:off x="658368"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Semantic cache</a:t>
            </a:r>
          </a:p>
        </p:txBody>
      </p:sp>
      <p:sp>
        <p:nvSpPr>
          <p:cNvPr id="8" name="TextBox 7"/>
          <p:cNvSpPr txBox="1"/>
          <p:nvPr/>
        </p:nvSpPr>
        <p:spPr>
          <a:xfrm>
            <a:off x="859536"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Embedding similarity, not a hash — but measure before you trust it. Here an identical repeat scores 1.0000, a two-word-different question 0.9431, and a true paraphrase only 0.8555. The wrong question outscores the paraphrase, so the threshold is a precision/recall dial, not a meaning detector.</a:t>
            </a:r>
          </a:p>
        </p:txBody>
      </p:sp>
      <p:sp>
        <p:nvSpPr>
          <p:cNvPr id="9" name="Rectangle 8"/>
          <p:cNvSpPr/>
          <p:nvPr/>
        </p:nvSpPr>
        <p:spPr>
          <a:xfrm>
            <a:off x="4350410"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Prompt guard</a:t>
            </a:r>
          </a:p>
        </p:txBody>
      </p:sp>
      <p:sp>
        <p:nvSpPr>
          <p:cNvPr id="12" name="TextBox 11"/>
          <p:cNvSpPr txBox="1"/>
          <p:nvPr/>
        </p:nvSpPr>
        <p:spPr>
          <a:xfrm>
            <a:off x="4551578"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Jailbreak detection combining deterministic phrase rules with a classifier, so an unseen phrasing is still caught.</a:t>
            </a:r>
          </a:p>
        </p:txBody>
      </p:sp>
      <p:sp>
        <p:nvSpPr>
          <p:cNvPr id="13" name="Rectangle 12"/>
          <p:cNvSpPr/>
          <p:nvPr/>
        </p:nvSpPr>
        <p:spPr>
          <a:xfrm>
            <a:off x="8042452"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PII handling</a:t>
            </a:r>
          </a:p>
        </p:txBody>
      </p:sp>
      <p:sp>
        <p:nvSpPr>
          <p:cNvPr id="16" name="TextBox 15"/>
          <p:cNvSpPr txBox="1"/>
          <p:nvPr/>
        </p:nvSpPr>
        <p:spPr>
          <a:xfrm>
            <a:off x="8243620"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Token-level entity detection. Whether that blocks, redacts, reroutes or just records is the decision's call, not the detector's.</a:t>
            </a:r>
          </a:p>
        </p:txBody>
      </p:sp>
      <p:sp>
        <p:nvSpPr>
          <p:cNvPr id="17" name="TextBox 1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15 / 23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Footprint and prerequisites</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Two layers with very different hardware profiles.</a:t>
            </a:r>
          </a:p>
        </p:txBody>
      </p:sp>
      <p:sp>
        <p:nvSpPr>
          <p:cNvPr id="5" name="Rectangle 4"/>
          <p:cNvSpPr/>
          <p:nvPr/>
        </p:nvSpPr>
        <p:spPr>
          <a:xfrm>
            <a:off x="658368" y="1700784"/>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700784"/>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938528"/>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Router layer</a:t>
            </a:r>
          </a:p>
        </p:txBody>
      </p:sp>
      <p:sp>
        <p:nvSpPr>
          <p:cNvPr id="8" name="TextBox 7"/>
          <p:cNvSpPr txBox="1"/>
          <p:nvPr/>
        </p:nvSpPr>
        <p:spPr>
          <a:xfrm>
            <a:off x="859536" y="2414016"/>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Runs entirely on CPU. In the Kubernetes deployment in this repo the router pod requests 4 GB and is limited to 8 GB, and pulls roughly 4 GB of classifier weights onto a PVC on first start.</a:t>
            </a:r>
          </a:p>
        </p:txBody>
      </p:sp>
      <p:sp>
        <p:nvSpPr>
          <p:cNvPr id="9" name="Rectangle 8"/>
          <p:cNvSpPr/>
          <p:nvPr/>
        </p:nvSpPr>
        <p:spPr>
          <a:xfrm>
            <a:off x="4350410" y="1700784"/>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700784"/>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1938528"/>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Backend layer</a:t>
            </a:r>
          </a:p>
        </p:txBody>
      </p:sp>
      <p:sp>
        <p:nvSpPr>
          <p:cNvPr id="12" name="TextBox 11"/>
          <p:cNvSpPr txBox="1"/>
          <p:nvPr/>
        </p:nvSpPr>
        <p:spPr>
          <a:xfrm>
            <a:off x="4551578" y="2414016"/>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GPUs, for the models actually generating tokens. Any OpenAI-compatible server — this demo uses vLLM on KServe.</a:t>
            </a:r>
          </a:p>
        </p:txBody>
      </p:sp>
      <p:sp>
        <p:nvSpPr>
          <p:cNvPr id="13" name="Rectangle 12"/>
          <p:cNvSpPr/>
          <p:nvPr/>
        </p:nvSpPr>
        <p:spPr>
          <a:xfrm>
            <a:off x="8042452" y="1700784"/>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700784"/>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1938528"/>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Deployment</a:t>
            </a:r>
          </a:p>
        </p:txBody>
      </p:sp>
      <p:sp>
        <p:nvSpPr>
          <p:cNvPr id="16" name="TextBox 15"/>
          <p:cNvSpPr txBox="1"/>
          <p:nvPr/>
        </p:nvSpPr>
        <p:spPr>
          <a:xfrm>
            <a:off x="8243620" y="2414016"/>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Docker or Podman for local evaluation; Kubernetes for anything real.</a:t>
            </a:r>
          </a:p>
        </p:txBody>
      </p:sp>
      <p:sp>
        <p:nvSpPr>
          <p:cNvPr id="17" name="TextBox 1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16 / 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Compatible with what you already run</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The router is an Envoy external processor, so it inherits the ecosystem rather than replacing it.</a:t>
            </a:r>
          </a:p>
        </p:txBody>
      </p:sp>
      <p:sp>
        <p:nvSpPr>
          <p:cNvPr id="5" name="Rectangle 4"/>
          <p:cNvSpPr/>
          <p:nvPr/>
        </p:nvSpPr>
        <p:spPr>
          <a:xfrm>
            <a:off x="658368"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API surface</a:t>
            </a:r>
          </a:p>
        </p:txBody>
      </p:sp>
      <p:sp>
        <p:nvSpPr>
          <p:cNvPr id="8" name="TextBox 7"/>
          <p:cNvSpPr txBox="1"/>
          <p:nvPr/>
        </p:nvSpPr>
        <p:spPr>
          <a:xfrm>
            <a:off x="859536"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OpenAI-compatible and Anthropic-compatible endpoints. Clients do not change.</a:t>
            </a:r>
          </a:p>
        </p:txBody>
      </p:sp>
      <p:sp>
        <p:nvSpPr>
          <p:cNvPr id="9" name="Rectangle 8"/>
          <p:cNvSpPr/>
          <p:nvPr/>
        </p:nvSpPr>
        <p:spPr>
          <a:xfrm>
            <a:off x="4350410"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Infrastructure</a:t>
            </a:r>
          </a:p>
        </p:txBody>
      </p:sp>
      <p:sp>
        <p:nvSpPr>
          <p:cNvPr id="12" name="TextBox 11"/>
          <p:cNvSpPr txBox="1"/>
          <p:nvPr/>
        </p:nvSpPr>
        <p:spPr>
          <a:xfrm>
            <a:off x="4551578"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Standard Envoy, Kubernetes Gateway API, Istio service mesh.</a:t>
            </a:r>
          </a:p>
        </p:txBody>
      </p:sp>
      <p:sp>
        <p:nvSpPr>
          <p:cNvPr id="13" name="Rectangle 12"/>
          <p:cNvSpPr/>
          <p:nvPr/>
        </p:nvSpPr>
        <p:spPr>
          <a:xfrm>
            <a:off x="8042452"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Backends</a:t>
            </a:r>
          </a:p>
        </p:txBody>
      </p:sp>
      <p:sp>
        <p:nvSpPr>
          <p:cNvPr id="16" name="TextBox 15"/>
          <p:cNvSpPr txBox="1"/>
          <p:nvPr/>
        </p:nvSpPr>
        <p:spPr>
          <a:xfrm>
            <a:off x="8243620"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vLLM, Ollama, Kubernetes services, and remote OpenAI-compatible providers, mixed freely in one pool.</a:t>
            </a:r>
          </a:p>
        </p:txBody>
      </p:sp>
      <p:sp>
        <p:nvSpPr>
          <p:cNvPr id="17" name="TextBox 1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17 / 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vLLM-SR and llm-d answer different questions</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They are complementary, not competing. Most confusion about either one dissolves here.</a:t>
            </a:r>
          </a:p>
        </p:txBody>
      </p:sp>
      <p:sp>
        <p:nvSpPr>
          <p:cNvPr id="5" name="Rectangle 4"/>
          <p:cNvSpPr/>
          <p:nvPr/>
        </p:nvSpPr>
        <p:spPr>
          <a:xfrm>
            <a:off x="658368" y="1938528"/>
            <a:ext cx="5318607" cy="320040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5318607" cy="475488"/>
          </a:xfrm>
          <a:prstGeom prst="rect">
            <a:avLst/>
          </a:prstGeom>
          <a:solidFill>
            <a:srgbClr val="1E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38528"/>
            <a:ext cx="50800" cy="475488"/>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057400"/>
            <a:ext cx="4879695" cy="329184"/>
          </a:xfrm>
          <a:prstGeom prst="rect">
            <a:avLst/>
          </a:prstGeom>
          <a:noFill/>
        </p:spPr>
        <p:txBody>
          <a:bodyPr wrap="square" anchor="t" lIns="0" rIns="0" tIns="0" bIns="0">
            <a:spAutoFit/>
          </a:bodyPr>
          <a:lstStyle/>
          <a:p>
            <a:pPr>
              <a:spcBef>
                <a:spcPts val="0"/>
              </a:spcBef>
              <a:spcAft>
                <a:spcPts val="0"/>
              </a:spcAft>
            </a:pPr>
            <a:r>
              <a:rPr sz="1500" b="1">
                <a:solidFill>
                  <a:srgbClr val="4DD6C8"/>
                </a:solidFill>
                <a:latin typeface="Helvetica Neue"/>
              </a:rPr>
              <a:t>vLLM-SR — the model picker</a:t>
            </a:r>
          </a:p>
        </p:txBody>
      </p:sp>
      <p:sp>
        <p:nvSpPr>
          <p:cNvPr id="9" name="TextBox 8"/>
          <p:cNvSpPr txBox="1"/>
          <p:nvPr/>
        </p:nvSpPr>
        <p:spPr>
          <a:xfrm>
            <a:off x="877824" y="2560320"/>
            <a:ext cx="4879695" cy="2377440"/>
          </a:xfrm>
          <a:prstGeom prst="rect">
            <a:avLst/>
          </a:prstGeom>
          <a:noFill/>
        </p:spPr>
        <p:txBody>
          <a:bodyPr wrap="square" anchor="t" lIns="0" rIns="0" tIns="0" bIns="0">
            <a:spAutoFit/>
          </a:bodyPr>
          <a:lstStyle/>
          <a:p>
            <a:pPr>
              <a:lnSpc>
                <a:spcPct val="135000"/>
              </a:lnSpc>
              <a:spcBef>
                <a:spcPts val="0"/>
              </a:spcBef>
              <a:spcAft>
                <a:spcPts val="1000"/>
              </a:spcAft>
            </a:pPr>
            <a:r>
              <a:rPr sz="1200" b="0">
                <a:solidFill>
                  <a:srgbClr val="A3B0C6"/>
                </a:solidFill>
                <a:latin typeface="Helvetica Neue"/>
              </a:rPr>
              <a:t>Question: what model should handle this?</a:t>
            </a:r>
          </a:p>
          <a:p>
            <a:pPr>
              <a:lnSpc>
                <a:spcPct val="135000"/>
              </a:lnSpc>
              <a:spcBef>
                <a:spcPts val="0"/>
              </a:spcBef>
              <a:spcAft>
                <a:spcPts val="1000"/>
              </a:spcAft>
            </a:pPr>
            <a:r>
              <a:rPr sz="1200" b="0">
                <a:solidFill>
                  <a:srgbClr val="A3B0C6"/>
                </a:solidFill>
                <a:latin typeface="Helvetica Neue"/>
              </a:rPr>
              <a:t>Routes to entirely different base models.</a:t>
            </a:r>
          </a:p>
          <a:p>
            <a:pPr>
              <a:lnSpc>
                <a:spcPct val="135000"/>
              </a:lnSpc>
              <a:spcBef>
                <a:spcPts val="0"/>
              </a:spcBef>
              <a:spcAft>
                <a:spcPts val="1000"/>
              </a:spcAft>
            </a:pPr>
            <a:r>
              <a:rPr sz="1200" b="0">
                <a:solidFill>
                  <a:srgbClr val="A3B0C6"/>
                </a:solidFill>
                <a:latin typeface="Helvetica Neue"/>
              </a:rPr>
              <a:t>Logic: semantics, policy rules, intent, safety.</a:t>
            </a:r>
          </a:p>
          <a:p>
            <a:pPr>
              <a:lnSpc>
                <a:spcPct val="135000"/>
              </a:lnSpc>
              <a:spcBef>
                <a:spcPts val="0"/>
              </a:spcBef>
              <a:spcAft>
                <a:spcPts val="1000"/>
              </a:spcAft>
            </a:pPr>
            <a:r>
              <a:rPr sz="1200" b="0">
                <a:solidFill>
                  <a:srgbClr val="A3B0C6"/>
                </a:solidFill>
                <a:latin typeface="Helvetica Neue"/>
              </a:rPr>
              <a:t>Output: a declared model and a rewritten request.</a:t>
            </a:r>
          </a:p>
        </p:txBody>
      </p:sp>
      <p:sp>
        <p:nvSpPr>
          <p:cNvPr id="10" name="Rectangle 9"/>
          <p:cNvSpPr/>
          <p:nvPr/>
        </p:nvSpPr>
        <p:spPr>
          <a:xfrm>
            <a:off x="6214719" y="1938528"/>
            <a:ext cx="5318607" cy="320040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4719" y="1938528"/>
            <a:ext cx="5318607" cy="475488"/>
          </a:xfrm>
          <a:prstGeom prst="rect">
            <a:avLst/>
          </a:prstGeom>
          <a:solidFill>
            <a:srgbClr val="1E2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4719" y="1938528"/>
            <a:ext cx="50800" cy="475488"/>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4175" y="2057400"/>
            <a:ext cx="4879695" cy="329184"/>
          </a:xfrm>
          <a:prstGeom prst="rect">
            <a:avLst/>
          </a:prstGeom>
          <a:noFill/>
        </p:spPr>
        <p:txBody>
          <a:bodyPr wrap="square" anchor="t" lIns="0" rIns="0" tIns="0" bIns="0">
            <a:spAutoFit/>
          </a:bodyPr>
          <a:lstStyle/>
          <a:p>
            <a:pPr>
              <a:spcBef>
                <a:spcPts val="0"/>
              </a:spcBef>
              <a:spcAft>
                <a:spcPts val="0"/>
              </a:spcAft>
            </a:pPr>
            <a:r>
              <a:rPr sz="1500" b="1">
                <a:solidFill>
                  <a:srgbClr val="FF4D4D"/>
                </a:solidFill>
                <a:latin typeface="Helvetica Neue"/>
              </a:rPr>
              <a:t>llm-d — the endpoint picker</a:t>
            </a:r>
          </a:p>
        </p:txBody>
      </p:sp>
      <p:sp>
        <p:nvSpPr>
          <p:cNvPr id="14" name="TextBox 13"/>
          <p:cNvSpPr txBox="1"/>
          <p:nvPr/>
        </p:nvSpPr>
        <p:spPr>
          <a:xfrm>
            <a:off x="6434175" y="2560320"/>
            <a:ext cx="4879695" cy="2377440"/>
          </a:xfrm>
          <a:prstGeom prst="rect">
            <a:avLst/>
          </a:prstGeom>
          <a:noFill/>
        </p:spPr>
        <p:txBody>
          <a:bodyPr wrap="square" anchor="t" lIns="0" rIns="0" tIns="0" bIns="0">
            <a:spAutoFit/>
          </a:bodyPr>
          <a:lstStyle/>
          <a:p>
            <a:pPr>
              <a:lnSpc>
                <a:spcPct val="135000"/>
              </a:lnSpc>
              <a:spcBef>
                <a:spcPts val="0"/>
              </a:spcBef>
              <a:spcAft>
                <a:spcPts val="1000"/>
              </a:spcAft>
            </a:pPr>
            <a:r>
              <a:rPr sz="1200" b="0">
                <a:solidFill>
                  <a:srgbClr val="A3B0C6"/>
                </a:solidFill>
                <a:latin typeface="Helvetica Neue"/>
              </a:rPr>
              <a:t>Question: where should this request execute?</a:t>
            </a:r>
          </a:p>
          <a:p>
            <a:pPr>
              <a:lnSpc>
                <a:spcPct val="135000"/>
              </a:lnSpc>
              <a:spcBef>
                <a:spcPts val="0"/>
              </a:spcBef>
              <a:spcAft>
                <a:spcPts val="1000"/>
              </a:spcAft>
            </a:pPr>
            <a:r>
              <a:rPr sz="1200" b="0">
                <a:solidFill>
                  <a:srgbClr val="A3B0C6"/>
                </a:solidFill>
                <a:latin typeface="Helvetica Neue"/>
              </a:rPr>
              <a:t>Routes among replicas serving the same model.</a:t>
            </a:r>
          </a:p>
          <a:p>
            <a:pPr>
              <a:lnSpc>
                <a:spcPct val="135000"/>
              </a:lnSpc>
              <a:spcBef>
                <a:spcPts val="0"/>
              </a:spcBef>
              <a:spcAft>
                <a:spcPts val="1000"/>
              </a:spcAft>
            </a:pPr>
            <a:r>
              <a:rPr sz="1200" b="0">
                <a:solidFill>
                  <a:srgbClr val="A3B0C6"/>
                </a:solidFill>
                <a:latin typeface="Helvetica Neue"/>
              </a:rPr>
              <a:t>Logic: load, continuous batching, KV-cache locality.</a:t>
            </a:r>
          </a:p>
          <a:p>
            <a:pPr>
              <a:lnSpc>
                <a:spcPct val="135000"/>
              </a:lnSpc>
              <a:spcBef>
                <a:spcPts val="0"/>
              </a:spcBef>
              <a:spcAft>
                <a:spcPts val="1000"/>
              </a:spcAft>
            </a:pPr>
            <a:r>
              <a:rPr sz="1200" b="0">
                <a:solidFill>
                  <a:srgbClr val="A3B0C6"/>
                </a:solidFill>
                <a:latin typeface="Helvetica Neue"/>
              </a:rPr>
              <a:t>Output: a specific physical GPU instance.</a:t>
            </a:r>
          </a:p>
        </p:txBody>
      </p:sp>
      <p:sp>
        <p:nvSpPr>
          <p:cNvPr id="15" name="TextBox 14"/>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18 / 23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Together: one request, two routing layers</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The semantic router goes in front, because there is no point scheduling GPU work for a request a guardrail is about to block.</a:t>
            </a:r>
          </a:p>
        </p:txBody>
      </p:sp>
      <p:sp>
        <p:nvSpPr>
          <p:cNvPr id="5" name="Rectangle 4"/>
          <p:cNvSpPr/>
          <p:nvPr/>
        </p:nvSpPr>
        <p:spPr>
          <a:xfrm>
            <a:off x="658368" y="1938528"/>
            <a:ext cx="10874959" cy="25400"/>
          </a:xfrm>
          <a:prstGeom prst="rect">
            <a:avLst/>
          </a:prstGeom>
          <a:solidFill>
            <a:srgbClr val="2E3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58368"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1</a:t>
            </a:r>
          </a:p>
        </p:txBody>
      </p:sp>
      <p:sp>
        <p:nvSpPr>
          <p:cNvPr id="7" name="TextBox 6"/>
          <p:cNvSpPr txBox="1"/>
          <p:nvPr/>
        </p:nvSpPr>
        <p:spPr>
          <a:xfrm>
            <a:off x="658368"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Gateway</a:t>
            </a:r>
          </a:p>
        </p:txBody>
      </p:sp>
      <p:sp>
        <p:nvSpPr>
          <p:cNvPr id="8" name="TextBox 7"/>
          <p:cNvSpPr txBox="1"/>
          <p:nvPr/>
        </p:nvSpPr>
        <p:spPr>
          <a:xfrm>
            <a:off x="658368"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Request arrives at Istio or the Kubernetes Gateway API.</a:t>
            </a:r>
          </a:p>
        </p:txBody>
      </p:sp>
      <p:sp>
        <p:nvSpPr>
          <p:cNvPr id="9" name="Oval 8"/>
          <p:cNvSpPr/>
          <p:nvPr/>
        </p:nvSpPr>
        <p:spPr>
          <a:xfrm>
            <a:off x="2869935"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2</a:t>
            </a:r>
          </a:p>
        </p:txBody>
      </p:sp>
      <p:sp>
        <p:nvSpPr>
          <p:cNvPr id="10" name="TextBox 9"/>
          <p:cNvSpPr txBox="1"/>
          <p:nvPr/>
        </p:nvSpPr>
        <p:spPr>
          <a:xfrm>
            <a:off x="2869935"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vLLM-SR</a:t>
            </a:r>
          </a:p>
        </p:txBody>
      </p:sp>
      <p:sp>
        <p:nvSpPr>
          <p:cNvPr id="11" name="TextBox 10"/>
          <p:cNvSpPr txBox="1"/>
          <p:nvPr/>
        </p:nvSpPr>
        <p:spPr>
          <a:xfrm>
            <a:off x="2869935"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Signals, policy and guardrails. Selects a model — or answers immediately.</a:t>
            </a:r>
          </a:p>
        </p:txBody>
      </p:sp>
      <p:sp>
        <p:nvSpPr>
          <p:cNvPr id="12" name="Oval 11"/>
          <p:cNvSpPr/>
          <p:nvPr/>
        </p:nvSpPr>
        <p:spPr>
          <a:xfrm>
            <a:off x="5081503"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3</a:t>
            </a:r>
          </a:p>
        </p:txBody>
      </p:sp>
      <p:sp>
        <p:nvSpPr>
          <p:cNvPr id="13" name="TextBox 12"/>
          <p:cNvSpPr txBox="1"/>
          <p:nvPr/>
        </p:nvSpPr>
        <p:spPr>
          <a:xfrm>
            <a:off x="5081503"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InferencePool</a:t>
            </a:r>
          </a:p>
        </p:txBody>
      </p:sp>
      <p:sp>
        <p:nvSpPr>
          <p:cNvPr id="14" name="TextBox 13"/>
          <p:cNvSpPr txBox="1"/>
          <p:nvPr/>
        </p:nvSpPr>
        <p:spPr>
          <a:xfrm>
            <a:off x="5081503"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The chosen logical model resolves to a pool of replicas.</a:t>
            </a:r>
          </a:p>
        </p:txBody>
      </p:sp>
      <p:sp>
        <p:nvSpPr>
          <p:cNvPr id="15" name="Oval 14"/>
          <p:cNvSpPr/>
          <p:nvPr/>
        </p:nvSpPr>
        <p:spPr>
          <a:xfrm>
            <a:off x="7293071"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4</a:t>
            </a:r>
          </a:p>
        </p:txBody>
      </p:sp>
      <p:sp>
        <p:nvSpPr>
          <p:cNvPr id="16" name="TextBox 15"/>
          <p:cNvSpPr txBox="1"/>
          <p:nvPr/>
        </p:nvSpPr>
        <p:spPr>
          <a:xfrm>
            <a:off x="7293071"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llm-d</a:t>
            </a:r>
          </a:p>
        </p:txBody>
      </p:sp>
      <p:sp>
        <p:nvSpPr>
          <p:cNvPr id="17" name="TextBox 16"/>
          <p:cNvSpPr txBox="1"/>
          <p:nvPr/>
        </p:nvSpPr>
        <p:spPr>
          <a:xfrm>
            <a:off x="7293071"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Prefix-cache-aware scheduling picks the best replica.</a:t>
            </a:r>
          </a:p>
        </p:txBody>
      </p:sp>
      <p:sp>
        <p:nvSpPr>
          <p:cNvPr id="18" name="Oval 17"/>
          <p:cNvSpPr/>
          <p:nvPr/>
        </p:nvSpPr>
        <p:spPr>
          <a:xfrm>
            <a:off x="9504639" y="2212848"/>
            <a:ext cx="384048" cy="384048"/>
          </a:xfrm>
          <a:prstGeom prst="ellipse">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300" b="1">
                <a:solidFill>
                  <a:srgbClr val="FFFFFF"/>
                </a:solidFill>
                <a:latin typeface="Menlo"/>
              </a:rPr>
              <a:t>5</a:t>
            </a:r>
          </a:p>
        </p:txBody>
      </p:sp>
      <p:sp>
        <p:nvSpPr>
          <p:cNvPr id="19" name="TextBox 18"/>
          <p:cNvSpPr txBox="1"/>
          <p:nvPr/>
        </p:nvSpPr>
        <p:spPr>
          <a:xfrm>
            <a:off x="9504639" y="2743200"/>
            <a:ext cx="1955535" cy="365760"/>
          </a:xfrm>
          <a:prstGeom prst="rect">
            <a:avLst/>
          </a:prstGeom>
          <a:noFill/>
        </p:spPr>
        <p:txBody>
          <a:bodyPr wrap="square" anchor="t" lIns="0" rIns="0" tIns="0" bIns="0">
            <a:spAutoFit/>
          </a:bodyPr>
          <a:lstStyle/>
          <a:p>
            <a:pPr>
              <a:spcBef>
                <a:spcPts val="0"/>
              </a:spcBef>
              <a:spcAft>
                <a:spcPts val="0"/>
              </a:spcAft>
            </a:pPr>
            <a:r>
              <a:rPr sz="1400" b="1">
                <a:solidFill>
                  <a:srgbClr val="EEF3FA"/>
                </a:solidFill>
                <a:latin typeface="Helvetica Neue"/>
              </a:rPr>
              <a:t>GPU</a:t>
            </a:r>
          </a:p>
        </p:txBody>
      </p:sp>
      <p:sp>
        <p:nvSpPr>
          <p:cNvPr id="20" name="TextBox 19"/>
          <p:cNvSpPr txBox="1"/>
          <p:nvPr/>
        </p:nvSpPr>
        <p:spPr>
          <a:xfrm>
            <a:off x="9504639" y="3145536"/>
            <a:ext cx="1955535" cy="1920240"/>
          </a:xfrm>
          <a:prstGeom prst="rect">
            <a:avLst/>
          </a:prstGeom>
          <a:noFill/>
        </p:spPr>
        <p:txBody>
          <a:bodyPr wrap="square" anchor="t" lIns="0" rIns="0" tIns="0" bIns="0">
            <a:spAutoFit/>
          </a:bodyPr>
          <a:lstStyle/>
          <a:p>
            <a:pPr>
              <a:lnSpc>
                <a:spcPct val="140000"/>
              </a:lnSpc>
              <a:spcBef>
                <a:spcPts val="0"/>
              </a:spcBef>
              <a:spcAft>
                <a:spcPts val="0"/>
              </a:spcAft>
            </a:pPr>
            <a:r>
              <a:rPr sz="1100" b="0">
                <a:solidFill>
                  <a:srgbClr val="A3B0C6"/>
                </a:solidFill>
                <a:latin typeface="Helvetica Neue"/>
              </a:rPr>
              <a:t>Prefill and decode run where the cache already is.</a:t>
            </a:r>
          </a:p>
        </p:txBody>
      </p:sp>
      <p:sp>
        <p:nvSpPr>
          <p:cNvPr id="21" name="TextBox 20"/>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19 / 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The demo: what is actually running</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vLLM Semantic Router on OpenShift AI, in front of two vLLM backends on KServe.</a:t>
            </a:r>
          </a:p>
        </p:txBody>
      </p:sp>
      <p:sp>
        <p:nvSpPr>
          <p:cNvPr id="5" name="Rectangle 4"/>
          <p:cNvSpPr/>
          <p:nvPr/>
        </p:nvSpPr>
        <p:spPr>
          <a:xfrm>
            <a:off x="658368"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Front door</a:t>
            </a:r>
          </a:p>
        </p:txBody>
      </p:sp>
      <p:sp>
        <p:nvSpPr>
          <p:cNvPr id="8" name="TextBox 7"/>
          <p:cNvSpPr txBox="1"/>
          <p:nvPr/>
        </p:nvSpPr>
        <p:spPr>
          <a:xfrm>
            <a:off x="859536"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OpenShift Route → Envoy → the router as a gRPC external processor in the same pod. One OpenAI-compatible endpoint; clients send model: “auto”.</a:t>
            </a:r>
          </a:p>
        </p:txBody>
      </p:sp>
      <p:sp>
        <p:nvSpPr>
          <p:cNvPr id="9" name="Rectangle 8"/>
          <p:cNvSpPr/>
          <p:nvPr/>
        </p:nvSpPr>
        <p:spPr>
          <a:xfrm>
            <a:off x="4350410"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Backends</a:t>
            </a:r>
          </a:p>
        </p:txBody>
      </p:sp>
      <p:sp>
        <p:nvSpPr>
          <p:cNvPr id="12" name="TextBox 11"/>
          <p:cNvSpPr txBox="1"/>
          <p:nvPr/>
        </p:nvSpPr>
        <p:spPr>
          <a:xfrm>
            <a:off x="4551578"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Qwen-2.5-7B-Instruct for hard, urgent and quantitative work. Phi-3-mini for everything else. Each on its own GPU, served by vLLM on KServe.</a:t>
            </a:r>
          </a:p>
        </p:txBody>
      </p:sp>
      <p:sp>
        <p:nvSpPr>
          <p:cNvPr id="13" name="Rectangle 12"/>
          <p:cNvSpPr/>
          <p:nvPr/>
        </p:nvSpPr>
        <p:spPr>
          <a:xfrm>
            <a:off x="8042452" y="1938528"/>
            <a:ext cx="3490874" cy="283464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Policy</a:t>
            </a:r>
          </a:p>
        </p:txBody>
      </p:sp>
      <p:sp>
        <p:nvSpPr>
          <p:cNvPr id="16" name="TextBox 15"/>
          <p:cNvSpPr txBox="1"/>
          <p:nvPr/>
        </p:nvSpPr>
        <p:spPr>
          <a:xfrm>
            <a:off x="8243620" y="2651760"/>
            <a:ext cx="3088538" cy="192024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Fourteen decisions in one YAML file. Guardrails at priority 1000–1600, routing at 10–300, so a routing change can never outrank a safety rule.</a:t>
            </a:r>
          </a:p>
        </p:txBody>
      </p:sp>
      <p:sp>
        <p:nvSpPr>
          <p:cNvPr id="17" name="TextBox 16"/>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20 / 23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Fifteen use cases, one click each</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Every case declares the route it expects, so the console shows a pass or fail badge against reality.</a:t>
            </a:r>
          </a:p>
        </p:txBody>
      </p:sp>
      <p:graphicFrame>
        <p:nvGraphicFramePr>
          <p:cNvPr id="5" name="Table 4"/>
          <p:cNvGraphicFramePr>
            <a:graphicFrameLocks noGrp="1"/>
          </p:cNvGraphicFramePr>
          <p:nvPr/>
        </p:nvGraphicFramePr>
        <p:xfrm>
          <a:off x="658368" y="1938528"/>
          <a:ext cx="10874959" cy="3200400"/>
        </p:xfrm>
        <a:graphic>
          <a:graphicData uri="http://schemas.openxmlformats.org/drawingml/2006/table">
            <a:tbl>
              <a:tblPr firstRow="1" bandRow="1">
                <a:tableStyleId>{5C22544A-7EE6-4342-B048-85BDC9FD1C3A}</a:tableStyleId>
              </a:tblPr>
              <a:tblGrid>
                <a:gridCol w="1554480"/>
                <a:gridCol w="2651760"/>
                <a:gridCol w="6668719"/>
              </a:tblGrid>
              <a:tr h="533400">
                <a:tc>
                  <a:txBody>
                    <a:bodyPr wrap="square"/>
                    <a:lstStyle/>
                    <a:p>
                      <a:pPr>
                        <a:spcBef>
                          <a:spcPts val="0"/>
                        </a:spcBef>
                        <a:spcAft>
                          <a:spcPts val="0"/>
                        </a:spcAft>
                      </a:pPr>
                      <a:r>
                        <a:rPr sz="1000" b="1">
                          <a:solidFill>
                            <a:srgbClr val="FF4D4D"/>
                          </a:solidFill>
                          <a:latin typeface="Helvetica Neue"/>
                        </a:rPr>
                        <a:t>GROUP</a:t>
                      </a:r>
                    </a:p>
                  </a:txBody>
                  <a:tcPr marL="91440" marR="91440">
                    <a:solidFill>
                      <a:srgbClr val="0B0E14"/>
                    </a:solidFill>
                  </a:tcPr>
                </a:tc>
                <a:tc>
                  <a:txBody>
                    <a:bodyPr wrap="square"/>
                    <a:lstStyle/>
                    <a:p>
                      <a:pPr>
                        <a:spcBef>
                          <a:spcPts val="0"/>
                        </a:spcBef>
                        <a:spcAft>
                          <a:spcPts val="0"/>
                        </a:spcAft>
                      </a:pPr>
                      <a:r>
                        <a:rPr sz="1000" b="1">
                          <a:solidFill>
                            <a:srgbClr val="FF4D4D"/>
                          </a:solidFill>
                          <a:latin typeface="Helvetica Neue"/>
                        </a:rPr>
                        <a:t>WHAT IT SHOWS</a:t>
                      </a:r>
                    </a:p>
                  </a:txBody>
                  <a:tcPr marL="91440" marR="91440">
                    <a:solidFill>
                      <a:srgbClr val="0B0E14"/>
                    </a:solidFill>
                  </a:tcPr>
                </a:tc>
                <a:tc>
                  <a:txBody>
                    <a:bodyPr wrap="square"/>
                    <a:lstStyle/>
                    <a:p>
                      <a:pPr>
                        <a:spcBef>
                          <a:spcPts val="0"/>
                        </a:spcBef>
                        <a:spcAft>
                          <a:spcPts val="0"/>
                        </a:spcAft>
                      </a:pPr>
                      <a:r>
                        <a:rPr sz="1000" b="1">
                          <a:solidFill>
                            <a:srgbClr val="FF4D4D"/>
                          </a:solidFill>
                          <a:latin typeface="Helvetica Neue"/>
                        </a:rPr>
                        <a:t>CASES</a:t>
                      </a:r>
                    </a:p>
                  </a:txBody>
                  <a:tcPr marL="91440" marR="91440">
                    <a:solidFill>
                      <a:srgbClr val="0B0E14"/>
                    </a:solidFill>
                  </a:tcPr>
                </a:tc>
              </a:tr>
              <a:tr h="533400">
                <a:tc>
                  <a:txBody>
                    <a:bodyPr wrap="square"/>
                    <a:lstStyle/>
                    <a:p>
                      <a:pPr>
                        <a:lnSpc>
                          <a:spcPct val="125000"/>
                        </a:lnSpc>
                        <a:spcBef>
                          <a:spcPts val="0"/>
                        </a:spcBef>
                        <a:spcAft>
                          <a:spcPts val="0"/>
                        </a:spcAft>
                      </a:pPr>
                      <a:r>
                        <a:rPr sz="1100" b="1">
                          <a:solidFill>
                            <a:srgbClr val="EEF3FA"/>
                          </a:solidFill>
                          <a:latin typeface="Helvetica Neue"/>
                        </a:rPr>
                        <a:t>Intent routing</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Helvetica Neue"/>
                        </a:rPr>
                        <a:t>Coding and math go to the 7B model; general chat goes to the 3.8B one. The client never changed.</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Helvetica Neue"/>
                        </a:rPr>
                        <a:t>3</a:t>
                      </a:r>
                    </a:p>
                  </a:txBody>
                  <a:tcPr marL="91440" marR="91440" marT="45720" marB="45720">
                    <a:solidFill>
                      <a:srgbClr val="151B26"/>
                    </a:solidFill>
                  </a:tcPr>
                </a:tc>
              </a:tr>
              <a:tr h="533400">
                <a:tc>
                  <a:txBody>
                    <a:bodyPr wrap="square"/>
                    <a:lstStyle/>
                    <a:p>
                      <a:pPr>
                        <a:lnSpc>
                          <a:spcPct val="125000"/>
                        </a:lnSpc>
                        <a:spcBef>
                          <a:spcPts val="0"/>
                        </a:spcBef>
                        <a:spcAft>
                          <a:spcPts val="0"/>
                        </a:spcAft>
                      </a:pPr>
                      <a:r>
                        <a:rPr sz="1100" b="1">
                          <a:solidFill>
                            <a:srgbClr val="EEF3FA"/>
                          </a:solidFill>
                          <a:latin typeface="Helvetica Neue"/>
                        </a:rPr>
                        <a:t>Complexity scaling</a:t>
                      </a:r>
                    </a:p>
                  </a:txBody>
                  <a:tcPr marL="91440" marR="91440" marT="45720" marB="45720">
                    <a:solidFill>
                      <a:srgbClr val="0B0E14"/>
                    </a:solidFill>
                  </a:tcPr>
                </a:tc>
                <a:tc>
                  <a:txBody>
                    <a:bodyPr wrap="square"/>
                    <a:lstStyle/>
                    <a:p>
                      <a:pPr>
                        <a:lnSpc>
                          <a:spcPct val="125000"/>
                        </a:lnSpc>
                        <a:spcBef>
                          <a:spcPts val="0"/>
                        </a:spcBef>
                        <a:spcAft>
                          <a:spcPts val="0"/>
                        </a:spcAft>
                      </a:pPr>
                      <a:r>
                        <a:rPr sz="1050" b="0">
                          <a:solidFill>
                            <a:srgbClr val="A3B0C6"/>
                          </a:solidFill>
                          <a:latin typeface="Helvetica Neue"/>
                        </a:rPr>
                        <a:t>The same topic, graded by difficulty, routed in opposite directions.</a:t>
                      </a:r>
                    </a:p>
                  </a:txBody>
                  <a:tcPr marL="91440" marR="91440" marT="45720" marB="45720">
                    <a:solidFill>
                      <a:srgbClr val="0B0E14"/>
                    </a:solidFill>
                  </a:tcPr>
                </a:tc>
                <a:tc>
                  <a:txBody>
                    <a:bodyPr wrap="square"/>
                    <a:lstStyle/>
                    <a:p>
                      <a:pPr>
                        <a:lnSpc>
                          <a:spcPct val="125000"/>
                        </a:lnSpc>
                        <a:spcBef>
                          <a:spcPts val="0"/>
                        </a:spcBef>
                        <a:spcAft>
                          <a:spcPts val="0"/>
                        </a:spcAft>
                      </a:pPr>
                      <a:r>
                        <a:rPr sz="1050" b="0">
                          <a:solidFill>
                            <a:srgbClr val="A3B0C6"/>
                          </a:solidFill>
                          <a:latin typeface="Helvetica Neue"/>
                        </a:rPr>
                        <a:t>2</a:t>
                      </a:r>
                    </a:p>
                  </a:txBody>
                  <a:tcPr marL="91440" marR="91440" marT="45720" marB="45720">
                    <a:solidFill>
                      <a:srgbClr val="0B0E14"/>
                    </a:solidFill>
                  </a:tcPr>
                </a:tc>
              </a:tr>
              <a:tr h="533400">
                <a:tc>
                  <a:txBody>
                    <a:bodyPr wrap="square"/>
                    <a:lstStyle/>
                    <a:p>
                      <a:pPr>
                        <a:lnSpc>
                          <a:spcPct val="125000"/>
                        </a:lnSpc>
                        <a:spcBef>
                          <a:spcPts val="0"/>
                        </a:spcBef>
                        <a:spcAft>
                          <a:spcPts val="0"/>
                        </a:spcAft>
                      </a:pPr>
                      <a:r>
                        <a:rPr sz="1100" b="1">
                          <a:solidFill>
                            <a:srgbClr val="EEF3FA"/>
                          </a:solidFill>
                          <a:latin typeface="Helvetica Neue"/>
                        </a:rPr>
                        <a:t>Policy &amp; priority</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Helvetica Neue"/>
                        </a:rPr>
                        <a:t>Urgent security work overrides the cost optimiser. User pushback escalates and disables the cache.</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Helvetica Neue"/>
                        </a:rPr>
                        <a:t>2</a:t>
                      </a:r>
                    </a:p>
                  </a:txBody>
                  <a:tcPr marL="91440" marR="91440" marT="45720" marB="45720">
                    <a:solidFill>
                      <a:srgbClr val="151B26"/>
                    </a:solidFill>
                  </a:tcPr>
                </a:tc>
              </a:tr>
              <a:tr h="533400">
                <a:tc>
                  <a:txBody>
                    <a:bodyPr wrap="square"/>
                    <a:lstStyle/>
                    <a:p>
                      <a:pPr>
                        <a:lnSpc>
                          <a:spcPct val="125000"/>
                        </a:lnSpc>
                        <a:spcBef>
                          <a:spcPts val="0"/>
                        </a:spcBef>
                        <a:spcAft>
                          <a:spcPts val="0"/>
                        </a:spcAft>
                      </a:pPr>
                      <a:r>
                        <a:rPr sz="1100" b="1">
                          <a:solidFill>
                            <a:srgbClr val="EEF3FA"/>
                          </a:solidFill>
                          <a:latin typeface="Helvetica Neue"/>
                        </a:rPr>
                        <a:t>Guardrails</a:t>
                      </a:r>
                    </a:p>
                  </a:txBody>
                  <a:tcPr marL="91440" marR="91440" marT="45720" marB="45720">
                    <a:solidFill>
                      <a:srgbClr val="0B0E14"/>
                    </a:solidFill>
                  </a:tcPr>
                </a:tc>
                <a:tc>
                  <a:txBody>
                    <a:bodyPr wrap="square"/>
                    <a:lstStyle/>
                    <a:p>
                      <a:pPr>
                        <a:lnSpc>
                          <a:spcPct val="125000"/>
                        </a:lnSpc>
                        <a:spcBef>
                          <a:spcPts val="0"/>
                        </a:spcBef>
                        <a:spcAft>
                          <a:spcPts val="0"/>
                        </a:spcAft>
                      </a:pPr>
                      <a:r>
                        <a:rPr sz="1050" b="0">
                          <a:solidFill>
                            <a:srgbClr val="A3B0C6"/>
                          </a:solidFill>
                          <a:latin typeface="Helvetica Neue"/>
                        </a:rPr>
                        <a:t>Keyword rules and ML classifiers, blocking in tens of milliseconds with no GPU involved.</a:t>
                      </a:r>
                    </a:p>
                  </a:txBody>
                  <a:tcPr marL="91440" marR="91440" marT="45720" marB="45720">
                    <a:solidFill>
                      <a:srgbClr val="0B0E14"/>
                    </a:solidFill>
                  </a:tcPr>
                </a:tc>
                <a:tc>
                  <a:txBody>
                    <a:bodyPr wrap="square"/>
                    <a:lstStyle/>
                    <a:p>
                      <a:pPr>
                        <a:lnSpc>
                          <a:spcPct val="125000"/>
                        </a:lnSpc>
                        <a:spcBef>
                          <a:spcPts val="0"/>
                        </a:spcBef>
                        <a:spcAft>
                          <a:spcPts val="0"/>
                        </a:spcAft>
                      </a:pPr>
                      <a:r>
                        <a:rPr sz="1050" b="0">
                          <a:solidFill>
                            <a:srgbClr val="A3B0C6"/>
                          </a:solidFill>
                          <a:latin typeface="Helvetica Neue"/>
                        </a:rPr>
                        <a:t>5</a:t>
                      </a:r>
                    </a:p>
                  </a:txBody>
                  <a:tcPr marL="91440" marR="91440" marT="45720" marB="45720">
                    <a:solidFill>
                      <a:srgbClr val="0B0E14"/>
                    </a:solidFill>
                  </a:tcPr>
                </a:tc>
              </a:tr>
              <a:tr h="533400">
                <a:tc>
                  <a:txBody>
                    <a:bodyPr wrap="square"/>
                    <a:lstStyle/>
                    <a:p>
                      <a:pPr>
                        <a:lnSpc>
                          <a:spcPct val="125000"/>
                        </a:lnSpc>
                        <a:spcBef>
                          <a:spcPts val="0"/>
                        </a:spcBef>
                        <a:spcAft>
                          <a:spcPts val="0"/>
                        </a:spcAft>
                      </a:pPr>
                      <a:r>
                        <a:rPr sz="1100" b="1">
                          <a:solidFill>
                            <a:srgbClr val="EEF3FA"/>
                          </a:solidFill>
                          <a:latin typeface="Helvetica Neue"/>
                        </a:rPr>
                        <a:t>Cache &amp; cost</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Helvetica Neue"/>
                        </a:rPr>
                        <a:t>A repeat returns in 750 ms instead of 6.9 s. A near-miss is correctly refused. Pinning a model opts out of all of it.</a:t>
                      </a:r>
                    </a:p>
                  </a:txBody>
                  <a:tcPr marL="91440" marR="91440" marT="45720" marB="45720">
                    <a:solidFill>
                      <a:srgbClr val="151B26"/>
                    </a:solidFill>
                  </a:tcPr>
                </a:tc>
                <a:tc>
                  <a:txBody>
                    <a:bodyPr wrap="square"/>
                    <a:lstStyle/>
                    <a:p>
                      <a:pPr>
                        <a:lnSpc>
                          <a:spcPct val="125000"/>
                        </a:lnSpc>
                        <a:spcBef>
                          <a:spcPts val="0"/>
                        </a:spcBef>
                        <a:spcAft>
                          <a:spcPts val="0"/>
                        </a:spcAft>
                      </a:pPr>
                      <a:r>
                        <a:rPr sz="1050" b="0">
                          <a:solidFill>
                            <a:srgbClr val="A3B0C6"/>
                          </a:solidFill>
                          <a:latin typeface="Helvetica Neue"/>
                        </a:rPr>
                        <a:t>3</a:t>
                      </a:r>
                    </a:p>
                  </a:txBody>
                  <a:tcPr marL="91440" marR="91440" marT="45720" marB="45720">
                    <a:solidFill>
                      <a:srgbClr val="151B26"/>
                    </a:solidFill>
                  </a:tcPr>
                </a:tc>
              </a:tr>
            </a:tbl>
          </a:graphicData>
        </a:graphic>
      </p:graphicFrame>
      <p:sp>
        <p:nvSpPr>
          <p:cNvPr id="6" name="TextBox 5"/>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21 / 23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1783080" cy="63500"/>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30352"/>
            <a:ext cx="10874959" cy="868680"/>
          </a:xfrm>
          <a:prstGeom prst="rect">
            <a:avLst/>
          </a:prstGeom>
          <a:noFill/>
        </p:spPr>
        <p:txBody>
          <a:bodyPr wrap="square" anchor="t" lIns="0" rIns="0" tIns="0" bIns="0">
            <a:spAutoFit/>
          </a:bodyPr>
          <a:lstStyle/>
          <a:p>
            <a:pPr>
              <a:lnSpc>
                <a:spcPct val="110000"/>
              </a:lnSpc>
              <a:spcBef>
                <a:spcPts val="0"/>
              </a:spcBef>
              <a:spcAft>
                <a:spcPts val="0"/>
              </a:spcAft>
            </a:pPr>
            <a:r>
              <a:rPr sz="2900" b="1">
                <a:solidFill>
                  <a:srgbClr val="EEF3FA"/>
                </a:solidFill>
                <a:latin typeface="Helvetica Neue"/>
              </a:rPr>
              <a:t>Where the project is going</a:t>
            </a:r>
          </a:p>
        </p:txBody>
      </p:sp>
      <p:sp>
        <p:nvSpPr>
          <p:cNvPr id="4" name="TextBox 3"/>
          <p:cNvSpPr txBox="1"/>
          <p:nvPr/>
        </p:nvSpPr>
        <p:spPr>
          <a:xfrm>
            <a:off x="658368" y="1188720"/>
            <a:ext cx="9692640" cy="822960"/>
          </a:xfrm>
          <a:prstGeom prst="rect">
            <a:avLst/>
          </a:prstGeom>
          <a:noFill/>
        </p:spPr>
        <p:txBody>
          <a:bodyPr wrap="square" anchor="t" lIns="0" rIns="0" tIns="0" bIns="0">
            <a:spAutoFit/>
          </a:bodyPr>
          <a:lstStyle/>
          <a:p>
            <a:pPr>
              <a:lnSpc>
                <a:spcPct val="135000"/>
              </a:lnSpc>
              <a:spcBef>
                <a:spcPts val="0"/>
              </a:spcBef>
              <a:spcAft>
                <a:spcPts val="0"/>
              </a:spcAft>
            </a:pPr>
            <a:r>
              <a:rPr sz="1400" b="0">
                <a:solidFill>
                  <a:srgbClr val="A3B0C6"/>
                </a:solidFill>
                <a:latin typeface="Helvetica Neue"/>
              </a:rPr>
              <a:t>Worth naming the release you are demoing — this is moving quickly.</a:t>
            </a:r>
          </a:p>
        </p:txBody>
      </p:sp>
      <p:sp>
        <p:nvSpPr>
          <p:cNvPr id="5" name="Rectangle 4"/>
          <p:cNvSpPr/>
          <p:nvPr/>
        </p:nvSpPr>
        <p:spPr>
          <a:xfrm>
            <a:off x="658368" y="1938528"/>
            <a:ext cx="3490874" cy="224028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3490874" cy="381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v0.4 “Hermes”</a:t>
            </a:r>
          </a:p>
        </p:txBody>
      </p:sp>
      <p:sp>
        <p:nvSpPr>
          <p:cNvPr id="8" name="TextBox 7"/>
          <p:cNvSpPr txBox="1"/>
          <p:nvPr/>
        </p:nvSpPr>
        <p:spPr>
          <a:xfrm>
            <a:off x="859536" y="2651760"/>
            <a:ext cx="3088538" cy="132588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Shipped open Decision models and Vela classification models together as one Mixture-of-Models system.</a:t>
            </a:r>
          </a:p>
        </p:txBody>
      </p:sp>
      <p:sp>
        <p:nvSpPr>
          <p:cNvPr id="9" name="Rectangle 8"/>
          <p:cNvSpPr/>
          <p:nvPr/>
        </p:nvSpPr>
        <p:spPr>
          <a:xfrm>
            <a:off x="4350410" y="1938528"/>
            <a:ext cx="3490874" cy="224028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0410" y="1938528"/>
            <a:ext cx="3490874" cy="38100"/>
          </a:xfrm>
          <a:prstGeom prst="rect">
            <a:avLst/>
          </a:prstGeom>
          <a:solidFill>
            <a:srgbClr val="4D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1578"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v0.5 “Ariadne”</a:t>
            </a:r>
          </a:p>
        </p:txBody>
      </p:sp>
      <p:sp>
        <p:nvSpPr>
          <p:cNvPr id="12" name="TextBox 11"/>
          <p:cNvSpPr txBox="1"/>
          <p:nvPr/>
        </p:nvSpPr>
        <p:spPr>
          <a:xfrm>
            <a:off x="4551578" y="2651760"/>
            <a:ext cx="3088538" cy="132588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Focused on following a route across models, sessions and evaluation — closing the loop from decision to outcome.</a:t>
            </a:r>
          </a:p>
        </p:txBody>
      </p:sp>
      <p:sp>
        <p:nvSpPr>
          <p:cNvPr id="13" name="Rectangle 12"/>
          <p:cNvSpPr/>
          <p:nvPr/>
        </p:nvSpPr>
        <p:spPr>
          <a:xfrm>
            <a:off x="8042452" y="1938528"/>
            <a:ext cx="3490874" cy="2240280"/>
          </a:xfrm>
          <a:prstGeom prst="rect">
            <a:avLst/>
          </a:prstGeom>
          <a:solidFill>
            <a:srgbClr val="151B26"/>
          </a:solidFill>
          <a:ln w="1270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2452" y="1938528"/>
            <a:ext cx="3490874" cy="38100"/>
          </a:xfrm>
          <a:prstGeom prst="rect">
            <a:avLst/>
          </a:prstGeom>
          <a:solidFill>
            <a:srgbClr val="B38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3620" y="2176272"/>
            <a:ext cx="3088538" cy="457200"/>
          </a:xfrm>
          <a:prstGeom prst="rect">
            <a:avLst/>
          </a:prstGeom>
          <a:noFill/>
        </p:spPr>
        <p:txBody>
          <a:bodyPr wrap="square" anchor="t" lIns="0" rIns="0" tIns="0" bIns="0">
            <a:spAutoFit/>
          </a:bodyPr>
          <a:lstStyle/>
          <a:p>
            <a:pPr>
              <a:lnSpc>
                <a:spcPct val="115000"/>
              </a:lnSpc>
              <a:spcBef>
                <a:spcPts val="0"/>
              </a:spcBef>
              <a:spcAft>
                <a:spcPts val="0"/>
              </a:spcAft>
            </a:pPr>
            <a:r>
              <a:rPr sz="1450" b="1">
                <a:solidFill>
                  <a:srgbClr val="EEF3FA"/>
                </a:solidFill>
                <a:latin typeface="Helvetica Neue"/>
              </a:rPr>
              <a:t>Also in the docs</a:t>
            </a:r>
          </a:p>
        </p:txBody>
      </p:sp>
      <p:sp>
        <p:nvSpPr>
          <p:cNvPr id="16" name="TextBox 15"/>
          <p:cNvSpPr txBox="1"/>
          <p:nvPr/>
        </p:nvSpPr>
        <p:spPr>
          <a:xfrm>
            <a:off x="8243620" y="2651760"/>
            <a:ext cx="3088538" cy="1325880"/>
          </a:xfrm>
          <a:prstGeom prst="rect">
            <a:avLst/>
          </a:prstGeom>
          <a:noFill/>
        </p:spPr>
        <p:txBody>
          <a:bodyPr wrap="square" anchor="t" lIns="0" rIns="0" tIns="0" bIns="0">
            <a:spAutoFit/>
          </a:bodyPr>
          <a:lstStyle/>
          <a:p>
            <a:pPr>
              <a:lnSpc>
                <a:spcPct val="140000"/>
              </a:lnSpc>
              <a:spcBef>
                <a:spcPts val="0"/>
              </a:spcBef>
              <a:spcAft>
                <a:spcPts val="0"/>
              </a:spcAft>
            </a:pPr>
            <a:r>
              <a:rPr sz="1150" b="0">
                <a:solidFill>
                  <a:srgbClr val="A3B0C6"/>
                </a:solidFill>
                <a:latin typeface="Helvetica Neue"/>
              </a:rPr>
              <a:t>sr-bench 1.0 as the project's benchmark suite, and a Fleet Simulator for capacity planning and power modelling.</a:t>
            </a:r>
          </a:p>
        </p:txBody>
      </p:sp>
      <p:sp>
        <p:nvSpPr>
          <p:cNvPr id="17" name="Rectangle 16"/>
          <p:cNvSpPr/>
          <p:nvPr/>
        </p:nvSpPr>
        <p:spPr>
          <a:xfrm>
            <a:off x="658368" y="4398264"/>
            <a:ext cx="10874959" cy="658368"/>
          </a:xfrm>
          <a:prstGeom prst="rect">
            <a:avLst/>
          </a:prstGeom>
          <a:solidFill>
            <a:srgbClr val="1E2636"/>
          </a:solidFill>
          <a:ln w="1270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398264"/>
            <a:ext cx="50800" cy="65836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517136"/>
            <a:ext cx="10472623" cy="420624"/>
          </a:xfrm>
          <a:prstGeom prst="rect">
            <a:avLst/>
          </a:prstGeom>
          <a:noFill/>
        </p:spPr>
        <p:txBody>
          <a:bodyPr wrap="square" anchor="t" lIns="0" rIns="0" tIns="0" bIns="0">
            <a:spAutoFit/>
          </a:bodyPr>
          <a:lstStyle/>
          <a:p>
            <a:pPr>
              <a:lnSpc>
                <a:spcPct val="130000"/>
              </a:lnSpc>
              <a:spcBef>
                <a:spcPts val="0"/>
              </a:spcBef>
              <a:spcAft>
                <a:spcPts val="0"/>
              </a:spcAft>
            </a:pPr>
            <a:r>
              <a:rPr sz="1250" b="0">
                <a:solidFill>
                  <a:srgbClr val="FFC857"/>
                </a:solidFill>
                <a:latin typeface="Helvetica Neue"/>
              </a:rPr>
              <a:t>Early project material quotes up to 10% higher accuracy, 50% lower latency and 50% fewer tokens. Treat those as indicative and re-validate against sr-bench for your own workload.</a:t>
            </a:r>
          </a:p>
        </p:txBody>
      </p:sp>
      <p:sp>
        <p:nvSpPr>
          <p:cNvPr id="20" name="TextBox 19"/>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22 / 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2621127" y="1920240"/>
            <a:ext cx="6949440" cy="1463040"/>
          </a:xfrm>
          <a:prstGeom prst="rect">
            <a:avLst/>
          </a:prstGeom>
          <a:solidFill>
            <a:srgbClr val="1E2636"/>
          </a:solidFill>
          <a:ln w="19050">
            <a:solidFill>
              <a:srgbClr val="2E38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621127" y="1920240"/>
            <a:ext cx="6949440" cy="1463040"/>
          </a:xfrm>
          <a:prstGeom prst="rect">
            <a:avLst/>
          </a:prstGeom>
          <a:noFill/>
        </p:spPr>
        <p:txBody>
          <a:bodyPr wrap="square" anchor="ctr" lIns="0" rIns="0" tIns="0" bIns="0">
            <a:spAutoFit/>
          </a:bodyPr>
          <a:lstStyle/>
          <a:p>
            <a:pPr algn="ctr">
              <a:spcBef>
                <a:spcPts val="0"/>
              </a:spcBef>
              <a:spcAft>
                <a:spcPts val="0"/>
              </a:spcAft>
            </a:pPr>
            <a:r>
              <a:rPr sz="4000" b="1">
                <a:solidFill>
                  <a:srgbClr val="EEF3FA"/>
                </a:solidFill>
                <a:latin typeface="Menlo"/>
              </a:rPr>
              <a:t>&gt; ./run_demo.sh</a:t>
            </a:r>
          </a:p>
        </p:txBody>
      </p:sp>
      <p:sp>
        <p:nvSpPr>
          <p:cNvPr id="4" name="TextBox 3"/>
          <p:cNvSpPr txBox="1"/>
          <p:nvPr/>
        </p:nvSpPr>
        <p:spPr>
          <a:xfrm>
            <a:off x="658368" y="3657600"/>
            <a:ext cx="10874959" cy="457200"/>
          </a:xfrm>
          <a:prstGeom prst="rect">
            <a:avLst/>
          </a:prstGeom>
          <a:noFill/>
        </p:spPr>
        <p:txBody>
          <a:bodyPr wrap="square" anchor="t" lIns="0" rIns="0" tIns="0" bIns="0">
            <a:spAutoFit/>
          </a:bodyPr>
          <a:lstStyle/>
          <a:p>
            <a:pPr algn="ctr">
              <a:spcBef>
                <a:spcPts val="0"/>
              </a:spcBef>
              <a:spcAft>
                <a:spcPts val="0"/>
              </a:spcAft>
            </a:pPr>
            <a:r>
              <a:rPr sz="1600" b="1">
                <a:solidFill>
                  <a:srgbClr val="A3B0C6"/>
                </a:solidFill>
                <a:latin typeface="Helvetica Neue"/>
              </a:rPr>
              <a:t>Live demonstration</a:t>
            </a:r>
          </a:p>
        </p:txBody>
      </p:sp>
      <p:sp>
        <p:nvSpPr>
          <p:cNvPr id="5" name="TextBox 4"/>
          <p:cNvSpPr txBox="1"/>
          <p:nvPr/>
        </p:nvSpPr>
        <p:spPr>
          <a:xfrm>
            <a:off x="658368" y="4343400"/>
            <a:ext cx="10874959" cy="1280160"/>
          </a:xfrm>
          <a:prstGeom prst="rect">
            <a:avLst/>
          </a:prstGeom>
          <a:noFill/>
        </p:spPr>
        <p:txBody>
          <a:bodyPr wrap="square" anchor="t" lIns="0" rIns="0" tIns="0" bIns="0">
            <a:spAutoFit/>
          </a:bodyPr>
          <a:lstStyle/>
          <a:p>
            <a:pPr algn="ctr">
              <a:spcBef>
                <a:spcPts val="0"/>
              </a:spcBef>
              <a:spcAft>
                <a:spcPts val="700"/>
              </a:spcAft>
            </a:pPr>
            <a:r>
              <a:rPr sz="1200" b="0">
                <a:solidFill>
                  <a:srgbClr val="6E7D96"/>
                </a:solidFill>
                <a:latin typeface="Menlo"/>
              </a:rPr>
              <a:t>Project · vllm-sr.ai</a:t>
            </a:r>
          </a:p>
          <a:p>
            <a:pPr algn="ctr">
              <a:spcBef>
                <a:spcPts val="0"/>
              </a:spcBef>
              <a:spcAft>
                <a:spcPts val="700"/>
              </a:spcAft>
            </a:pPr>
            <a:r>
              <a:rPr sz="1200" b="0">
                <a:solidFill>
                  <a:srgbClr val="6E7D96"/>
                </a:solidFill>
                <a:latin typeface="Menlo"/>
              </a:rPr>
              <a:t>Upstream · github.com/vllm-project/semantic-router</a:t>
            </a:r>
          </a:p>
          <a:p>
            <a:pPr algn="ctr">
              <a:spcBef>
                <a:spcPts val="0"/>
              </a:spcBef>
              <a:spcAft>
                <a:spcPts val="700"/>
              </a:spcAft>
            </a:pPr>
            <a:r>
              <a:rPr sz="1200" b="0">
                <a:solidFill>
                  <a:srgbClr val="6E7D96"/>
                </a:solidFill>
                <a:latin typeface="Menlo"/>
              </a:rPr>
              <a:t>This demo · github.com/ritzshah/vllm-semantic-router-demo</a:t>
            </a:r>
          </a:p>
        </p:txBody>
      </p:sp>
      <p:sp>
        <p:nvSpPr>
          <p:cNvPr id="6" name="TextBox 5"/>
          <p:cNvSpPr txBox="1"/>
          <p:nvPr/>
        </p:nvSpPr>
        <p:spPr>
          <a:xfrm>
            <a:off x="10070287" y="6382512"/>
            <a:ext cx="1463040" cy="274320"/>
          </a:xfrm>
          <a:prstGeom prst="rect">
            <a:avLst/>
          </a:prstGeom>
          <a:noFill/>
        </p:spPr>
        <p:txBody>
          <a:bodyPr wrap="square" anchor="t" lIns="0" rIns="0" tIns="0" bIns="0">
            <a:spAutoFit/>
          </a:bodyPr>
          <a:lstStyle/>
          <a:p>
            <a:pPr algn="r">
              <a:spcBef>
                <a:spcPts val="0"/>
              </a:spcBef>
              <a:spcAft>
                <a:spcPts val="0"/>
              </a:spcAft>
            </a:pPr>
            <a:r>
              <a:rPr sz="1000" b="0">
                <a:solidFill>
                  <a:srgbClr val="6E7D96"/>
                </a:solidFill>
                <a:latin typeface="Menlo"/>
              </a:rP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