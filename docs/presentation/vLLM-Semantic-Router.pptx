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minutes of slides, 10 minutes of live demo. Open on the premise, not the product: nobody in this room runs one model, and the question is who decides which one handles a given request.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axes. Let the audience feel the combinatorics before you offer anything. The callout is the thesis of the whole talk.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makes a cost-conscious audience sit up. Do not rush it. The point is not that Uber was careless — it is that token-metered consumption with no routing layer has no natural ceiling.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each of the four back to the fragmentation slide. The callout is the bridge into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formula out loud. The fourth bullet is the architectural payoff: one place to change policy, one place to audit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they take one slide away, make it this one. MoE is someone else's decision baked into weights. MoM is your decision, in your config, that you can change this afternoon.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router decides what logical model handles a request; the serving layer decides how to run it. Teams who already run llm-d or AIBrix need to hear that this sits in front of, not instead of, what they have.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rip and replace. Worth noting the header name: earlier builds used x-vsr-destination-endpoint with an IP; v0.3 sends the model name and Envoy owns a cluster per model.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once, slowly. Flag that stages 2 and 4 are the ones most people have not seen — the next three slides are one per group.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column matters: these are not hard-wired. The callout is the design discipline that makes one signal reusable by many decisions.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ladder as an order, not as numbers — the priorities are in the config if anyone asks, and the file is on the closing slide. The third column is the governance story and it is far stronger than "we block PII": in v0.3 pii stopped being a plugin type entirely, it is a signal, and enforcement belongs to the decision.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Loopers are the part worth dwelling on — cascade cheap-then-expensive, or panel several models and compare. That is no longer routing, it is orchestration. Be honest that our demo uses static selection and no loopers.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Very concrete. A team can start by swapping one model string and tune a bespoke recipe later. Our demo defines its own recipe rather than using these.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intro line verbatim. Volunteering that these are someone else's numbers buys more credibility than the numbers do. The fine-tuning finding worth quoting: +18% from the right loss function versus +2% from more data.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no vendor deck has. The cache row is the one to linger on: an audience told that semantic caching understands meaning deserves to see the number where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straight that our demo implements layer one and part of layer two, and no egress controls at all. Saying so is what makes the rest of the deck believable.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lands with anyone building agentic systems — the cost multiplier is the whole argument, and it is the same argument as the Uber slide at a different scale.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Semantics in front, hardware scheduling behind. This is the last slide before the demo — finish it and switch.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people photograph. Ten minutes from here. Have the console already open on a second tab with the counters cleared.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this table. Switch to the console and run them. Lead with the two complexity cases back to back, then the two jailbreak cases back to back — those pairs do the work.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console. Press c first so the tally starts at zero in front of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58368" y="1600200"/>
            <a:ext cx="9509760" cy="365760"/>
          </a:xfrm>
          <a:prstGeom prst="rect">
            <a:avLst/>
          </a:prstGeom>
          <a:noFill/>
        </p:spPr>
        <p:txBody>
          <a:bodyPr wrap="square" anchor="t" lIns="0" rIns="0" tIns="0" bIns="0">
            <a:spAutoFit/>
          </a:bodyPr>
          <a:lstStyle/>
          <a:p>
            <a:pPr>
              <a:spcBef>
                <a:spcPts val="0"/>
              </a:spcBef>
              <a:spcAft>
                <a:spcPts val="0"/>
              </a:spcAft>
            </a:pPr>
            <a:r>
              <a:rPr sz="1200" b="1">
                <a:solidFill>
                  <a:srgbClr val="FF4D4D"/>
                </a:solidFill>
                <a:latin typeface="Menlo"/>
              </a:rPr>
              <a:t>VLLM SEMANTIC ROUTER</a:t>
            </a:r>
          </a:p>
        </p:txBody>
      </p:sp>
      <p:sp>
        <p:nvSpPr>
          <p:cNvPr id="3" name="TextBox 2"/>
          <p:cNvSpPr txBox="1"/>
          <p:nvPr/>
        </p:nvSpPr>
        <p:spPr>
          <a:xfrm>
            <a:off x="658368" y="2103120"/>
            <a:ext cx="9692640" cy="1737360"/>
          </a:xfrm>
          <a:prstGeom prst="rect">
            <a:avLst/>
          </a:prstGeom>
          <a:noFill/>
        </p:spPr>
        <p:txBody>
          <a:bodyPr wrap="square" anchor="t" lIns="0" rIns="0" tIns="0" bIns="0">
            <a:spAutoFit/>
          </a:bodyPr>
          <a:lstStyle/>
          <a:p>
            <a:pPr>
              <a:lnSpc>
                <a:spcPct val="103000"/>
              </a:lnSpc>
              <a:spcBef>
                <a:spcPts val="0"/>
              </a:spcBef>
              <a:spcAft>
                <a:spcPts val="0"/>
              </a:spcAft>
            </a:pPr>
            <a:r>
              <a:rPr sz="4600" b="1">
                <a:solidFill>
                  <a:srgbClr val="EEF3FA"/>
                </a:solidFill>
                <a:latin typeface="Helvetica Neue"/>
              </a:rPr>
              <a:t>Intelligence Beyond Any One Model</a:t>
            </a:r>
          </a:p>
        </p:txBody>
      </p:sp>
      <p:sp>
        <p:nvSpPr>
          <p:cNvPr id="4" name="Rectangle 3"/>
          <p:cNvSpPr/>
          <p:nvPr/>
        </p:nvSpPr>
        <p:spPr>
          <a:xfrm>
            <a:off x="658368" y="4069080"/>
            <a:ext cx="1005840" cy="762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34840"/>
            <a:ext cx="7589520" cy="1188720"/>
          </a:xfrm>
          <a:prstGeom prst="rect">
            <a:avLst/>
          </a:prstGeom>
          <a:noFill/>
        </p:spPr>
        <p:txBody>
          <a:bodyPr wrap="square" anchor="t" lIns="0" rIns="0" tIns="0" bIns="0">
            <a:spAutoFit/>
          </a:bodyPr>
          <a:lstStyle/>
          <a:p>
            <a:pPr>
              <a:lnSpc>
                <a:spcPct val="145000"/>
              </a:lnSpc>
              <a:spcBef>
                <a:spcPts val="0"/>
              </a:spcBef>
              <a:spcAft>
                <a:spcPts val="0"/>
              </a:spcAft>
            </a:pPr>
            <a:r>
              <a:rPr sz="1500" b="0">
                <a:solidFill>
                  <a:srgbClr val="A3B0C6"/>
                </a:solidFill>
                <a:latin typeface="Helvetica Neue"/>
              </a:rPr>
              <a:t>Signal-driven routing, guardrails and semantic caching for Mixture-of-Models systems — running live on OpenShift AI.</a:t>
            </a:r>
          </a:p>
        </p:txBody>
      </p:sp>
      <p:sp>
        <p:nvSpPr>
          <p:cNvPr id="6" name="TextBox 5"/>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0:00  ·  </a:t>
            </a:r>
            <a:r>
              <a:rPr sz="1000">
                <a:solidFill>
                  <a:srgbClr val="6E7D96"/>
                </a:solidFill>
                <a:latin typeface="Menlo"/>
              </a:rPr>
              <a:t>1 /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Fragmentation changed the problem</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It is no longer "which model is best". The ecosystem fragments along four axes at once, and every one of them is a routing decision.</a:t>
            </a:r>
          </a:p>
        </p:txBody>
      </p:sp>
      <p:sp>
        <p:nvSpPr>
          <p:cNvPr id="5" name="Rectangle 4"/>
          <p:cNvSpPr/>
          <p:nvPr/>
        </p:nvSpPr>
        <p:spPr>
          <a:xfrm>
            <a:off x="658368"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Models &amp; compute</a:t>
            </a:r>
          </a:p>
        </p:txBody>
      </p:sp>
      <p:sp>
        <p:nvSpPr>
          <p:cNvPr id="8" name="TextBox 7"/>
          <p:cNvSpPr txBox="1"/>
          <p:nvPr/>
        </p:nvSpPr>
        <p:spPr>
          <a:xfrm>
            <a:off x="859536"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Large, small, hybrid-reasoning, specialist, open and closed — across CPU, GPU, NPU and mixed fleets with different cost and energy profiles.</a:t>
            </a:r>
          </a:p>
        </p:txBody>
      </p:sp>
      <p:sp>
        <p:nvSpPr>
          <p:cNvPr id="9" name="Rectangle 8"/>
          <p:cNvSpPr/>
          <p:nvPr/>
        </p:nvSpPr>
        <p:spPr>
          <a:xfrm>
            <a:off x="4350410"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Location</a:t>
            </a:r>
          </a:p>
        </p:txBody>
      </p:sp>
      <p:sp>
        <p:nvSpPr>
          <p:cNvPr id="12" name="TextBox 11"/>
          <p:cNvSpPr txBox="1"/>
          <p:nvPr/>
        </p:nvSpPr>
        <p:spPr>
          <a:xfrm>
            <a:off x="4551578"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Cloud, data centre, edge. Where a request may execute is often a compliance question before it is a performance one.</a:t>
            </a:r>
          </a:p>
        </p:txBody>
      </p:sp>
      <p:sp>
        <p:nvSpPr>
          <p:cNvPr id="13" name="Rectangle 12"/>
          <p:cNvSpPr/>
          <p:nvPr/>
        </p:nvSpPr>
        <p:spPr>
          <a:xfrm>
            <a:off x="8042452"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Preference</a:t>
            </a:r>
          </a:p>
        </p:txBody>
      </p:sp>
      <p:sp>
        <p:nvSpPr>
          <p:cNvPr id="16" name="TextBox 15"/>
          <p:cNvSpPr txBox="1"/>
          <p:nvPr/>
        </p:nvSpPr>
        <p:spPr>
          <a:xfrm>
            <a:off x="8243620"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Quality, latency, cost, privacy. These conflict, and the right trade-off differs per request — not per application.</a:t>
            </a:r>
          </a:p>
        </p:txBody>
      </p:sp>
      <p:sp>
        <p:nvSpPr>
          <p:cNvPr id="17" name="Rectangle 16"/>
          <p:cNvSpPr/>
          <p:nvPr/>
        </p:nvSpPr>
        <p:spPr>
          <a:xfrm>
            <a:off x="658368" y="4398264"/>
            <a:ext cx="10874959" cy="47548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398264"/>
            <a:ext cx="50800" cy="47548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17136"/>
            <a:ext cx="10472623" cy="23774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Without a routing layer, every application has to navigate all four on its own.</a:t>
            </a:r>
          </a:p>
        </p:txBody>
      </p:sp>
      <p:sp>
        <p:nvSpPr>
          <p:cNvPr id="20" name="TextBox 19"/>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1:00  ·  </a:t>
            </a:r>
            <a:r>
              <a:rPr sz="1000">
                <a:solidFill>
                  <a:srgbClr val="6E7D96"/>
                </a:solidFill>
                <a:latin typeface="Menlo"/>
              </a:rPr>
              <a:t>2 /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Then the bill arrives</a:t>
            </a:r>
          </a:p>
        </p:txBody>
      </p:sp>
      <p:sp>
        <p:nvSpPr>
          <p:cNvPr id="4" name="Rectangle 3"/>
          <p:cNvSpPr/>
          <p:nvPr/>
        </p:nvSpPr>
        <p:spPr>
          <a:xfrm>
            <a:off x="658368" y="1335024"/>
            <a:ext cx="50800" cy="420624"/>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335024"/>
            <a:ext cx="9966960" cy="420624"/>
          </a:xfrm>
          <a:prstGeom prst="rect">
            <a:avLst/>
          </a:prstGeom>
          <a:noFill/>
        </p:spPr>
        <p:txBody>
          <a:bodyPr wrap="square" anchor="t" lIns="0" rIns="0" tIns="0" bIns="0">
            <a:spAutoFit/>
          </a:bodyPr>
          <a:lstStyle/>
          <a:p>
            <a:pPr>
              <a:lnSpc>
                <a:spcPct val="130000"/>
              </a:lnSpc>
              <a:spcBef>
                <a:spcPts val="0"/>
              </a:spcBef>
              <a:spcAft>
                <a:spcPts val="0"/>
              </a:spcAft>
            </a:pPr>
            <a:r>
              <a:rPr sz="1800" b="1">
                <a:solidFill>
                  <a:srgbClr val="EEF3FA"/>
                </a:solidFill>
                <a:latin typeface="Helvetica Neue"/>
              </a:rPr>
              <a:t>Uber burned through its entire 2026 AI budget in four months.</a:t>
            </a:r>
          </a:p>
        </p:txBody>
      </p:sp>
      <p:sp>
        <p:nvSpPr>
          <p:cNvPr id="6" name="TextBox 5"/>
          <p:cNvSpPr txBox="1"/>
          <p:nvPr/>
        </p:nvSpPr>
        <p:spPr>
          <a:xfrm>
            <a:off x="658368" y="2066544"/>
            <a:ext cx="10241280" cy="2743200"/>
          </a:xfrm>
          <a:prstGeom prst="rect">
            <a:avLst/>
          </a:prstGeom>
          <a:noFill/>
        </p:spPr>
        <p:txBody>
          <a:bodyPr wrap="square" anchor="t" lIns="0" rIns="0" tIns="0" bIns="0">
            <a:spAutoFit/>
          </a:bodyPr>
          <a:lstStyle/>
          <a:p>
            <a:pPr>
              <a:lnSpc>
                <a:spcPct val="135000"/>
              </a:lnSpc>
              <a:spcBef>
                <a:spcPts val="0"/>
              </a:spcBef>
              <a:spcAft>
                <a:spcPts val="1100"/>
              </a:spcAft>
            </a:pPr>
            <a:r>
              <a:rPr sz="1450">
                <a:solidFill>
                  <a:srgbClr val="FF4D4D"/>
                </a:solidFill>
                <a:latin typeface="Helvetica Neue"/>
              </a:rPr>
              <a:t>▪   5,000 engineers on Claude Code — token-metered, not per-seat.</a:t>
            </a:r>
          </a:p>
          <a:p>
            <a:pPr>
              <a:lnSpc>
                <a:spcPct val="135000"/>
              </a:lnSpc>
              <a:spcBef>
                <a:spcPts val="0"/>
              </a:spcBef>
              <a:spcAft>
                <a:spcPts val="1100"/>
              </a:spcAft>
            </a:pPr>
            <a:r>
              <a:rPr sz="1450">
                <a:solidFill>
                  <a:srgbClr val="FF4D4D"/>
                </a:solidFill>
                <a:latin typeface="Helvetica Neue"/>
              </a:rPr>
              <a:t>▪   84% adoption. Budget of $150–2,000 per engineer per month.</a:t>
            </a:r>
          </a:p>
          <a:p>
            <a:pPr>
              <a:lnSpc>
                <a:spcPct val="135000"/>
              </a:lnSpc>
              <a:spcBef>
                <a:spcPts val="0"/>
              </a:spcBef>
              <a:spcAft>
                <a:spcPts val="1100"/>
              </a:spcAft>
            </a:pPr>
            <a:r>
              <a:rPr sz="1450">
                <a:solidFill>
                  <a:srgbClr val="FF4D4D"/>
                </a:solidFill>
                <a:latin typeface="Helvetica Neue"/>
              </a:rPr>
              <a:t>▪   Exhausted in April: month four of twelve.</a:t>
            </a:r>
          </a:p>
          <a:p>
            <a:pPr>
              <a:lnSpc>
                <a:spcPct val="135000"/>
              </a:lnSpc>
              <a:spcBef>
                <a:spcPts val="0"/>
              </a:spcBef>
              <a:spcAft>
                <a:spcPts val="1100"/>
              </a:spcAft>
            </a:pPr>
            <a:r>
              <a:rPr sz="1450">
                <a:solidFill>
                  <a:srgbClr val="FF4D4D"/>
                </a:solidFill>
                <a:latin typeface="Helvetica Neue"/>
              </a:rPr>
              <a:t>▪   CTO Praveen Neppalli Naga: “I'm back to the drawing board — the budget I thought I would need is blown away already.”</a:t>
            </a:r>
          </a:p>
        </p:txBody>
      </p:sp>
      <p:sp>
        <p:nvSpPr>
          <p:cNvPr id="7" name="TextBox 6"/>
          <p:cNvSpPr txBox="1"/>
          <p:nvPr/>
        </p:nvSpPr>
        <p:spPr>
          <a:xfrm>
            <a:off x="658368" y="6382512"/>
            <a:ext cx="6400800" cy="274320"/>
          </a:xfrm>
          <a:prstGeom prst="rect">
            <a:avLst/>
          </a:prstGeom>
          <a:noFill/>
        </p:spPr>
        <p:txBody>
          <a:bodyPr wrap="square" anchor="t" lIns="0" rIns="0" tIns="0" bIns="0">
            <a:spAutoFit/>
          </a:bodyPr>
          <a:lstStyle/>
          <a:p>
            <a:pPr>
              <a:spcBef>
                <a:spcPts val="0"/>
              </a:spcBef>
              <a:spcAft>
                <a:spcPts val="0"/>
              </a:spcAft>
            </a:pPr>
            <a:r>
              <a:rPr sz="900" b="0">
                <a:solidFill>
                  <a:srgbClr val="6E7D96"/>
                </a:solidFill>
                <a:latin typeface="Menlo"/>
              </a:rPr>
              <a:t>case study via Aayush Saini, Red Hat — vLLM-SR maintainer</a:t>
            </a:r>
          </a:p>
        </p:txBody>
      </p:sp>
      <p:sp>
        <p:nvSpPr>
          <p:cNvPr id="8" name="TextBox 7"/>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2:30  ·  </a:t>
            </a:r>
            <a:r>
              <a:rPr sz="1000">
                <a:solidFill>
                  <a:srgbClr val="6E7D96"/>
                </a:solidFill>
                <a:latin typeface="Menlo"/>
              </a:rPr>
              <a:t>3 /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The root cause: inference pipelines are content-blind</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A load balancer distributes requests without any idea what is in them. Four consequences, and all four are the same bug.</a:t>
            </a:r>
          </a:p>
        </p:txBody>
      </p:sp>
      <p:sp>
        <p:nvSpPr>
          <p:cNvPr id="5" name="Rectangle 4"/>
          <p:cNvSpPr/>
          <p:nvPr/>
        </p:nvSpPr>
        <p:spPr>
          <a:xfrm>
            <a:off x="658368"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Unnecessary spend</a:t>
            </a:r>
          </a:p>
        </p:txBody>
      </p:sp>
      <p:sp>
        <p:nvSpPr>
          <p:cNvPr id="8" name="TextBox 7"/>
          <p:cNvSpPr txBox="1"/>
          <p:nvPr/>
        </p:nvSpPr>
        <p:spPr>
          <a:xfrm>
            <a:off x="859536"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A one-line question and a distributed-systems design problem cost the same, because both named the same model.</a:t>
            </a:r>
          </a:p>
        </p:txBody>
      </p:sp>
      <p:sp>
        <p:nvSpPr>
          <p:cNvPr id="9" name="Rectangle 8"/>
          <p:cNvSpPr/>
          <p:nvPr/>
        </p:nvSpPr>
        <p:spPr>
          <a:xfrm>
            <a:off x="4350410"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Data sovereignty</a:t>
            </a:r>
          </a:p>
        </p:txBody>
      </p:sp>
      <p:sp>
        <p:nvSpPr>
          <p:cNvPr id="12" name="TextBox 11"/>
          <p:cNvSpPr txBox="1"/>
          <p:nvPr/>
        </p:nvSpPr>
        <p:spPr>
          <a:xfrm>
            <a:off x="4551578"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PII, financial and medical content leaves the data centre to reach a cloud model, because nothing inspected it on the way out.</a:t>
            </a:r>
          </a:p>
        </p:txBody>
      </p:sp>
      <p:sp>
        <p:nvSpPr>
          <p:cNvPr id="13" name="Rectangle 12"/>
          <p:cNvSpPr/>
          <p:nvPr/>
        </p:nvSpPr>
        <p:spPr>
          <a:xfrm>
            <a:off x="8042452"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Safety &amp; latency</a:t>
            </a:r>
          </a:p>
        </p:txBody>
      </p:sp>
      <p:sp>
        <p:nvSpPr>
          <p:cNvPr id="16" name="TextBox 15"/>
          <p:cNvSpPr txBox="1"/>
          <p:nvPr/>
        </p:nvSpPr>
        <p:spPr>
          <a:xfrm>
            <a:off x="8243620"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Jailbreaks pass straight through to inference. Meanwhile trivial requests queue behind heavy reasoning work on the same backend.</a:t>
            </a:r>
          </a:p>
        </p:txBody>
      </p:sp>
      <p:sp>
        <p:nvSpPr>
          <p:cNvPr id="17" name="Rectangle 16"/>
          <p:cNvSpPr/>
          <p:nvPr/>
        </p:nvSpPr>
        <p:spPr>
          <a:xfrm>
            <a:off x="658368" y="4398264"/>
            <a:ext cx="10874959" cy="47548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398264"/>
            <a:ext cx="50800" cy="47548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17136"/>
            <a:ext cx="10472623" cy="23774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You cannot enforce a policy you cannot see. Routing has to read the request.</a:t>
            </a:r>
          </a:p>
        </p:txBody>
      </p:sp>
      <p:sp>
        <p:nvSpPr>
          <p:cNvPr id="20" name="TextBox 19"/>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4:00  ·  </a:t>
            </a:r>
            <a:r>
              <a:rPr sz="1000">
                <a:solidFill>
                  <a:srgbClr val="6E7D96"/>
                </a:solidFill>
                <a:latin typeface="Menlo"/>
              </a:rPr>
              <a:t>4 /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The idea, in one line</a:t>
            </a:r>
          </a:p>
        </p:txBody>
      </p:sp>
      <p:sp>
        <p:nvSpPr>
          <p:cNvPr id="4" name="Rectangle 3"/>
          <p:cNvSpPr/>
          <p:nvPr/>
        </p:nvSpPr>
        <p:spPr>
          <a:xfrm>
            <a:off x="658368" y="1335024"/>
            <a:ext cx="50800" cy="420624"/>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335024"/>
            <a:ext cx="9966960" cy="420624"/>
          </a:xfrm>
          <a:prstGeom prst="rect">
            <a:avLst/>
          </a:prstGeom>
          <a:noFill/>
        </p:spPr>
        <p:txBody>
          <a:bodyPr wrap="square" anchor="t" lIns="0" rIns="0" tIns="0" bIns="0">
            <a:spAutoFit/>
          </a:bodyPr>
          <a:lstStyle/>
          <a:p>
            <a:pPr>
              <a:lnSpc>
                <a:spcPct val="130000"/>
              </a:lnSpc>
              <a:spcBef>
                <a:spcPts val="0"/>
              </a:spcBef>
              <a:spcAft>
                <a:spcPts val="0"/>
              </a:spcAft>
            </a:pPr>
            <a:r>
              <a:rPr sz="1800" b="1">
                <a:solidFill>
                  <a:srgbClr val="EEF3FA"/>
                </a:solidFill>
                <a:latin typeface="Helvetica Neue"/>
              </a:rPr>
              <a:t>intent(prompt, context)  →  compose(model, mode, tools)</a:t>
            </a:r>
          </a:p>
        </p:txBody>
      </p:sp>
      <p:sp>
        <p:nvSpPr>
          <p:cNvPr id="6" name="TextBox 5"/>
          <p:cNvSpPr txBox="1"/>
          <p:nvPr/>
        </p:nvSpPr>
        <p:spPr>
          <a:xfrm>
            <a:off x="658368" y="2066544"/>
            <a:ext cx="10241280" cy="2743200"/>
          </a:xfrm>
          <a:prstGeom prst="rect">
            <a:avLst/>
          </a:prstGeom>
          <a:noFill/>
        </p:spPr>
        <p:txBody>
          <a:bodyPr wrap="square" anchor="t" lIns="0" rIns="0" tIns="0" bIns="0">
            <a:spAutoFit/>
          </a:bodyPr>
          <a:lstStyle/>
          <a:p>
            <a:pPr>
              <a:lnSpc>
                <a:spcPct val="135000"/>
              </a:lnSpc>
              <a:spcBef>
                <a:spcPts val="0"/>
              </a:spcBef>
              <a:spcAft>
                <a:spcPts val="1100"/>
              </a:spcAft>
            </a:pPr>
            <a:r>
              <a:rPr sz="1450">
                <a:solidFill>
                  <a:srgbClr val="FF4D4D"/>
                </a:solidFill>
                <a:latin typeface="Helvetica Neue"/>
              </a:rPr>
              <a:t>▪   Read intent, domain, complexity and risk from the prompt and its context.</a:t>
            </a:r>
          </a:p>
          <a:p>
            <a:pPr>
              <a:lnSpc>
                <a:spcPct val="135000"/>
              </a:lnSpc>
              <a:spcBef>
                <a:spcPts val="0"/>
              </a:spcBef>
              <a:spcAft>
                <a:spcPts val="1100"/>
              </a:spcAft>
            </a:pPr>
            <a:r>
              <a:rPr sz="1450">
                <a:solidFill>
                  <a:srgbClr val="FF4D4D"/>
                </a:solidFill>
                <a:latin typeface="Helvetica Neue"/>
              </a:rPr>
              <a:t>▪   Then compose the right model, the right mode, the right supporting capabilities.</a:t>
            </a:r>
          </a:p>
          <a:p>
            <a:pPr>
              <a:lnSpc>
                <a:spcPct val="135000"/>
              </a:lnSpc>
              <a:spcBef>
                <a:spcPts val="0"/>
              </a:spcBef>
              <a:spcAft>
                <a:spcPts val="1100"/>
              </a:spcAft>
            </a:pPr>
            <a:r>
              <a:rPr sz="1450">
                <a:solidFill>
                  <a:srgbClr val="FF4D4D"/>
                </a:solidFill>
                <a:latin typeface="Helvetica Neue"/>
              </a:rPr>
              <a:t>▪   Clients send model: "auto" over the ordinary OpenAI-compatible API. No SDK, no client change.</a:t>
            </a:r>
          </a:p>
          <a:p>
            <a:pPr>
              <a:lnSpc>
                <a:spcPct val="135000"/>
              </a:lnSpc>
              <a:spcBef>
                <a:spcPts val="0"/>
              </a:spcBef>
              <a:spcAft>
                <a:spcPts val="1100"/>
              </a:spcAft>
            </a:pPr>
            <a:r>
              <a:rPr sz="1450">
                <a:solidFill>
                  <a:srgbClr val="FF4D4D"/>
                </a:solidFill>
                <a:latin typeface="Helvetica Neue"/>
              </a:rPr>
              <a:t>▪   Intelligence moves upstream — the decision happens once at the gateway, not in every application.</a:t>
            </a:r>
          </a:p>
        </p:txBody>
      </p:sp>
      <p:sp>
        <p:nvSpPr>
          <p:cNvPr id="7" name="TextBox 6"/>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5:30  ·  </a:t>
            </a:r>
            <a:r>
              <a:rPr sz="1000">
                <a:solidFill>
                  <a:srgbClr val="6E7D96"/>
                </a:solidFill>
                <a:latin typeface="Menlo"/>
              </a:rPr>
              <a:t>5 /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Mixture-of-Models is not Mixture-of-Experts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These get conflated constantly, and they operate at completely different levels.</a:t>
            </a:r>
          </a:p>
        </p:txBody>
      </p:sp>
      <p:sp>
        <p:nvSpPr>
          <p:cNvPr id="5" name="Rectangle 4"/>
          <p:cNvSpPr/>
          <p:nvPr/>
        </p:nvSpPr>
        <p:spPr>
          <a:xfrm>
            <a:off x="658368" y="1938528"/>
            <a:ext cx="5318607" cy="320040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5318607" cy="475488"/>
          </a:xfrm>
          <a:prstGeom prst="rect">
            <a:avLst/>
          </a:prstGeom>
          <a:solidFill>
            <a:srgbClr val="1E26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938528"/>
            <a:ext cx="50800" cy="475488"/>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057400"/>
            <a:ext cx="4879695" cy="329184"/>
          </a:xfrm>
          <a:prstGeom prst="rect">
            <a:avLst/>
          </a:prstGeom>
          <a:noFill/>
        </p:spPr>
        <p:txBody>
          <a:bodyPr wrap="square" anchor="t" lIns="0" rIns="0" tIns="0" bIns="0">
            <a:spAutoFit/>
          </a:bodyPr>
          <a:lstStyle/>
          <a:p>
            <a:pPr>
              <a:spcBef>
                <a:spcPts val="0"/>
              </a:spcBef>
              <a:spcAft>
                <a:spcPts val="0"/>
              </a:spcAft>
            </a:pPr>
            <a:r>
              <a:rPr sz="1500" b="1">
                <a:solidFill>
                  <a:srgbClr val="4DD6C8"/>
                </a:solidFill>
                <a:latin typeface="Helvetica Neue"/>
              </a:rPr>
              <a:t>MoE — Mixture-of-Experts</a:t>
            </a:r>
          </a:p>
        </p:txBody>
      </p:sp>
      <p:sp>
        <p:nvSpPr>
          <p:cNvPr id="9" name="TextBox 8"/>
          <p:cNvSpPr txBox="1"/>
          <p:nvPr/>
        </p:nvSpPr>
        <p:spPr>
          <a:xfrm>
            <a:off x="877824" y="2560320"/>
            <a:ext cx="4879695" cy="2377440"/>
          </a:xfrm>
          <a:prstGeom prst="rect">
            <a:avLst/>
          </a:prstGeom>
          <a:noFill/>
        </p:spPr>
        <p:txBody>
          <a:bodyPr wrap="square" anchor="t" lIns="0" rIns="0" tIns="0" bIns="0">
            <a:spAutoFit/>
          </a:bodyPr>
          <a:lstStyle/>
          <a:p>
            <a:pPr>
              <a:lnSpc>
                <a:spcPct val="135000"/>
              </a:lnSpc>
              <a:spcBef>
                <a:spcPts val="0"/>
              </a:spcBef>
              <a:spcAft>
                <a:spcPts val="1000"/>
              </a:spcAft>
            </a:pPr>
            <a:r>
              <a:rPr sz="1200" b="0">
                <a:solidFill>
                  <a:srgbClr val="A3B0C6"/>
                </a:solidFill>
                <a:latin typeface="Helvetica Neue"/>
              </a:rPr>
              <a:t>An architecture pattern inside a single model.</a:t>
            </a:r>
          </a:p>
          <a:p>
            <a:pPr>
              <a:lnSpc>
                <a:spcPct val="135000"/>
              </a:lnSpc>
              <a:spcBef>
                <a:spcPts val="0"/>
              </a:spcBef>
              <a:spcAft>
                <a:spcPts val="1000"/>
              </a:spcAft>
            </a:pPr>
            <a:r>
              <a:rPr sz="1200" b="0">
                <a:solidFill>
                  <a:srgbClr val="A3B0C6"/>
                </a:solidFill>
                <a:latin typeface="Helvetica Neue"/>
              </a:rPr>
              <a:t>Sparse expert activation across layers.</a:t>
            </a:r>
          </a:p>
          <a:p>
            <a:pPr>
              <a:lnSpc>
                <a:spcPct val="135000"/>
              </a:lnSpc>
              <a:spcBef>
                <a:spcPts val="0"/>
              </a:spcBef>
              <a:spcAft>
                <a:spcPts val="1000"/>
              </a:spcAft>
            </a:pPr>
            <a:r>
              <a:rPr sz="1200" b="0">
                <a:solidFill>
                  <a:srgbClr val="A3B0C6"/>
                </a:solidFill>
                <a:latin typeface="Helvetica Neue"/>
              </a:rPr>
              <a:t>Chosen by the model vendor at training time.</a:t>
            </a:r>
          </a:p>
          <a:p>
            <a:pPr>
              <a:lnSpc>
                <a:spcPct val="135000"/>
              </a:lnSpc>
              <a:spcBef>
                <a:spcPts val="0"/>
              </a:spcBef>
              <a:spcAft>
                <a:spcPts val="1000"/>
              </a:spcAft>
            </a:pPr>
            <a:r>
              <a:rPr sz="1200" b="0">
                <a:solidFill>
                  <a:srgbClr val="A3B0C6"/>
                </a:solidFill>
                <a:latin typeface="Helvetica Neue"/>
              </a:rPr>
              <a:t>You cannot inspect or change the routing.</a:t>
            </a:r>
          </a:p>
        </p:txBody>
      </p:sp>
      <p:sp>
        <p:nvSpPr>
          <p:cNvPr id="10" name="Rectangle 9"/>
          <p:cNvSpPr/>
          <p:nvPr/>
        </p:nvSpPr>
        <p:spPr>
          <a:xfrm>
            <a:off x="6214719" y="1938528"/>
            <a:ext cx="5318607" cy="320040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4719" y="1938528"/>
            <a:ext cx="5318607" cy="475488"/>
          </a:xfrm>
          <a:prstGeom prst="rect">
            <a:avLst/>
          </a:prstGeom>
          <a:solidFill>
            <a:srgbClr val="1E26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4719" y="1938528"/>
            <a:ext cx="50800" cy="475488"/>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4175" y="2057400"/>
            <a:ext cx="4879695" cy="329184"/>
          </a:xfrm>
          <a:prstGeom prst="rect">
            <a:avLst/>
          </a:prstGeom>
          <a:noFill/>
        </p:spPr>
        <p:txBody>
          <a:bodyPr wrap="square" anchor="t" lIns="0" rIns="0" tIns="0" bIns="0">
            <a:spAutoFit/>
          </a:bodyPr>
          <a:lstStyle/>
          <a:p>
            <a:pPr>
              <a:spcBef>
                <a:spcPts val="0"/>
              </a:spcBef>
              <a:spcAft>
                <a:spcPts val="0"/>
              </a:spcAft>
            </a:pPr>
            <a:r>
              <a:rPr sz="1500" b="1">
                <a:solidFill>
                  <a:srgbClr val="FF4D4D"/>
                </a:solidFill>
                <a:latin typeface="Helvetica Neue"/>
              </a:rPr>
              <a:t>MoM — Mixture-of-Models</a:t>
            </a:r>
          </a:p>
        </p:txBody>
      </p:sp>
      <p:sp>
        <p:nvSpPr>
          <p:cNvPr id="14" name="TextBox 13"/>
          <p:cNvSpPr txBox="1"/>
          <p:nvPr/>
        </p:nvSpPr>
        <p:spPr>
          <a:xfrm>
            <a:off x="6434175" y="2560320"/>
            <a:ext cx="4879695" cy="2377440"/>
          </a:xfrm>
          <a:prstGeom prst="rect">
            <a:avLst/>
          </a:prstGeom>
          <a:noFill/>
        </p:spPr>
        <p:txBody>
          <a:bodyPr wrap="square" anchor="t" lIns="0" rIns="0" tIns="0" bIns="0">
            <a:spAutoFit/>
          </a:bodyPr>
          <a:lstStyle/>
          <a:p>
            <a:pPr>
              <a:lnSpc>
                <a:spcPct val="135000"/>
              </a:lnSpc>
              <a:spcBef>
                <a:spcPts val="0"/>
              </a:spcBef>
              <a:spcAft>
                <a:spcPts val="1000"/>
              </a:spcAft>
            </a:pPr>
            <a:r>
              <a:rPr sz="1200" b="0">
                <a:solidFill>
                  <a:srgbClr val="A3B0C6"/>
                </a:solidFill>
                <a:latin typeface="Helvetica Neue"/>
              </a:rPr>
              <a:t>A system pattern orchestrating independent models.</a:t>
            </a:r>
          </a:p>
          <a:p>
            <a:pPr>
              <a:lnSpc>
                <a:spcPct val="135000"/>
              </a:lnSpc>
              <a:spcBef>
                <a:spcPts val="0"/>
              </a:spcBef>
              <a:spcAft>
                <a:spcPts val="1000"/>
              </a:spcAft>
            </a:pPr>
            <a:r>
              <a:rPr sz="1200" b="0">
                <a:solidFill>
                  <a:srgbClr val="A3B0C6"/>
                </a:solidFill>
                <a:latin typeface="Helvetica Neue"/>
              </a:rPr>
              <a:t>They differ in architecture, training data, capability, hardware.</a:t>
            </a:r>
          </a:p>
          <a:p>
            <a:pPr>
              <a:lnSpc>
                <a:spcPct val="135000"/>
              </a:lnSpc>
              <a:spcBef>
                <a:spcPts val="0"/>
              </a:spcBef>
              <a:spcAft>
                <a:spcPts val="1000"/>
              </a:spcAft>
            </a:pPr>
            <a:r>
              <a:rPr sz="1200" b="0">
                <a:solidFill>
                  <a:srgbClr val="A3B0C6"/>
                </a:solidFill>
                <a:latin typeface="Helvetica Neue"/>
              </a:rPr>
              <a:t>Chosen by you, in configuration, at request time.</a:t>
            </a:r>
          </a:p>
          <a:p>
            <a:pPr>
              <a:lnSpc>
                <a:spcPct val="135000"/>
              </a:lnSpc>
              <a:spcBef>
                <a:spcPts val="0"/>
              </a:spcBef>
              <a:spcAft>
                <a:spcPts val="1000"/>
              </a:spcAft>
            </a:pPr>
            <a:r>
              <a:rPr sz="1200" b="0">
                <a:solidFill>
                  <a:srgbClr val="A3B0C6"/>
                </a:solidFill>
                <a:latin typeface="Helvetica Neue"/>
              </a:rPr>
              <a:t>Every decision is declared in YAML and observable.</a:t>
            </a:r>
          </a:p>
        </p:txBody>
      </p:sp>
      <p:sp>
        <p:nvSpPr>
          <p:cNvPr id="15" name="TextBox 14"/>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7:00  ·  </a:t>
            </a:r>
            <a:r>
              <a:rPr sz="1000">
                <a:solidFill>
                  <a:srgbClr val="6E7D96"/>
                </a:solidFill>
                <a:latin typeface="Menlo"/>
              </a:rPr>
              <a:t>6 /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Where it sits: what, which, how</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Three layers, one request path. The router complements your serving stack rather than replacing it.</a:t>
            </a:r>
          </a:p>
        </p:txBody>
      </p:sp>
      <p:sp>
        <p:nvSpPr>
          <p:cNvPr id="5" name="Rectangle 4"/>
          <p:cNvSpPr/>
          <p:nvPr/>
        </p:nvSpPr>
        <p:spPr>
          <a:xfrm>
            <a:off x="658368" y="1938528"/>
            <a:ext cx="10874959" cy="25400"/>
          </a:xfrm>
          <a:prstGeom prst="rect">
            <a:avLst/>
          </a:prstGeom>
          <a:solidFill>
            <a:srgbClr val="2E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58368"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1</a:t>
            </a:r>
          </a:p>
        </p:txBody>
      </p:sp>
      <p:sp>
        <p:nvSpPr>
          <p:cNvPr id="7" name="TextBox 6"/>
          <p:cNvSpPr txBox="1"/>
          <p:nvPr/>
        </p:nvSpPr>
        <p:spPr>
          <a:xfrm>
            <a:off x="658368" y="2743200"/>
            <a:ext cx="3429914"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WHAT — vLLM-SR</a:t>
            </a:r>
          </a:p>
        </p:txBody>
      </p:sp>
      <p:sp>
        <p:nvSpPr>
          <p:cNvPr id="8" name="TextBox 7"/>
          <p:cNvSpPr txBox="1"/>
          <p:nvPr/>
        </p:nvSpPr>
        <p:spPr>
          <a:xfrm>
            <a:off x="658368" y="3145536"/>
            <a:ext cx="3429914"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Chooses the logical model, from intent, complexity, privacy, modality and preference. At the gateway.</a:t>
            </a:r>
          </a:p>
        </p:txBody>
      </p:sp>
      <p:sp>
        <p:nvSpPr>
          <p:cNvPr id="9" name="Oval 8"/>
          <p:cNvSpPr/>
          <p:nvPr/>
        </p:nvSpPr>
        <p:spPr>
          <a:xfrm>
            <a:off x="4344314"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2</a:t>
            </a:r>
          </a:p>
        </p:txBody>
      </p:sp>
      <p:sp>
        <p:nvSpPr>
          <p:cNvPr id="10" name="TextBox 9"/>
          <p:cNvSpPr txBox="1"/>
          <p:nvPr/>
        </p:nvSpPr>
        <p:spPr>
          <a:xfrm>
            <a:off x="4344314" y="2743200"/>
            <a:ext cx="3429914"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WHICH — serving layer</a:t>
            </a:r>
          </a:p>
        </p:txBody>
      </p:sp>
      <p:sp>
        <p:nvSpPr>
          <p:cNvPr id="11" name="TextBox 10"/>
          <p:cNvSpPr txBox="1"/>
          <p:nvPr/>
        </p:nvSpPr>
        <p:spPr>
          <a:xfrm>
            <a:off x="4344314" y="3145536"/>
            <a:ext cx="3429914"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llm-d, vLLM Production Stack, AIBrix, Dynamo. Picks the replica, from load, queue depth and KV-cache locality.</a:t>
            </a:r>
          </a:p>
        </p:txBody>
      </p:sp>
      <p:sp>
        <p:nvSpPr>
          <p:cNvPr id="12" name="Oval 11"/>
          <p:cNvSpPr/>
          <p:nvPr/>
        </p:nvSpPr>
        <p:spPr>
          <a:xfrm>
            <a:off x="8030260"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3</a:t>
            </a:r>
          </a:p>
        </p:txBody>
      </p:sp>
      <p:sp>
        <p:nvSpPr>
          <p:cNvPr id="13" name="TextBox 12"/>
          <p:cNvSpPr txBox="1"/>
          <p:nvPr/>
        </p:nvSpPr>
        <p:spPr>
          <a:xfrm>
            <a:off x="8030260" y="2743200"/>
            <a:ext cx="3429914"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HOW &amp; WHERE — backends</a:t>
            </a:r>
          </a:p>
        </p:txBody>
      </p:sp>
      <p:sp>
        <p:nvSpPr>
          <p:cNvPr id="14" name="TextBox 13"/>
          <p:cNvSpPr txBox="1"/>
          <p:nvPr/>
        </p:nvSpPr>
        <p:spPr>
          <a:xfrm>
            <a:off x="8030260" y="3145536"/>
            <a:ext cx="3429914"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vLLM and friends actually generate the tokens, on whichever accelerator and in whichever location policy allowed.</a:t>
            </a:r>
          </a:p>
        </p:txBody>
      </p:sp>
      <p:sp>
        <p:nvSpPr>
          <p:cNvPr id="15" name="TextBox 14"/>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8:00  ·  </a:t>
            </a:r>
            <a:r>
              <a:rPr sz="1000">
                <a:solidFill>
                  <a:srgbClr val="6E7D96"/>
                </a:solidFill>
                <a:latin typeface="Menlo"/>
              </a:rPr>
              <a:t>7 /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How it attaches: an Envoy external processor</a:t>
            </a:r>
          </a:p>
        </p:txBody>
      </p:sp>
      <p:sp>
        <p:nvSpPr>
          <p:cNvPr id="4" name="Rectangle 3"/>
          <p:cNvSpPr/>
          <p:nvPr/>
        </p:nvSpPr>
        <p:spPr>
          <a:xfrm>
            <a:off x="658368" y="1335024"/>
            <a:ext cx="50800" cy="694944"/>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335024"/>
            <a:ext cx="9966960" cy="694944"/>
          </a:xfrm>
          <a:prstGeom prst="rect">
            <a:avLst/>
          </a:prstGeom>
          <a:noFill/>
        </p:spPr>
        <p:txBody>
          <a:bodyPr wrap="square" anchor="t" lIns="0" rIns="0" tIns="0" bIns="0">
            <a:spAutoFit/>
          </a:bodyPr>
          <a:lstStyle/>
          <a:p>
            <a:pPr>
              <a:lnSpc>
                <a:spcPct val="130000"/>
              </a:lnSpc>
              <a:spcBef>
                <a:spcPts val="0"/>
              </a:spcBef>
              <a:spcAft>
                <a:spcPts val="0"/>
              </a:spcAft>
            </a:pPr>
            <a:r>
              <a:rPr sz="1800" b="1">
                <a:solidFill>
                  <a:srgbClr val="EEF3FA"/>
                </a:solidFill>
                <a:latin typeface="Helvetica Neue"/>
              </a:rPr>
              <a:t>Not a library in your request path. A gRPC external processor that Envoy consults mid-request.</a:t>
            </a:r>
          </a:p>
        </p:txBody>
      </p:sp>
      <p:sp>
        <p:nvSpPr>
          <p:cNvPr id="6" name="TextBox 5"/>
          <p:cNvSpPr txBox="1"/>
          <p:nvPr/>
        </p:nvSpPr>
        <p:spPr>
          <a:xfrm>
            <a:off x="658368" y="2340864"/>
            <a:ext cx="10241280" cy="2743200"/>
          </a:xfrm>
          <a:prstGeom prst="rect">
            <a:avLst/>
          </a:prstGeom>
          <a:noFill/>
        </p:spPr>
        <p:txBody>
          <a:bodyPr wrap="square" anchor="t" lIns="0" rIns="0" tIns="0" bIns="0">
            <a:spAutoFit/>
          </a:bodyPr>
          <a:lstStyle/>
          <a:p>
            <a:pPr>
              <a:lnSpc>
                <a:spcPct val="135000"/>
              </a:lnSpc>
              <a:spcBef>
                <a:spcPts val="0"/>
              </a:spcBef>
              <a:spcAft>
                <a:spcPts val="1100"/>
              </a:spcAft>
            </a:pPr>
            <a:r>
              <a:rPr sz="1450">
                <a:solidFill>
                  <a:srgbClr val="FF4D4D"/>
                </a:solidFill>
                <a:latin typeface="Helvetica Neue"/>
              </a:rPr>
              <a:t>▪   Envoy calls the router over gRPC; the router classifies and returns a decision.</a:t>
            </a:r>
          </a:p>
          <a:p>
            <a:pPr>
              <a:lnSpc>
                <a:spcPct val="135000"/>
              </a:lnSpc>
              <a:spcBef>
                <a:spcPts val="0"/>
              </a:spcBef>
              <a:spcAft>
                <a:spcPts val="1100"/>
              </a:spcAft>
            </a:pPr>
            <a:r>
              <a:rPr sz="1450">
                <a:solidFill>
                  <a:srgbClr val="FF4D4D"/>
                </a:solidFill>
                <a:latin typeface="Helvetica Neue"/>
              </a:rPr>
              <a:t>▪   It can answer immediately — a guardrail block or a cache hit never reaches a model at all.</a:t>
            </a:r>
          </a:p>
          <a:p>
            <a:pPr>
              <a:lnSpc>
                <a:spcPct val="135000"/>
              </a:lnSpc>
              <a:spcBef>
                <a:spcPts val="0"/>
              </a:spcBef>
              <a:spcAft>
                <a:spcPts val="1100"/>
              </a:spcAft>
            </a:pPr>
            <a:r>
              <a:rPr sz="1450">
                <a:solidFill>
                  <a:srgbClr val="FF4D4D"/>
                </a:solidFill>
                <a:latin typeface="Helvetica Neue"/>
              </a:rPr>
              <a:t>▪   Otherwise it sets x-selected-model and Envoy forwards to that model's cluster.</a:t>
            </a:r>
          </a:p>
          <a:p>
            <a:pPr>
              <a:lnSpc>
                <a:spcPct val="135000"/>
              </a:lnSpc>
              <a:spcBef>
                <a:spcPts val="0"/>
              </a:spcBef>
              <a:spcAft>
                <a:spcPts val="1100"/>
              </a:spcAft>
            </a:pPr>
            <a:r>
              <a:rPr sz="1450">
                <a:solidFill>
                  <a:srgbClr val="FF4D4D"/>
                </a:solidFill>
                <a:latin typeface="Helvetica Neue"/>
              </a:rPr>
              <a:t>▪   Standard Envoy, Kubernetes Gateway API, Istio. OpenAI- and Anthropic-compatible on the front.</a:t>
            </a:r>
          </a:p>
        </p:txBody>
      </p:sp>
      <p:sp>
        <p:nvSpPr>
          <p:cNvPr id="7" name="TextBox 6"/>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9:00  ·  </a:t>
            </a:r>
            <a:r>
              <a:rPr sz="1000">
                <a:solidFill>
                  <a:srgbClr val="6E7D96"/>
                </a:solidFill>
                <a:latin typeface="Menlo"/>
              </a:rPr>
              <a:t>8 /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The pipeline: five stages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Each stage has one job, and that separation is what makes the policy readable and auditable.</a:t>
            </a:r>
          </a:p>
        </p:txBody>
      </p:sp>
      <p:sp>
        <p:nvSpPr>
          <p:cNvPr id="5" name="Rectangle 4"/>
          <p:cNvSpPr/>
          <p:nvPr/>
        </p:nvSpPr>
        <p:spPr>
          <a:xfrm>
            <a:off x="658368" y="1938528"/>
            <a:ext cx="10874959" cy="25400"/>
          </a:xfrm>
          <a:prstGeom prst="rect">
            <a:avLst/>
          </a:prstGeom>
          <a:solidFill>
            <a:srgbClr val="2E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58368"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1</a:t>
            </a:r>
          </a:p>
        </p:txBody>
      </p:sp>
      <p:sp>
        <p:nvSpPr>
          <p:cNvPr id="7" name="TextBox 6"/>
          <p:cNvSpPr txBox="1"/>
          <p:nvPr/>
        </p:nvSpPr>
        <p:spPr>
          <a:xfrm>
            <a:off x="658368"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Signals</a:t>
            </a:r>
          </a:p>
        </p:txBody>
      </p:sp>
      <p:sp>
        <p:nvSpPr>
          <p:cNvPr id="8" name="TextBox 7"/>
          <p:cNvSpPr txBox="1"/>
          <p:nvPr/>
        </p:nvSpPr>
        <p:spPr>
          <a:xfrm>
            <a:off x="658368"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Extract facts from the request, conversation, identity and content. Signals describe; they never choose a backend.</a:t>
            </a:r>
          </a:p>
        </p:txBody>
      </p:sp>
      <p:sp>
        <p:nvSpPr>
          <p:cNvPr id="9" name="Oval 8"/>
          <p:cNvSpPr/>
          <p:nvPr/>
        </p:nvSpPr>
        <p:spPr>
          <a:xfrm>
            <a:off x="2869935"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2</a:t>
            </a:r>
          </a:p>
        </p:txBody>
      </p:sp>
      <p:sp>
        <p:nvSpPr>
          <p:cNvPr id="10" name="TextBox 9"/>
          <p:cNvSpPr txBox="1"/>
          <p:nvPr/>
        </p:nvSpPr>
        <p:spPr>
          <a:xfrm>
            <a:off x="2869935"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Projections</a:t>
            </a:r>
          </a:p>
        </p:txBody>
      </p:sp>
      <p:sp>
        <p:nvSpPr>
          <p:cNvPr id="11" name="TextBox 10"/>
          <p:cNvSpPr txBox="1"/>
          <p:nvPr/>
        </p:nvSpPr>
        <p:spPr>
          <a:xfrm>
            <a:off x="2869935"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Coordinate evidence. Combine several signal outputs into one reusable result.</a:t>
            </a:r>
          </a:p>
        </p:txBody>
      </p:sp>
      <p:sp>
        <p:nvSpPr>
          <p:cNvPr id="12" name="Oval 11"/>
          <p:cNvSpPr/>
          <p:nvPr/>
        </p:nvSpPr>
        <p:spPr>
          <a:xfrm>
            <a:off x="5081503"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3</a:t>
            </a:r>
          </a:p>
        </p:txBody>
      </p:sp>
      <p:sp>
        <p:nvSpPr>
          <p:cNvPr id="13" name="TextBox 12"/>
          <p:cNvSpPr txBox="1"/>
          <p:nvPr/>
        </p:nvSpPr>
        <p:spPr>
          <a:xfrm>
            <a:off x="5081503"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Decisions</a:t>
            </a:r>
          </a:p>
        </p:txBody>
      </p:sp>
      <p:sp>
        <p:nvSpPr>
          <p:cNvPr id="14" name="TextBox 13"/>
          <p:cNvSpPr txBox="1"/>
          <p:nvPr/>
        </p:nvSpPr>
        <p:spPr>
          <a:xfrm>
            <a:off x="5081503"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Apply policy. Boolean rules over signals and projections, resolved by priority.</a:t>
            </a:r>
          </a:p>
        </p:txBody>
      </p:sp>
      <p:sp>
        <p:nvSpPr>
          <p:cNvPr id="15" name="Oval 14"/>
          <p:cNvSpPr/>
          <p:nvPr/>
        </p:nvSpPr>
        <p:spPr>
          <a:xfrm>
            <a:off x="7293071"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4</a:t>
            </a:r>
          </a:p>
        </p:txBody>
      </p:sp>
      <p:sp>
        <p:nvSpPr>
          <p:cNvPr id="16" name="TextBox 15"/>
          <p:cNvSpPr txBox="1"/>
          <p:nvPr/>
        </p:nvSpPr>
        <p:spPr>
          <a:xfrm>
            <a:off x="7293071"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Algorithms</a:t>
            </a:r>
          </a:p>
        </p:txBody>
      </p:sp>
      <p:sp>
        <p:nvSpPr>
          <p:cNvPr id="17" name="TextBox 16"/>
          <p:cNvSpPr txBox="1"/>
          <p:nvPr/>
        </p:nvSpPr>
        <p:spPr>
          <a:xfrm>
            <a:off x="7293071"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Select one model, or coordinate several across a cascade, panel or multi-round workflow.</a:t>
            </a:r>
          </a:p>
        </p:txBody>
      </p:sp>
      <p:sp>
        <p:nvSpPr>
          <p:cNvPr id="18" name="Oval 17"/>
          <p:cNvSpPr/>
          <p:nvPr/>
        </p:nvSpPr>
        <p:spPr>
          <a:xfrm>
            <a:off x="9504639"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5</a:t>
            </a:r>
          </a:p>
        </p:txBody>
      </p:sp>
      <p:sp>
        <p:nvSpPr>
          <p:cNvPr id="19" name="TextBox 18"/>
          <p:cNvSpPr txBox="1"/>
          <p:nvPr/>
        </p:nvSpPr>
        <p:spPr>
          <a:xfrm>
            <a:off x="9504639"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Model pools</a:t>
            </a:r>
          </a:p>
        </p:txBody>
      </p:sp>
      <p:sp>
        <p:nvSpPr>
          <p:cNvPr id="20" name="TextBox 19"/>
          <p:cNvSpPr txBox="1"/>
          <p:nvPr/>
        </p:nvSpPr>
        <p:spPr>
          <a:xfrm>
            <a:off x="9504639"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Execute. Providers bind logical model names to physical endpoints.</a:t>
            </a:r>
          </a:p>
        </p:txBody>
      </p:sp>
      <p:sp>
        <p:nvSpPr>
          <p:cNvPr id="21" name="TextBox 20"/>
          <p:cNvSpPr txBox="1"/>
          <p:nvPr/>
        </p:nvSpPr>
        <p:spPr>
          <a:xfrm>
            <a:off x="658368" y="6382512"/>
            <a:ext cx="6400800" cy="274320"/>
          </a:xfrm>
          <a:prstGeom prst="rect">
            <a:avLst/>
          </a:prstGeom>
          <a:noFill/>
        </p:spPr>
        <p:txBody>
          <a:bodyPr wrap="square" anchor="t" lIns="0" rIns="0" tIns="0" bIns="0">
            <a:spAutoFit/>
          </a:bodyPr>
          <a:lstStyle/>
          <a:p>
            <a:pPr>
              <a:spcBef>
                <a:spcPts val="0"/>
              </a:spcBef>
              <a:spcAft>
                <a:spcPts val="0"/>
              </a:spcAft>
            </a:pPr>
            <a:r>
              <a:rPr sz="900" b="0">
                <a:solidFill>
                  <a:srgbClr val="6E7D96"/>
                </a:solidFill>
                <a:latin typeface="Menlo"/>
              </a:rPr>
              <a:t>vllm-sr.ai/docs/overview/signal-driven-decisions</a:t>
            </a:r>
          </a:p>
        </p:txBody>
      </p:sp>
      <p:sp>
        <p:nvSpPr>
          <p:cNvPr id="22" name="TextBox 21"/>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10:00  ·  </a:t>
            </a:r>
            <a:r>
              <a:rPr sz="1000">
                <a:solidFill>
                  <a:srgbClr val="6E7D96"/>
                </a:solidFill>
                <a:latin typeface="Menlo"/>
              </a:rPr>
              <a:t>9 /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Stage 1 — Signals, and the models behind them</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Deterministic rules and small fine-tuned classifiers sit side by side. All of it on CPU, in the router pod.</a:t>
            </a:r>
          </a:p>
        </p:txBody>
      </p:sp>
      <p:sp>
        <p:nvSpPr>
          <p:cNvPr id="5" name="Rectangle 4"/>
          <p:cNvSpPr/>
          <p:nvPr/>
        </p:nvSpPr>
        <p:spPr>
          <a:xfrm>
            <a:off x="658368"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Deterministic</a:t>
            </a:r>
          </a:p>
        </p:txBody>
      </p:sp>
      <p:sp>
        <p:nvSpPr>
          <p:cNvPr id="8" name="TextBox 7"/>
          <p:cNvSpPr txBox="1"/>
          <p:nvPr/>
        </p:nvSpPr>
        <p:spPr>
          <a:xfrm>
            <a:off x="859536"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Keyword lists, metadata predicates, context-length bands. Cheap, auditable, trivially explained to a compliance team — and trivially evaded.</a:t>
            </a:r>
          </a:p>
        </p:txBody>
      </p:sp>
      <p:sp>
        <p:nvSpPr>
          <p:cNvPr id="9" name="Rectangle 8"/>
          <p:cNvSpPr/>
          <p:nvPr/>
        </p:nvSpPr>
        <p:spPr>
          <a:xfrm>
            <a:off x="4350410"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Learned</a:t>
            </a:r>
          </a:p>
        </p:txBody>
      </p:sp>
      <p:sp>
        <p:nvSpPr>
          <p:cNvPr id="12" name="TextBox 11"/>
          <p:cNvSpPr txBox="1"/>
          <p:nvPr/>
        </p:nvSpPr>
        <p:spPr>
          <a:xfrm>
            <a:off x="4551578"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The Vela-1.0-Encoder-307M family, which is the project's mmBERT encoder — our router logs it as model_type "mmbert". Domain (14 labels), Guard (benign/jailbreak), PII (35 BIO token tags over 17 entity types), plus an embedding model for routing and the cache.</a:t>
            </a:r>
          </a:p>
        </p:txBody>
      </p:sp>
      <p:sp>
        <p:nvSpPr>
          <p:cNvPr id="13" name="Rectangle 12"/>
          <p:cNvSpPr/>
          <p:nvPr/>
        </p:nvSpPr>
        <p:spPr>
          <a:xfrm>
            <a:off x="8042452"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Swappable</a:t>
            </a:r>
          </a:p>
        </p:txBody>
      </p:sp>
      <p:sp>
        <p:nvSpPr>
          <p:cNvPr id="16" name="TextBox 15"/>
          <p:cNvSpPr txBox="1"/>
          <p:nvPr/>
        </p:nvSpPr>
        <p:spPr>
          <a:xfrm>
            <a:off x="8243620"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Each is just a model_id in the config. Point it at your own fine-tune and it loads that instead — the project's own complexity classifier went 80.4% to 98.5% that way.</a:t>
            </a:r>
          </a:p>
        </p:txBody>
      </p:sp>
      <p:sp>
        <p:nvSpPr>
          <p:cNvPr id="17" name="Rectangle 16"/>
          <p:cNvSpPr/>
          <p:nvPr/>
        </p:nvSpPr>
        <p:spPr>
          <a:xfrm>
            <a:off x="658368" y="4398264"/>
            <a:ext cx="10874959" cy="47548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398264"/>
            <a:ext cx="50800" cy="47548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17136"/>
            <a:ext cx="10472623" cy="23774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Signals describe facts. They do not choose the backend.</a:t>
            </a:r>
          </a:p>
        </p:txBody>
      </p:sp>
      <p:sp>
        <p:nvSpPr>
          <p:cNvPr id="20" name="TextBox 19"/>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11:00  ·  </a:t>
            </a:r>
            <a:r>
              <a:rPr sz="1000">
                <a:solidFill>
                  <a:srgbClr val="6E7D96"/>
                </a:solidFill>
                <a:latin typeface="Menlo"/>
              </a:rPr>
              <a:t>10 /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Stage 3 — Decisions apply policy</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Boolean rules with arbitrary nesting. Priority resolves conflicts — the highest-priority matching decision wins.</a:t>
            </a:r>
          </a:p>
        </p:txBody>
      </p:sp>
      <p:sp>
        <p:nvSpPr>
          <p:cNvPr id="5" name="Rectangle 4"/>
          <p:cNvSpPr/>
          <p:nvPr/>
        </p:nvSpPr>
        <p:spPr>
          <a:xfrm>
            <a:off x="658368"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Our ladder, top to bottom</a:t>
            </a:r>
          </a:p>
        </p:txBody>
      </p:sp>
      <p:sp>
        <p:nvSpPr>
          <p:cNvPr id="8" name="TextBox 7"/>
          <p:cNvSpPr txBox="1"/>
          <p:nvPr/>
        </p:nvSpPr>
        <p:spPr>
          <a:xfrm>
            <a:off x="859536"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Guardrails first — PII, unsafe content, jailbreak. Then policy overrides, like an urgent security review. Then difficulty. Then intent. Anything that matches nothing falls through to the small model.</a:t>
            </a:r>
          </a:p>
        </p:txBody>
      </p:sp>
      <p:sp>
        <p:nvSpPr>
          <p:cNvPr id="9" name="Rectangle 8"/>
          <p:cNvSpPr/>
          <p:nvPr/>
        </p:nvSpPr>
        <p:spPr>
          <a:xfrm>
            <a:off x="4350410"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Eligibility before optimisation</a:t>
            </a:r>
          </a:p>
        </p:txBody>
      </p:sp>
      <p:sp>
        <p:nvSpPr>
          <p:cNvPr id="12" name="TextBox 11"/>
          <p:cNvSpPr txBox="1"/>
          <p:nvPr/>
        </p:nvSpPr>
        <p:spPr>
          <a:xfrm>
            <a:off x="4551578"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Authorization, local-only processing, modality and context capacity make a route eligible or ineligible before any optimiser compares cost or latency.</a:t>
            </a:r>
          </a:p>
        </p:txBody>
      </p:sp>
      <p:sp>
        <p:nvSpPr>
          <p:cNvPr id="13" name="Rectangle 12"/>
          <p:cNvSpPr/>
          <p:nvPr/>
        </p:nvSpPr>
        <p:spPr>
          <a:xfrm>
            <a:off x="8042452"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Detection is not enforcement</a:t>
            </a:r>
          </a:p>
        </p:txBody>
      </p:sp>
      <p:sp>
        <p:nvSpPr>
          <p:cNvPr id="16" name="TextBox 15"/>
          <p:cNvSpPr txBox="1"/>
          <p:nvPr/>
        </p:nvSpPr>
        <p:spPr>
          <a:xfrm>
            <a:off x="8243620"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A PII signal reports a match. The decision chooses whether to block, reroute to a local-only model, redact, or merely observe. The same detector, different policy per recipe.</a:t>
            </a:r>
          </a:p>
        </p:txBody>
      </p:sp>
      <p:sp>
        <p:nvSpPr>
          <p:cNvPr id="17" name="Rectangle 16"/>
          <p:cNvSpPr/>
          <p:nvPr/>
        </p:nvSpPr>
        <p:spPr>
          <a:xfrm>
            <a:off x="658368" y="4398264"/>
            <a:ext cx="10874959" cy="47548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398264"/>
            <a:ext cx="50800" cy="47548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17136"/>
            <a:ext cx="10472623" cy="23774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Guardrails sit far above routing, deliberately — no cost optimisation can ever outrank a safety rule.</a:t>
            </a:r>
          </a:p>
        </p:txBody>
      </p:sp>
      <p:sp>
        <p:nvSpPr>
          <p:cNvPr id="20" name="TextBox 19"/>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12:30  ·  </a:t>
            </a:r>
            <a:r>
              <a:rPr sz="1000">
                <a:solidFill>
                  <a:srgbClr val="6E7D96"/>
                </a:solidFill>
                <a:latin typeface="Menlo"/>
              </a:rPr>
              <a:t>11 /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Stages 2 &amp; 4 — Projections and Algorithms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The two stages most demos skip. Projections make policy readable; algorithms make it more than a switch statement.</a:t>
            </a:r>
          </a:p>
        </p:txBody>
      </p:sp>
      <p:sp>
        <p:nvSpPr>
          <p:cNvPr id="5" name="Rectangle 4"/>
          <p:cNvSpPr/>
          <p:nvPr/>
        </p:nvSpPr>
        <p:spPr>
          <a:xfrm>
            <a:off x="658368"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Projections</a:t>
            </a:r>
          </a:p>
        </p:txBody>
      </p:sp>
      <p:sp>
        <p:nvSpPr>
          <p:cNvPr id="8" name="TextBox 7"/>
          <p:cNvSpPr txBox="1"/>
          <p:nvPr/>
        </p:nvSpPr>
        <p:spPr>
          <a:xfrm>
            <a:off x="859536"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Partitions pick a coherent winner among overlapping matches. Scores combine weighted inputs. Mappings turn a score into named bands. Define a difficulty score once, reference it from ten decisions.</a:t>
            </a:r>
          </a:p>
        </p:txBody>
      </p:sp>
      <p:sp>
        <p:nvSpPr>
          <p:cNvPr id="9" name="Rectangle 8"/>
          <p:cNvSpPr/>
          <p:nvPr/>
        </p:nvSpPr>
        <p:spPr>
          <a:xfrm>
            <a:off x="4350410"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Selection algorithms</a:t>
            </a:r>
          </a:p>
        </p:txBody>
      </p:sp>
      <p:sp>
        <p:nvSpPr>
          <p:cNvPr id="12" name="TextBox 11"/>
          <p:cNvSpPr txBox="1"/>
          <p:nvPr/>
        </p:nvSpPr>
        <p:spPr>
          <a:xfrm>
            <a:off x="4551578"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Pick one candidate — fixed order, semantic fit, measured latency, multi-factor, or Elo-style learning from feedback. Our demo runs the simplest: static.</a:t>
            </a:r>
          </a:p>
        </p:txBody>
      </p:sp>
      <p:sp>
        <p:nvSpPr>
          <p:cNvPr id="13" name="Rectangle 12"/>
          <p:cNvSpPr/>
          <p:nvPr/>
        </p:nvSpPr>
        <p:spPr>
          <a:xfrm>
            <a:off x="8042452"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Looper algorithms</a:t>
            </a:r>
          </a:p>
        </p:txBody>
      </p:sp>
      <p:sp>
        <p:nvSpPr>
          <p:cNvPr id="16" name="TextBox 15"/>
          <p:cNvSpPr txBox="1"/>
          <p:nvPr/>
        </p:nvSpPr>
        <p:spPr>
          <a:xfrm>
            <a:off x="8243620"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Coordinate several models for one request. SELECT, CASCADE (escalate on confidence), FUSION (compare and synthesise), WORKFLOW (planner, thinker, worker, verifier).</a:t>
            </a:r>
          </a:p>
        </p:txBody>
      </p:sp>
      <p:sp>
        <p:nvSpPr>
          <p:cNvPr id="17" name="Rectangle 16"/>
          <p:cNvSpPr/>
          <p:nvPr/>
        </p:nvSpPr>
        <p:spPr>
          <a:xfrm>
            <a:off x="658368" y="4398264"/>
            <a:ext cx="10874959" cy="47548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398264"/>
            <a:ext cx="50800" cy="47548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17136"/>
            <a:ext cx="10472623" cy="23774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quality = routing × diversity × verification × contract</a:t>
            </a:r>
          </a:p>
        </p:txBody>
      </p:sp>
      <p:sp>
        <p:nvSpPr>
          <p:cNvPr id="20" name="TextBox 19"/>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14:00  ·  </a:t>
            </a:r>
            <a:r>
              <a:rPr sz="1000">
                <a:solidFill>
                  <a:srgbClr val="6E7D96"/>
                </a:solidFill>
                <a:latin typeface="Menlo"/>
              </a:rPr>
              <a:t>12 /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Recipes: policy you can adopt with one string</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A recipe owns its own signals, projections, decisions, algorithms, plugins and cache namespace. An entrypoint picks which one handles a request.</a:t>
            </a:r>
          </a:p>
        </p:txBody>
      </p:sp>
      <p:graphicFrame>
        <p:nvGraphicFramePr>
          <p:cNvPr id="5" name="Table 4"/>
          <p:cNvGraphicFramePr>
            <a:graphicFrameLocks noGrp="1"/>
          </p:cNvGraphicFramePr>
          <p:nvPr/>
        </p:nvGraphicFramePr>
        <p:xfrm>
          <a:off x="658368" y="1938528"/>
          <a:ext cx="10874959" cy="3200400"/>
        </p:xfrm>
        <a:graphic>
          <a:graphicData uri="http://schemas.openxmlformats.org/drawingml/2006/table">
            <a:tbl>
              <a:tblPr firstRow="1" bandRow="1">
                <a:tableStyleId>{5C22544A-7EE6-4342-B048-85BDC9FD1C3A}</a:tableStyleId>
              </a:tblPr>
              <a:tblGrid>
                <a:gridCol w="1554480"/>
                <a:gridCol w="2651760"/>
                <a:gridCol w="6668719"/>
              </a:tblGrid>
              <a:tr h="533400">
                <a:tc>
                  <a:txBody>
                    <a:bodyPr wrap="square"/>
                    <a:lstStyle/>
                    <a:p>
                      <a:pPr>
                        <a:spcBef>
                          <a:spcPts val="0"/>
                        </a:spcBef>
                        <a:spcAft>
                          <a:spcPts val="0"/>
                        </a:spcAft>
                      </a:pPr>
                      <a:r>
                        <a:rPr sz="1000" b="1">
                          <a:solidFill>
                            <a:srgbClr val="FF4D4D"/>
                          </a:solidFill>
                          <a:latin typeface="Helvetica Neue"/>
                        </a:rPr>
                        <a:t>RECIPE</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VIRTUAL MODEL</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OPTIMISES FOR</a:t>
                      </a:r>
                    </a:p>
                  </a:txBody>
                  <a:tcPr marL="91440" marR="9144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Balance</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Menlo"/>
                        </a:rPr>
                        <a:t>vllm-sr/mom-v1-blend</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Difficulty, consequential advice, answer recovery</a:t>
                      </a:r>
                    </a:p>
                  </a:txBody>
                  <a:tcPr marL="91440" marR="91440" marT="45720" marB="45720">
                    <a:solidFill>
                      <a:srgbClr val="151B26"/>
                    </a:solidFill>
                  </a:tcPr>
                </a:tc>
              </a:tr>
              <a:tr h="533400">
                <a:tc>
                  <a:txBody>
                    <a:bodyPr wrap="square"/>
                    <a:lstStyle/>
                    <a:p>
                      <a:pPr>
                        <a:lnSpc>
                          <a:spcPct val="125000"/>
                        </a:lnSpc>
                        <a:spcBef>
                          <a:spcPts val="0"/>
                        </a:spcBef>
                        <a:spcAft>
                          <a:spcPts val="0"/>
                        </a:spcAft>
                      </a:pPr>
                      <a:r>
                        <a:rPr sz="1100" b="1">
                          <a:solidFill>
                            <a:srgbClr val="EEF3FA"/>
                          </a:solidFill>
                          <a:latin typeface="Helvetica Neue"/>
                        </a:rPr>
                        <a:t>Speed</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Menlo"/>
                        </a:rPr>
                        <a:t>vllm-sr/mom-v1-flash</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Lighter signal set, lowest added latency</a:t>
                      </a:r>
                    </a:p>
                  </a:txBody>
                  <a:tcPr marL="91440" marR="91440" marT="45720" marB="4572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Cost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Menlo"/>
                        </a:rPr>
                        <a:t>vllm-sr/mom-v1-lite</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Lighter signal set, cheapest viable path</a:t>
                      </a:r>
                    </a:p>
                  </a:txBody>
                  <a:tcPr marL="91440" marR="91440" marT="45720" marB="45720">
                    <a:solidFill>
                      <a:srgbClr val="151B26"/>
                    </a:solidFill>
                  </a:tcPr>
                </a:tc>
              </a:tr>
              <a:tr h="533400">
                <a:tc>
                  <a:txBody>
                    <a:bodyPr wrap="square"/>
                    <a:lstStyle/>
                    <a:p>
                      <a:pPr>
                        <a:lnSpc>
                          <a:spcPct val="125000"/>
                        </a:lnSpc>
                        <a:spcBef>
                          <a:spcPts val="0"/>
                        </a:spcBef>
                        <a:spcAft>
                          <a:spcPts val="0"/>
                        </a:spcAft>
                      </a:pPr>
                      <a:r>
                        <a:rPr sz="1100" b="1">
                          <a:solidFill>
                            <a:srgbClr val="EEF3FA"/>
                          </a:solidFill>
                          <a:latin typeface="Helvetica Neue"/>
                        </a:rPr>
                        <a:t>Accuracy</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Menlo"/>
                        </a:rPr>
                        <a:t>vllm-sr/mom-v1-ultra</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Usually one strong model</a:t>
                      </a:r>
                    </a:p>
                  </a:txBody>
                  <a:tcPr marL="91440" marR="91440" marT="45720" marB="4572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Vault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Menlo"/>
                        </a:rPr>
                        <a:t>vllm-sr/mom-v1-vault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Privacy — Guard and PII on Vela 2.0 0.3B</a:t>
                      </a:r>
                    </a:p>
                  </a:txBody>
                  <a:tcPr marL="91440" marR="91440" marT="45720" marB="45720">
                    <a:solidFill>
                      <a:srgbClr val="151B26"/>
                    </a:solidFill>
                  </a:tcPr>
                </a:tc>
              </a:tr>
            </a:tbl>
          </a:graphicData>
        </a:graphic>
      </p:graphicFrame>
      <p:sp>
        <p:nvSpPr>
          <p:cNvPr id="6" name="TextBox 5"/>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15:00  ·  </a:t>
            </a:r>
            <a:r>
              <a:rPr sz="1000">
                <a:solidFill>
                  <a:srgbClr val="6E7D96"/>
                </a:solidFill>
                <a:latin typeface="Menlo"/>
              </a:rPr>
              <a:t>13 /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What the project reports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Figures from the project's own in-house benchmarks. Not independently reproduced, and not measured by us — re-validate against your own workload before you quote them.</a:t>
            </a:r>
          </a:p>
        </p:txBody>
      </p:sp>
      <p:graphicFrame>
        <p:nvGraphicFramePr>
          <p:cNvPr id="5" name="Table 4"/>
          <p:cNvGraphicFramePr>
            <a:graphicFrameLocks noGrp="1"/>
          </p:cNvGraphicFramePr>
          <p:nvPr/>
        </p:nvGraphicFramePr>
        <p:xfrm>
          <a:off x="658368" y="1938528"/>
          <a:ext cx="10874959" cy="3200400"/>
        </p:xfrm>
        <a:graphic>
          <a:graphicData uri="http://schemas.openxmlformats.org/drawingml/2006/table">
            <a:tbl>
              <a:tblPr firstRow="1" bandRow="1">
                <a:tableStyleId>{5C22544A-7EE6-4342-B048-85BDC9FD1C3A}</a:tableStyleId>
              </a:tblPr>
              <a:tblGrid>
                <a:gridCol w="1554480"/>
                <a:gridCol w="2651760"/>
                <a:gridCol w="6668719"/>
              </a:tblGrid>
              <a:tr h="457200">
                <a:tc>
                  <a:txBody>
                    <a:bodyPr wrap="square"/>
                    <a:lstStyle/>
                    <a:p>
                      <a:pPr>
                        <a:spcBef>
                          <a:spcPts val="0"/>
                        </a:spcBef>
                        <a:spcAft>
                          <a:spcPts val="0"/>
                        </a:spcAft>
                      </a:pPr>
                      <a:r>
                        <a:rPr sz="1000" b="1">
                          <a:solidFill>
                            <a:srgbClr val="FF4D4D"/>
                          </a:solidFill>
                          <a:latin typeface="Helvetica Neue"/>
                        </a:rPr>
                        <a:t>METRIC</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REPORTED</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CONTEXT</a:t>
                      </a:r>
                    </a:p>
                  </a:txBody>
                  <a:tcPr marL="91440" marR="91440">
                    <a:solidFill>
                      <a:srgbClr val="0B0E14"/>
                    </a:solidFill>
                  </a:tcPr>
                </a:tc>
              </a:tr>
              <a:tr h="457200">
                <a:tc>
                  <a:txBody>
                    <a:bodyPr wrap="square"/>
                    <a:lstStyle/>
                    <a:p>
                      <a:pPr>
                        <a:lnSpc>
                          <a:spcPct val="125000"/>
                        </a:lnSpc>
                        <a:spcBef>
                          <a:spcPts val="0"/>
                        </a:spcBef>
                        <a:spcAft>
                          <a:spcPts val="0"/>
                        </a:spcAft>
                      </a:pPr>
                      <a:r>
                        <a:rPr sz="1100" b="1">
                          <a:solidFill>
                            <a:srgbClr val="EEF3FA"/>
                          </a:solidFill>
                          <a:latin typeface="Helvetica Neue"/>
                        </a:rPr>
                        <a:t>Traffic kept local</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86%</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Simple queries to free local models instead of cloud APIs</a:t>
                      </a:r>
                    </a:p>
                  </a:txBody>
                  <a:tcPr marL="91440" marR="91440" marT="45720" marB="45720">
                    <a:solidFill>
                      <a:srgbClr val="151B26"/>
                    </a:solidFill>
                  </a:tcPr>
                </a:tc>
              </a:tr>
              <a:tr h="457200">
                <a:tc>
                  <a:txBody>
                    <a:bodyPr wrap="square"/>
                    <a:lstStyle/>
                    <a:p>
                      <a:pPr>
                        <a:lnSpc>
                          <a:spcPct val="125000"/>
                        </a:lnSpc>
                        <a:spcBef>
                          <a:spcPts val="0"/>
                        </a:spcBef>
                        <a:spcAft>
                          <a:spcPts val="0"/>
                        </a:spcAft>
                      </a:pPr>
                      <a:r>
                        <a:rPr sz="1100" b="1">
                          <a:solidFill>
                            <a:srgbClr val="EEF3FA"/>
                          </a:solidFill>
                          <a:latin typeface="Helvetica Neue"/>
                        </a:rPr>
                        <a:t>Routing latency</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40 ms P50</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In-house benchmark — ~0.4% overhead against inference</a:t>
                      </a:r>
                    </a:p>
                  </a:txBody>
                  <a:tcPr marL="91440" marR="91440" marT="45720" marB="45720">
                    <a:solidFill>
                      <a:srgbClr val="0B0E14"/>
                    </a:solidFill>
                  </a:tcPr>
                </a:tc>
              </a:tr>
              <a:tr h="457200">
                <a:tc>
                  <a:txBody>
                    <a:bodyPr wrap="square"/>
                    <a:lstStyle/>
                    <a:p>
                      <a:pPr>
                        <a:lnSpc>
                          <a:spcPct val="125000"/>
                        </a:lnSpc>
                        <a:spcBef>
                          <a:spcPts val="0"/>
                        </a:spcBef>
                        <a:spcAft>
                          <a:spcPts val="0"/>
                        </a:spcAft>
                      </a:pPr>
                      <a:r>
                        <a:rPr sz="1100" b="1">
                          <a:solidFill>
                            <a:srgbClr val="EEF3FA"/>
                          </a:solidFill>
                          <a:latin typeface="Helvetica Neue"/>
                        </a:rPr>
                        <a:t>Complexity accuracy</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80.4% → 98.5%</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Pretrained MiniLM vs their fine-tune; misrouting 19.6% → 1.5%</a:t>
                      </a:r>
                    </a:p>
                  </a:txBody>
                  <a:tcPr marL="91440" marR="91440" marT="45720" marB="45720">
                    <a:solidFill>
                      <a:srgbClr val="151B26"/>
                    </a:solidFill>
                  </a:tcPr>
                </a:tc>
              </a:tr>
              <a:tr h="457200">
                <a:tc>
                  <a:txBody>
                    <a:bodyPr wrap="square"/>
                    <a:lstStyle/>
                    <a:p>
                      <a:pPr>
                        <a:lnSpc>
                          <a:spcPct val="125000"/>
                        </a:lnSpc>
                        <a:spcBef>
                          <a:spcPts val="0"/>
                        </a:spcBef>
                        <a:spcAft>
                          <a:spcPts val="0"/>
                        </a:spcAft>
                      </a:pPr>
                      <a:r>
                        <a:rPr sz="1100" b="1">
                          <a:solidFill>
                            <a:srgbClr val="EEF3FA"/>
                          </a:solidFill>
                          <a:latin typeface="Helvetica Neue"/>
                        </a:rPr>
                        <a:t>Fine-tune cost</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&lt; 2 h on CPU</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23M-parameter model, drops in as a model swap</a:t>
                      </a:r>
                    </a:p>
                  </a:txBody>
                  <a:tcPr marL="91440" marR="91440" marT="45720" marB="45720">
                    <a:solidFill>
                      <a:srgbClr val="0B0E14"/>
                    </a:solidFill>
                  </a:tcPr>
                </a:tc>
              </a:tr>
              <a:tr h="457200">
                <a:tc>
                  <a:txBody>
                    <a:bodyPr wrap="square"/>
                    <a:lstStyle/>
                    <a:p>
                      <a:pPr>
                        <a:lnSpc>
                          <a:spcPct val="125000"/>
                        </a:lnSpc>
                        <a:spcBef>
                          <a:spcPts val="0"/>
                        </a:spcBef>
                        <a:spcAft>
                          <a:spcPts val="0"/>
                        </a:spcAft>
                      </a:pPr>
                      <a:r>
                        <a:rPr sz="1100" b="1">
                          <a:solidFill>
                            <a:srgbClr val="EEF3FA"/>
                          </a:solidFill>
                          <a:latin typeface="Helvetica Neue"/>
                        </a:rPr>
                        <a:t>Selection algorithms</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11</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Static through Elo and Thompson sampling</a:t>
                      </a:r>
                    </a:p>
                  </a:txBody>
                  <a:tcPr marL="91440" marR="91440" marT="45720" marB="45720">
                    <a:solidFill>
                      <a:srgbClr val="151B26"/>
                    </a:solidFill>
                  </a:tcPr>
                </a:tc>
              </a:tr>
              <a:tr h="457200">
                <a:tc>
                  <a:txBody>
                    <a:bodyPr wrap="square"/>
                    <a:lstStyle/>
                    <a:p>
                      <a:pPr>
                        <a:lnSpc>
                          <a:spcPct val="125000"/>
                        </a:lnSpc>
                        <a:spcBef>
                          <a:spcPts val="0"/>
                        </a:spcBef>
                        <a:spcAft>
                          <a:spcPts val="0"/>
                        </a:spcAft>
                      </a:pPr>
                      <a:r>
                        <a:rPr sz="1100" b="1">
                          <a:solidFill>
                            <a:srgbClr val="EEF3FA"/>
                          </a:solidFill>
                          <a:latin typeface="Helvetica Neue"/>
                        </a:rPr>
                        <a:t>Test-time scaling</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LiveCodeBench 92.6 · GPQA-Diamond 96.0</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A router improving on the models it routes to</a:t>
                      </a:r>
                    </a:p>
                  </a:txBody>
                  <a:tcPr marL="91440" marR="91440" marT="45720" marB="45720">
                    <a:solidFill>
                      <a:srgbClr val="0B0E14"/>
                    </a:solidFill>
                  </a:tcPr>
                </a:tc>
              </a:tr>
            </a:tbl>
          </a:graphicData>
        </a:graphic>
      </p:graphicFrame>
      <p:sp>
        <p:nvSpPr>
          <p:cNvPr id="6" name="TextBox 5"/>
          <p:cNvSpPr txBox="1"/>
          <p:nvPr/>
        </p:nvSpPr>
        <p:spPr>
          <a:xfrm>
            <a:off x="658368" y="6382512"/>
            <a:ext cx="6400800" cy="274320"/>
          </a:xfrm>
          <a:prstGeom prst="rect">
            <a:avLst/>
          </a:prstGeom>
          <a:noFill/>
        </p:spPr>
        <p:txBody>
          <a:bodyPr wrap="square" anchor="t" lIns="0" rIns="0" tIns="0" bIns="0">
            <a:spAutoFit/>
          </a:bodyPr>
          <a:lstStyle/>
          <a:p>
            <a:pPr>
              <a:spcBef>
                <a:spcPts val="0"/>
              </a:spcBef>
              <a:spcAft>
                <a:spcPts val="0"/>
              </a:spcAft>
            </a:pPr>
            <a:r>
              <a:rPr sz="900" b="0">
                <a:solidFill>
                  <a:srgbClr val="6E7D96"/>
                </a:solidFill>
                <a:latin typeface="Menlo"/>
              </a:rPr>
              <a:t>project in-house benchmarks, via Aayush Saini — not independently reproduced</a:t>
            </a:r>
          </a:p>
        </p:txBody>
      </p:sp>
      <p:sp>
        <p:nvSpPr>
          <p:cNvPr id="7" name="TextBox 6"/>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16:00  ·  </a:t>
            </a:r>
            <a:r>
              <a:rPr sz="1000">
                <a:solidFill>
                  <a:srgbClr val="6E7D96"/>
                </a:solidFill>
                <a:latin typeface="Menlo"/>
              </a:rPr>
              <a:t>14 /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What we measured</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Everything below came off the cluster behind this demo. Including the parts that did not work.</a:t>
            </a:r>
          </a:p>
        </p:txBody>
      </p:sp>
      <p:graphicFrame>
        <p:nvGraphicFramePr>
          <p:cNvPr id="5" name="Table 4"/>
          <p:cNvGraphicFramePr>
            <a:graphicFrameLocks noGrp="1"/>
          </p:cNvGraphicFramePr>
          <p:nvPr/>
        </p:nvGraphicFramePr>
        <p:xfrm>
          <a:off x="658368" y="1938528"/>
          <a:ext cx="10874959" cy="3200400"/>
        </p:xfrm>
        <a:graphic>
          <a:graphicData uri="http://schemas.openxmlformats.org/drawingml/2006/table">
            <a:tbl>
              <a:tblPr firstRow="1" bandRow="1">
                <a:tableStyleId>{5C22544A-7EE6-4342-B048-85BDC9FD1C3A}</a:tableStyleId>
              </a:tblPr>
              <a:tblGrid>
                <a:gridCol w="1554480"/>
                <a:gridCol w="2651760"/>
                <a:gridCol w="6668719"/>
              </a:tblGrid>
              <a:tr h="457200">
                <a:tc>
                  <a:txBody>
                    <a:bodyPr wrap="square"/>
                    <a:lstStyle/>
                    <a:p>
                      <a:pPr>
                        <a:spcBef>
                          <a:spcPts val="0"/>
                        </a:spcBef>
                        <a:spcAft>
                          <a:spcPts val="0"/>
                        </a:spcAft>
                      </a:pPr>
                      <a:r>
                        <a:rPr sz="1000" b="1">
                          <a:solidFill>
                            <a:srgbClr val="FF4D4D"/>
                          </a:solidFill>
                          <a:latin typeface="Helvetica Neue"/>
                        </a:rPr>
                        <a:t>FINDING</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MEASURED</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SO WHAT</a:t>
                      </a:r>
                    </a:p>
                  </a:txBody>
                  <a:tcPr marL="91440" marR="91440">
                    <a:solidFill>
                      <a:srgbClr val="0B0E14"/>
                    </a:solidFill>
                  </a:tcPr>
                </a:tc>
              </a:tr>
              <a:tr h="457200">
                <a:tc>
                  <a:txBody>
                    <a:bodyPr wrap="square"/>
                    <a:lstStyle/>
                    <a:p>
                      <a:pPr>
                        <a:lnSpc>
                          <a:spcPct val="125000"/>
                        </a:lnSpc>
                        <a:spcBef>
                          <a:spcPts val="0"/>
                        </a:spcBef>
                        <a:spcAft>
                          <a:spcPts val="0"/>
                        </a:spcAft>
                      </a:pPr>
                      <a:r>
                        <a:rPr sz="1100" b="1">
                          <a:solidFill>
                            <a:srgbClr val="EEF3FA"/>
                          </a:solidFill>
                          <a:latin typeface="Helvetica Neue"/>
                        </a:rPr>
                        <a:t>Routing overhead</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192 ms, all signals on CPU</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~19% on a 1 s request, under 3% on a 7 s one. Not comparable to the project's 40 ms in-house figure — different hardware, and we run every signal family, with fact_check alone costing 178 ms</a:t>
                      </a:r>
                    </a:p>
                  </a:txBody>
                  <a:tcPr marL="91440" marR="91440" marT="45720" marB="45720">
                    <a:solidFill>
                      <a:srgbClr val="151B26"/>
                    </a:solidFill>
                  </a:tcPr>
                </a:tc>
              </a:tr>
              <a:tr h="457200">
                <a:tc>
                  <a:txBody>
                    <a:bodyPr wrap="square"/>
                    <a:lstStyle/>
                    <a:p>
                      <a:pPr>
                        <a:lnSpc>
                          <a:spcPct val="125000"/>
                        </a:lnSpc>
                        <a:spcBef>
                          <a:spcPts val="0"/>
                        </a:spcBef>
                        <a:spcAft>
                          <a:spcPts val="0"/>
                        </a:spcAft>
                      </a:pPr>
                      <a:r>
                        <a:rPr sz="1100" b="1">
                          <a:solidFill>
                            <a:srgbClr val="EEF3FA"/>
                          </a:solidFill>
                          <a:latin typeface="Helvetica Neue"/>
                        </a:rPr>
                        <a:t>Guardrail block</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~900 ms, no GPU touched</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Answered by the router itself; a jailbreak costs no inference</a:t>
                      </a:r>
                    </a:p>
                  </a:txBody>
                  <a:tcPr marL="91440" marR="91440" marT="45720" marB="45720">
                    <a:solidFill>
                      <a:srgbClr val="0B0E14"/>
                    </a:solidFill>
                  </a:tcPr>
                </a:tc>
              </a:tr>
              <a:tr h="457200">
                <a:tc>
                  <a:txBody>
                    <a:bodyPr wrap="square"/>
                    <a:lstStyle/>
                    <a:p>
                      <a:pPr>
                        <a:lnSpc>
                          <a:spcPct val="125000"/>
                        </a:lnSpc>
                        <a:spcBef>
                          <a:spcPts val="0"/>
                        </a:spcBef>
                        <a:spcAft>
                          <a:spcPts val="0"/>
                        </a:spcAft>
                      </a:pPr>
                      <a:r>
                        <a:rPr sz="1100" b="1">
                          <a:solidFill>
                            <a:srgbClr val="EEF3FA"/>
                          </a:solidFill>
                          <a:latin typeface="Helvetica Neue"/>
                        </a:rPr>
                        <a:t>Cache hit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6.9 s → 0.75 s</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10× on an identical repeat</a:t>
                      </a:r>
                    </a:p>
                  </a:txBody>
                  <a:tcPr marL="91440" marR="91440" marT="45720" marB="45720">
                    <a:solidFill>
                      <a:srgbClr val="151B26"/>
                    </a:solidFill>
                  </a:tcPr>
                </a:tc>
              </a:tr>
              <a:tr h="457200">
                <a:tc>
                  <a:txBody>
                    <a:bodyPr wrap="square"/>
                    <a:lstStyle/>
                    <a:p>
                      <a:pPr>
                        <a:lnSpc>
                          <a:spcPct val="125000"/>
                        </a:lnSpc>
                        <a:spcBef>
                          <a:spcPts val="0"/>
                        </a:spcBef>
                        <a:spcAft>
                          <a:spcPts val="0"/>
                        </a:spcAft>
                      </a:pPr>
                      <a:r>
                        <a:rPr sz="1100" b="1">
                          <a:solidFill>
                            <a:srgbClr val="EEF3FA"/>
                          </a:solidFill>
                          <a:latin typeface="Helvetica Neue"/>
                        </a:rPr>
                        <a:t>Cache precision</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1.0000 identical · 0.9650 wrong question · 0.8555 true paraphrase</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The wrong question outscores the paraphrase. At 0.95 it served an append/extend answer to an insert/remove question. Runs at 0.99</a:t>
                      </a:r>
                    </a:p>
                  </a:txBody>
                  <a:tcPr marL="91440" marR="91440" marT="45720" marB="45720">
                    <a:solidFill>
                      <a:srgbClr val="0B0E14"/>
                    </a:solidFill>
                  </a:tcPr>
                </a:tc>
              </a:tr>
              <a:tr h="457200">
                <a:tc>
                  <a:txBody>
                    <a:bodyPr wrap="square"/>
                    <a:lstStyle/>
                    <a:p>
                      <a:pPr>
                        <a:lnSpc>
                          <a:spcPct val="125000"/>
                        </a:lnSpc>
                        <a:spcBef>
                          <a:spcPts val="0"/>
                        </a:spcBef>
                        <a:spcAft>
                          <a:spcPts val="0"/>
                        </a:spcAft>
                      </a:pPr>
                      <a:r>
                        <a:rPr sz="1100" b="1">
                          <a:solidFill>
                            <a:srgbClr val="EEF3FA"/>
                          </a:solidFill>
                          <a:latin typeface="Helvetica Neue"/>
                        </a:rPr>
                        <a:t>PII over-blocking</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"starts on Monday" and "capital of France"</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Blocked as DATE_TIME and GPE until we set an entity-type allow-list</a:t>
                      </a:r>
                    </a:p>
                  </a:txBody>
                  <a:tcPr marL="91440" marR="91440" marT="45720" marB="45720">
                    <a:solidFill>
                      <a:srgbClr val="151B26"/>
                    </a:solidFill>
                  </a:tcPr>
                </a:tc>
              </a:tr>
              <a:tr h="457200">
                <a:tc>
                  <a:txBody>
                    <a:bodyPr wrap="square"/>
                    <a:lstStyle/>
                    <a:p>
                      <a:pPr>
                        <a:lnSpc>
                          <a:spcPct val="125000"/>
                        </a:lnSpc>
                        <a:spcBef>
                          <a:spcPts val="0"/>
                        </a:spcBef>
                        <a:spcAft>
                          <a:spcPts val="0"/>
                        </a:spcAft>
                      </a:pPr>
                      <a:r>
                        <a:rPr sz="1100" b="1">
                          <a:solidFill>
                            <a:srgbClr val="EEF3FA"/>
                          </a:solidFill>
                          <a:latin typeface="Helvetica Neue"/>
                        </a:rPr>
                        <a:t>Classifier footprint</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10.3 GB RAM, 5 CPU processes</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One process per Vela model; 8 GB OOMs</a:t>
                      </a:r>
                    </a:p>
                  </a:txBody>
                  <a:tcPr marL="91440" marR="91440" marT="45720" marB="45720">
                    <a:solidFill>
                      <a:srgbClr val="0B0E14"/>
                    </a:solidFill>
                  </a:tcPr>
                </a:tc>
              </a:tr>
            </a:tbl>
          </a:graphicData>
        </a:graphic>
      </p:graphicFrame>
      <p:sp>
        <p:nvSpPr>
          <p:cNvPr id="6" name="TextBox 5"/>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17:00  ·  </a:t>
            </a:r>
            <a:r>
              <a:rPr sz="1000">
                <a:solidFill>
                  <a:srgbClr val="6E7D96"/>
                </a:solidFill>
                <a:latin typeface="Menlo"/>
              </a:rPr>
              <a:t>15 /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Routing is not enough</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Defence in depth. Routing covers ingress; it cannot be the only control.</a:t>
            </a:r>
          </a:p>
        </p:txBody>
      </p:sp>
      <p:sp>
        <p:nvSpPr>
          <p:cNvPr id="5" name="Rectangle 4"/>
          <p:cNvSpPr/>
          <p:nvPr/>
        </p:nvSpPr>
        <p:spPr>
          <a:xfrm>
            <a:off x="658368"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1. Semantic routing</a:t>
            </a:r>
          </a:p>
        </p:txBody>
      </p:sp>
      <p:sp>
        <p:nvSpPr>
          <p:cNvPr id="8" name="TextBox 7"/>
          <p:cNvSpPr txBox="1"/>
          <p:nvPr/>
        </p:nvSpPr>
        <p:spPr>
          <a:xfrm>
            <a:off x="859536"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Classifies and places the majority of requests correctly, before any GPU work. Cheap, fast, and the first line.</a:t>
            </a:r>
          </a:p>
        </p:txBody>
      </p:sp>
      <p:sp>
        <p:nvSpPr>
          <p:cNvPr id="9" name="Rectangle 8"/>
          <p:cNvSpPr/>
          <p:nvPr/>
        </p:nvSpPr>
        <p:spPr>
          <a:xfrm>
            <a:off x="4350410"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2. Evaluation &amp; guardrails</a:t>
            </a:r>
          </a:p>
        </p:txBody>
      </p:sp>
      <p:sp>
        <p:nvSpPr>
          <p:cNvPr id="12" name="TextBox 11"/>
          <p:cNvSpPr txBox="1"/>
          <p:nvPr/>
        </p:nvSpPr>
        <p:spPr>
          <a:xfrm>
            <a:off x="4551578"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Catch what routing misclassifies. Classification is probabilistic — plan for the tail, do not pretend it is not there.</a:t>
            </a:r>
          </a:p>
        </p:txBody>
      </p:sp>
      <p:sp>
        <p:nvSpPr>
          <p:cNvPr id="13" name="Rectangle 12"/>
          <p:cNvSpPr/>
          <p:nvPr/>
        </p:nvSpPr>
        <p:spPr>
          <a:xfrm>
            <a:off x="8042452"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3. Egress controls</a:t>
            </a:r>
          </a:p>
        </p:txBody>
      </p:sp>
      <p:sp>
        <p:nvSpPr>
          <p:cNvPr id="16" name="TextBox 15"/>
          <p:cNvSpPr txBox="1"/>
          <p:nvPr/>
        </p:nvSpPr>
        <p:spPr>
          <a:xfrm>
            <a:off x="8243620"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Filter sensitive content out of responses. A local model can still emit PII; routing never saw the answer, only the question.</a:t>
            </a:r>
          </a:p>
        </p:txBody>
      </p:sp>
      <p:sp>
        <p:nvSpPr>
          <p:cNvPr id="17" name="Rectangle 16"/>
          <p:cNvSpPr/>
          <p:nvPr/>
        </p:nvSpPr>
        <p:spPr>
          <a:xfrm>
            <a:off x="658368" y="4398264"/>
            <a:ext cx="10874959" cy="65836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398264"/>
            <a:ext cx="50800" cy="65836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17136"/>
            <a:ext cx="10472623" cy="42062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Sensitivity tiers in practice: Critical (PII, accounts) on-prem only with audit · High on-prem preferred · Medium cloud with DLP · Low anywhere.</a:t>
            </a:r>
          </a:p>
        </p:txBody>
      </p:sp>
      <p:sp>
        <p:nvSpPr>
          <p:cNvPr id="20" name="TextBox 19"/>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18:00  ·  </a:t>
            </a:r>
            <a:r>
              <a:rPr sz="1000">
                <a:solidFill>
                  <a:srgbClr val="6E7D96"/>
                </a:solidFill>
                <a:latin typeface="Menlo"/>
              </a:rPr>
              <a:t>16 /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Where this bites hardest: agents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An agent is not one request. It is a loop.</a:t>
            </a:r>
          </a:p>
        </p:txBody>
      </p:sp>
      <p:sp>
        <p:nvSpPr>
          <p:cNvPr id="5" name="Rectangle 4"/>
          <p:cNvSpPr/>
          <p:nvPr/>
        </p:nvSpPr>
        <p:spPr>
          <a:xfrm>
            <a:off x="658368" y="1700784"/>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700784"/>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1938528"/>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The multiplier</a:t>
            </a:r>
          </a:p>
        </p:txBody>
      </p:sp>
      <p:sp>
        <p:nvSpPr>
          <p:cNvPr id="8" name="TextBox 7"/>
          <p:cNvSpPr txBox="1"/>
          <p:nvPr/>
        </p:nvSpPr>
        <p:spPr>
          <a:xfrm>
            <a:off x="859536" y="2414016"/>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A single agent task generates 10–50+ model calls. Without routing, every one of them hits the same expensive model.</a:t>
            </a:r>
          </a:p>
        </p:txBody>
      </p:sp>
      <p:sp>
        <p:nvSpPr>
          <p:cNvPr id="9" name="Rectangle 8"/>
          <p:cNvSpPr/>
          <p:nvPr/>
        </p:nvSpPr>
        <p:spPr>
          <a:xfrm>
            <a:off x="4350410" y="1700784"/>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700784"/>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1938528"/>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The saving</a:t>
            </a:r>
          </a:p>
        </p:txBody>
      </p:sp>
      <p:sp>
        <p:nvSpPr>
          <p:cNvPr id="12" name="TextBox 11"/>
          <p:cNvSpPr txBox="1"/>
          <p:nvPr/>
        </p:nvSpPr>
        <p:spPr>
          <a:xfrm>
            <a:off x="4551578" y="2414016"/>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Each call reaches the right model at the right cost — the project reports 80%+ reduction, and the easy sub-tasks come back in milliseconds from a local model.</a:t>
            </a:r>
          </a:p>
        </p:txBody>
      </p:sp>
      <p:sp>
        <p:nvSpPr>
          <p:cNvPr id="13" name="Rectangle 12"/>
          <p:cNvSpPr/>
          <p:nvPr/>
        </p:nvSpPr>
        <p:spPr>
          <a:xfrm>
            <a:off x="8042452" y="1700784"/>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700784"/>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1938528"/>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The safety case</a:t>
            </a:r>
          </a:p>
        </p:txBody>
      </p:sp>
      <p:sp>
        <p:nvSpPr>
          <p:cNvPr id="16" name="TextBox 15"/>
          <p:cNvSpPr txBox="1"/>
          <p:nvPr/>
        </p:nvSpPr>
        <p:spPr>
          <a:xfrm>
            <a:off x="8243620" y="2414016"/>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Every call in the loop passes the same classification. One policy covers an agent you did not write and cannot inspect.</a:t>
            </a:r>
          </a:p>
        </p:txBody>
      </p:sp>
      <p:sp>
        <p:nvSpPr>
          <p:cNvPr id="17" name="Rectangle 16"/>
          <p:cNvSpPr/>
          <p:nvPr/>
        </p:nvSpPr>
        <p:spPr>
          <a:xfrm>
            <a:off x="658368" y="4160520"/>
            <a:ext cx="10874959" cy="47548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160520"/>
            <a:ext cx="50800" cy="47548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279392"/>
            <a:ext cx="10472623" cy="23774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Agents do not need to know about model selection. They send model: "auto".</a:t>
            </a:r>
          </a:p>
        </p:txBody>
      </p:sp>
      <p:sp>
        <p:nvSpPr>
          <p:cNvPr id="20" name="TextBox 19"/>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18:45  ·  </a:t>
            </a:r>
            <a:r>
              <a:rPr sz="1000">
                <a:solidFill>
                  <a:srgbClr val="6E7D96"/>
                </a:solidFill>
                <a:latin typeface="Menlo"/>
              </a:rPr>
              <a:t>17 /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vLLM-SR and llm-d answer different questions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Complementary, not competing. Most confusion about either one dissolves here.</a:t>
            </a:r>
          </a:p>
        </p:txBody>
      </p:sp>
      <p:sp>
        <p:nvSpPr>
          <p:cNvPr id="5" name="Rectangle 4"/>
          <p:cNvSpPr/>
          <p:nvPr/>
        </p:nvSpPr>
        <p:spPr>
          <a:xfrm>
            <a:off x="658368" y="1938528"/>
            <a:ext cx="5318607" cy="320040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5318607" cy="475488"/>
          </a:xfrm>
          <a:prstGeom prst="rect">
            <a:avLst/>
          </a:prstGeom>
          <a:solidFill>
            <a:srgbClr val="1E26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938528"/>
            <a:ext cx="50800" cy="475488"/>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057400"/>
            <a:ext cx="4879695" cy="329184"/>
          </a:xfrm>
          <a:prstGeom prst="rect">
            <a:avLst/>
          </a:prstGeom>
          <a:noFill/>
        </p:spPr>
        <p:txBody>
          <a:bodyPr wrap="square" anchor="t" lIns="0" rIns="0" tIns="0" bIns="0">
            <a:spAutoFit/>
          </a:bodyPr>
          <a:lstStyle/>
          <a:p>
            <a:pPr>
              <a:spcBef>
                <a:spcPts val="0"/>
              </a:spcBef>
              <a:spcAft>
                <a:spcPts val="0"/>
              </a:spcAft>
            </a:pPr>
            <a:r>
              <a:rPr sz="1500" b="1">
                <a:solidFill>
                  <a:srgbClr val="4DD6C8"/>
                </a:solidFill>
                <a:latin typeface="Helvetica Neue"/>
              </a:rPr>
              <a:t>vLLM-SR — the model picker</a:t>
            </a:r>
          </a:p>
        </p:txBody>
      </p:sp>
      <p:sp>
        <p:nvSpPr>
          <p:cNvPr id="9" name="TextBox 8"/>
          <p:cNvSpPr txBox="1"/>
          <p:nvPr/>
        </p:nvSpPr>
        <p:spPr>
          <a:xfrm>
            <a:off x="877824" y="2560320"/>
            <a:ext cx="4879695" cy="2377440"/>
          </a:xfrm>
          <a:prstGeom prst="rect">
            <a:avLst/>
          </a:prstGeom>
          <a:noFill/>
        </p:spPr>
        <p:txBody>
          <a:bodyPr wrap="square" anchor="t" lIns="0" rIns="0" tIns="0" bIns="0">
            <a:spAutoFit/>
          </a:bodyPr>
          <a:lstStyle/>
          <a:p>
            <a:pPr>
              <a:lnSpc>
                <a:spcPct val="135000"/>
              </a:lnSpc>
              <a:spcBef>
                <a:spcPts val="0"/>
              </a:spcBef>
              <a:spcAft>
                <a:spcPts val="1000"/>
              </a:spcAft>
            </a:pPr>
            <a:r>
              <a:rPr sz="1200" b="0">
                <a:solidFill>
                  <a:srgbClr val="A3B0C6"/>
                </a:solidFill>
                <a:latin typeface="Helvetica Neue"/>
              </a:rPr>
              <a:t>Question: what model should handle this?</a:t>
            </a:r>
          </a:p>
          <a:p>
            <a:pPr>
              <a:lnSpc>
                <a:spcPct val="135000"/>
              </a:lnSpc>
              <a:spcBef>
                <a:spcPts val="0"/>
              </a:spcBef>
              <a:spcAft>
                <a:spcPts val="1000"/>
              </a:spcAft>
            </a:pPr>
            <a:r>
              <a:rPr sz="1200" b="0">
                <a:solidFill>
                  <a:srgbClr val="A3B0C6"/>
                </a:solidFill>
                <a:latin typeface="Helvetica Neue"/>
              </a:rPr>
              <a:t>Routes to entirely different base models.</a:t>
            </a:r>
          </a:p>
          <a:p>
            <a:pPr>
              <a:lnSpc>
                <a:spcPct val="135000"/>
              </a:lnSpc>
              <a:spcBef>
                <a:spcPts val="0"/>
              </a:spcBef>
              <a:spcAft>
                <a:spcPts val="1000"/>
              </a:spcAft>
            </a:pPr>
            <a:r>
              <a:rPr sz="1200" b="0">
                <a:solidFill>
                  <a:srgbClr val="A3B0C6"/>
                </a:solidFill>
                <a:latin typeface="Helvetica Neue"/>
              </a:rPr>
              <a:t>Logic: semantics, policy rules, intent, safety.</a:t>
            </a:r>
          </a:p>
          <a:p>
            <a:pPr>
              <a:lnSpc>
                <a:spcPct val="135000"/>
              </a:lnSpc>
              <a:spcBef>
                <a:spcPts val="0"/>
              </a:spcBef>
              <a:spcAft>
                <a:spcPts val="1000"/>
              </a:spcAft>
            </a:pPr>
            <a:r>
              <a:rPr sz="1200" b="0">
                <a:solidFill>
                  <a:srgbClr val="A3B0C6"/>
                </a:solidFill>
                <a:latin typeface="Helvetica Neue"/>
              </a:rPr>
              <a:t>Output: a declared model and a rewritten request.</a:t>
            </a:r>
          </a:p>
        </p:txBody>
      </p:sp>
      <p:sp>
        <p:nvSpPr>
          <p:cNvPr id="10" name="Rectangle 9"/>
          <p:cNvSpPr/>
          <p:nvPr/>
        </p:nvSpPr>
        <p:spPr>
          <a:xfrm>
            <a:off x="6214719" y="1938528"/>
            <a:ext cx="5318607" cy="320040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4719" y="1938528"/>
            <a:ext cx="5318607" cy="475488"/>
          </a:xfrm>
          <a:prstGeom prst="rect">
            <a:avLst/>
          </a:prstGeom>
          <a:solidFill>
            <a:srgbClr val="1E26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4719" y="1938528"/>
            <a:ext cx="50800" cy="475488"/>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4175" y="2057400"/>
            <a:ext cx="4879695" cy="329184"/>
          </a:xfrm>
          <a:prstGeom prst="rect">
            <a:avLst/>
          </a:prstGeom>
          <a:noFill/>
        </p:spPr>
        <p:txBody>
          <a:bodyPr wrap="square" anchor="t" lIns="0" rIns="0" tIns="0" bIns="0">
            <a:spAutoFit/>
          </a:bodyPr>
          <a:lstStyle/>
          <a:p>
            <a:pPr>
              <a:spcBef>
                <a:spcPts val="0"/>
              </a:spcBef>
              <a:spcAft>
                <a:spcPts val="0"/>
              </a:spcAft>
            </a:pPr>
            <a:r>
              <a:rPr sz="1500" b="1">
                <a:solidFill>
                  <a:srgbClr val="FF4D4D"/>
                </a:solidFill>
                <a:latin typeface="Helvetica Neue"/>
              </a:rPr>
              <a:t>llm-d — the endpoint picker</a:t>
            </a:r>
          </a:p>
        </p:txBody>
      </p:sp>
      <p:sp>
        <p:nvSpPr>
          <p:cNvPr id="14" name="TextBox 13"/>
          <p:cNvSpPr txBox="1"/>
          <p:nvPr/>
        </p:nvSpPr>
        <p:spPr>
          <a:xfrm>
            <a:off x="6434175" y="2560320"/>
            <a:ext cx="4879695" cy="2377440"/>
          </a:xfrm>
          <a:prstGeom prst="rect">
            <a:avLst/>
          </a:prstGeom>
          <a:noFill/>
        </p:spPr>
        <p:txBody>
          <a:bodyPr wrap="square" anchor="t" lIns="0" rIns="0" tIns="0" bIns="0">
            <a:spAutoFit/>
          </a:bodyPr>
          <a:lstStyle/>
          <a:p>
            <a:pPr>
              <a:lnSpc>
                <a:spcPct val="135000"/>
              </a:lnSpc>
              <a:spcBef>
                <a:spcPts val="0"/>
              </a:spcBef>
              <a:spcAft>
                <a:spcPts val="1000"/>
              </a:spcAft>
            </a:pPr>
            <a:r>
              <a:rPr sz="1200" b="0">
                <a:solidFill>
                  <a:srgbClr val="A3B0C6"/>
                </a:solidFill>
                <a:latin typeface="Helvetica Neue"/>
              </a:rPr>
              <a:t>Question: where should this request execute?</a:t>
            </a:r>
          </a:p>
          <a:p>
            <a:pPr>
              <a:lnSpc>
                <a:spcPct val="135000"/>
              </a:lnSpc>
              <a:spcBef>
                <a:spcPts val="0"/>
              </a:spcBef>
              <a:spcAft>
                <a:spcPts val="1000"/>
              </a:spcAft>
            </a:pPr>
            <a:r>
              <a:rPr sz="1200" b="0">
                <a:solidFill>
                  <a:srgbClr val="A3B0C6"/>
                </a:solidFill>
                <a:latin typeface="Helvetica Neue"/>
              </a:rPr>
              <a:t>Routes among replicas serving the same model.</a:t>
            </a:r>
          </a:p>
          <a:p>
            <a:pPr>
              <a:lnSpc>
                <a:spcPct val="135000"/>
              </a:lnSpc>
              <a:spcBef>
                <a:spcPts val="0"/>
              </a:spcBef>
              <a:spcAft>
                <a:spcPts val="1000"/>
              </a:spcAft>
            </a:pPr>
            <a:r>
              <a:rPr sz="1200" b="0">
                <a:solidFill>
                  <a:srgbClr val="A3B0C6"/>
                </a:solidFill>
                <a:latin typeface="Helvetica Neue"/>
              </a:rPr>
              <a:t>Logic: load, continuous batching, KV-cache locality.</a:t>
            </a:r>
          </a:p>
          <a:p>
            <a:pPr>
              <a:lnSpc>
                <a:spcPct val="135000"/>
              </a:lnSpc>
              <a:spcBef>
                <a:spcPts val="0"/>
              </a:spcBef>
              <a:spcAft>
                <a:spcPts val="1000"/>
              </a:spcAft>
            </a:pPr>
            <a:r>
              <a:rPr sz="1200" b="0">
                <a:solidFill>
                  <a:srgbClr val="A3B0C6"/>
                </a:solidFill>
                <a:latin typeface="Helvetica Neue"/>
              </a:rPr>
              <a:t>Output: a specific physical GPU instance.</a:t>
            </a:r>
          </a:p>
        </p:txBody>
      </p:sp>
      <p:sp>
        <p:nvSpPr>
          <p:cNvPr id="15" name="TextBox 14"/>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19:15  ·  </a:t>
            </a:r>
            <a:r>
              <a:rPr sz="1000">
                <a:solidFill>
                  <a:srgbClr val="6E7D96"/>
                </a:solidFill>
                <a:latin typeface="Menlo"/>
              </a:rPr>
              <a:t>18 /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The demo: what is actually running</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vLLM Semantic Router on OpenShift AI, in front of two vLLM models on KServe. Everything you are about to see is live.</a:t>
            </a:r>
          </a:p>
        </p:txBody>
      </p:sp>
      <p:sp>
        <p:nvSpPr>
          <p:cNvPr id="5" name="Rectangle 4"/>
          <p:cNvSpPr/>
          <p:nvPr/>
        </p:nvSpPr>
        <p:spPr>
          <a:xfrm>
            <a:off x="658368"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Front door</a:t>
            </a:r>
          </a:p>
        </p:txBody>
      </p:sp>
      <p:sp>
        <p:nvSpPr>
          <p:cNvPr id="8" name="TextBox 7"/>
          <p:cNvSpPr txBox="1"/>
          <p:nvPr/>
        </p:nvSpPr>
        <p:spPr>
          <a:xfrm>
            <a:off x="859536"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OpenShift Route → Envoy → the router as a gRPC external processor in the same pod. One OpenAI-compatible endpoint; the client sends model: "auto".</a:t>
            </a:r>
          </a:p>
        </p:txBody>
      </p:sp>
      <p:sp>
        <p:nvSpPr>
          <p:cNvPr id="9" name="Rectangle 8"/>
          <p:cNvSpPr/>
          <p:nvPr/>
        </p:nvSpPr>
        <p:spPr>
          <a:xfrm>
            <a:off x="4350410"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Backends</a:t>
            </a:r>
          </a:p>
        </p:txBody>
      </p:sp>
      <p:sp>
        <p:nvSpPr>
          <p:cNvPr id="12" name="TextBox 11"/>
          <p:cNvSpPr txBox="1"/>
          <p:nvPr/>
        </p:nvSpPr>
        <p:spPr>
          <a:xfrm>
            <a:off x="4551578"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Qwen-2.5-7B-Instruct on an L40S for hard, urgent and quantitative work. Phi-3-mini on a T4 for everything else. Both served by vLLM on KServe.</a:t>
            </a:r>
          </a:p>
        </p:txBody>
      </p:sp>
      <p:sp>
        <p:nvSpPr>
          <p:cNvPr id="13" name="Rectangle 12"/>
          <p:cNvSpPr/>
          <p:nvPr/>
        </p:nvSpPr>
        <p:spPr>
          <a:xfrm>
            <a:off x="8042452"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The brain is CPU-only</a:t>
            </a:r>
          </a:p>
        </p:txBody>
      </p:sp>
      <p:sp>
        <p:nvSpPr>
          <p:cNvPr id="16" name="TextBox 15"/>
          <p:cNvSpPr txBox="1"/>
          <p:nvPr/>
        </p:nvSpPr>
        <p:spPr>
          <a:xfrm>
            <a:off x="8243620"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Five Vela processes and the Go router share one container on a plain worker with no GPU. The accelerators only ever generate tokens.</a:t>
            </a:r>
          </a:p>
        </p:txBody>
      </p:sp>
      <p:sp>
        <p:nvSpPr>
          <p:cNvPr id="17" name="TextBox 16"/>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6E7D96"/>
                </a:solidFill>
                <a:latin typeface="Menlo"/>
              </a:rPr>
              <a:t>19 /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Fifteen use cases, one click each</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Each declares the route it expects, so the console shows pass or fail against reality — including when it fails.</a:t>
            </a:r>
          </a:p>
        </p:txBody>
      </p:sp>
      <p:graphicFrame>
        <p:nvGraphicFramePr>
          <p:cNvPr id="5" name="Table 4"/>
          <p:cNvGraphicFramePr>
            <a:graphicFrameLocks noGrp="1"/>
          </p:cNvGraphicFramePr>
          <p:nvPr/>
        </p:nvGraphicFramePr>
        <p:xfrm>
          <a:off x="658368" y="1938528"/>
          <a:ext cx="10874959" cy="3200400"/>
        </p:xfrm>
        <a:graphic>
          <a:graphicData uri="http://schemas.openxmlformats.org/drawingml/2006/table">
            <a:tbl>
              <a:tblPr firstRow="1" bandRow="1">
                <a:tableStyleId>{5C22544A-7EE6-4342-B048-85BDC9FD1C3A}</a:tableStyleId>
              </a:tblPr>
              <a:tblGrid>
                <a:gridCol w="1554480"/>
                <a:gridCol w="2651760"/>
                <a:gridCol w="6668719"/>
              </a:tblGrid>
              <a:tr h="533400">
                <a:tc>
                  <a:txBody>
                    <a:bodyPr wrap="square"/>
                    <a:lstStyle/>
                    <a:p>
                      <a:pPr>
                        <a:spcBef>
                          <a:spcPts val="0"/>
                        </a:spcBef>
                        <a:spcAft>
                          <a:spcPts val="0"/>
                        </a:spcAft>
                      </a:pPr>
                      <a:r>
                        <a:rPr sz="1000" b="1">
                          <a:solidFill>
                            <a:srgbClr val="FF4D4D"/>
                          </a:solidFill>
                          <a:latin typeface="Helvetica Neue"/>
                        </a:rPr>
                        <a:t>GROUP</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WHAT IT SHOWS</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CASES</a:t>
                      </a:r>
                    </a:p>
                  </a:txBody>
                  <a:tcPr marL="91440" marR="9144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Intent routing</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Coding and math to the 7B model, general chat to the 3.8B. The client never changed.</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3</a:t>
                      </a:r>
                    </a:p>
                  </a:txBody>
                  <a:tcPr marL="91440" marR="91440" marT="45720" marB="45720">
                    <a:solidFill>
                      <a:srgbClr val="151B26"/>
                    </a:solidFill>
                  </a:tcPr>
                </a:tc>
              </a:tr>
              <a:tr h="533400">
                <a:tc>
                  <a:txBody>
                    <a:bodyPr wrap="square"/>
                    <a:lstStyle/>
                    <a:p>
                      <a:pPr>
                        <a:lnSpc>
                          <a:spcPct val="125000"/>
                        </a:lnSpc>
                        <a:spcBef>
                          <a:spcPts val="0"/>
                        </a:spcBef>
                        <a:spcAft>
                          <a:spcPts val="0"/>
                        </a:spcAft>
                      </a:pPr>
                      <a:r>
                        <a:rPr sz="1100" b="1">
                          <a:solidFill>
                            <a:srgbClr val="EEF3FA"/>
                          </a:solidFill>
                          <a:latin typeface="Helvetica Neue"/>
                        </a:rPr>
                        <a:t>Complexity scaling</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Same topic, graded by difficulty, routed in opposite directions.</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2</a:t>
                      </a:r>
                    </a:p>
                  </a:txBody>
                  <a:tcPr marL="91440" marR="91440" marT="45720" marB="4572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Policy &amp; priority</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Urgent security work overrides the cost optimiser; user pushback escalates and disables the cache.</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2</a:t>
                      </a:r>
                    </a:p>
                  </a:txBody>
                  <a:tcPr marL="91440" marR="91440" marT="45720" marB="45720">
                    <a:solidFill>
                      <a:srgbClr val="151B26"/>
                    </a:solidFill>
                  </a:tcPr>
                </a:tc>
              </a:tr>
              <a:tr h="533400">
                <a:tc>
                  <a:txBody>
                    <a:bodyPr wrap="square"/>
                    <a:lstStyle/>
                    <a:p>
                      <a:pPr>
                        <a:lnSpc>
                          <a:spcPct val="125000"/>
                        </a:lnSpc>
                        <a:spcBef>
                          <a:spcPts val="0"/>
                        </a:spcBef>
                        <a:spcAft>
                          <a:spcPts val="0"/>
                        </a:spcAft>
                      </a:pPr>
                      <a:r>
                        <a:rPr sz="1100" b="1">
                          <a:solidFill>
                            <a:srgbClr val="EEF3FA"/>
                          </a:solidFill>
                          <a:latin typeface="Helvetica Neue"/>
                        </a:rPr>
                        <a:t>Guardrails</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Keyword rules and ML classifiers, blocking in under a second with no GPU involved.</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5</a:t>
                      </a:r>
                    </a:p>
                  </a:txBody>
                  <a:tcPr marL="91440" marR="91440" marT="45720" marB="4572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Cache &amp; cost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A repeat in 0.75 s instead of 6.9 s, a near-miss correctly refused, and pinning a model to opt out.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3</a:t>
                      </a:r>
                    </a:p>
                  </a:txBody>
                  <a:tcPr marL="91440" marR="91440" marT="45720" marB="45720">
                    <a:solidFill>
                      <a:srgbClr val="151B26"/>
                    </a:solidFill>
                  </a:tcPr>
                </a:tc>
              </a:tr>
            </a:tbl>
          </a:graphicData>
        </a:graphic>
      </p:graphicFrame>
      <p:sp>
        <p:nvSpPr>
          <p:cNvPr id="6" name="TextBox 5"/>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6E7D96"/>
                </a:solidFill>
                <a:latin typeface="Menlo"/>
              </a:rPr>
              <a:t>20 /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2621127" y="1920240"/>
            <a:ext cx="6949440" cy="1463040"/>
          </a:xfrm>
          <a:prstGeom prst="rect">
            <a:avLst/>
          </a:prstGeom>
          <a:solidFill>
            <a:srgbClr val="1E2636"/>
          </a:solidFill>
          <a:ln w="1905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621127" y="1920240"/>
            <a:ext cx="6949440" cy="1463040"/>
          </a:xfrm>
          <a:prstGeom prst="rect">
            <a:avLst/>
          </a:prstGeom>
          <a:noFill/>
        </p:spPr>
        <p:txBody>
          <a:bodyPr wrap="square" anchor="ctr" lIns="0" rIns="0" tIns="0" bIns="0">
            <a:spAutoFit/>
          </a:bodyPr>
          <a:lstStyle/>
          <a:p>
            <a:pPr algn="ctr">
              <a:spcBef>
                <a:spcPts val="0"/>
              </a:spcBef>
              <a:spcAft>
                <a:spcPts val="0"/>
              </a:spcAft>
            </a:pPr>
            <a:r>
              <a:rPr sz="4000" b="1">
                <a:solidFill>
                  <a:srgbClr val="EEF3FA"/>
                </a:solidFill>
                <a:latin typeface="Menlo"/>
              </a:rPr>
              <a:t>&gt; ./run_demo.sh</a:t>
            </a:r>
          </a:p>
        </p:txBody>
      </p:sp>
      <p:sp>
        <p:nvSpPr>
          <p:cNvPr id="4" name="TextBox 3"/>
          <p:cNvSpPr txBox="1"/>
          <p:nvPr/>
        </p:nvSpPr>
        <p:spPr>
          <a:xfrm>
            <a:off x="658368" y="3657600"/>
            <a:ext cx="10874959" cy="457200"/>
          </a:xfrm>
          <a:prstGeom prst="rect">
            <a:avLst/>
          </a:prstGeom>
          <a:noFill/>
        </p:spPr>
        <p:txBody>
          <a:bodyPr wrap="square" anchor="t" lIns="0" rIns="0" tIns="0" bIns="0">
            <a:spAutoFit/>
          </a:bodyPr>
          <a:lstStyle/>
          <a:p>
            <a:pPr algn="ctr">
              <a:spcBef>
                <a:spcPts val="0"/>
              </a:spcBef>
              <a:spcAft>
                <a:spcPts val="0"/>
              </a:spcAft>
            </a:pPr>
            <a:r>
              <a:rPr sz="1600" b="1">
                <a:solidFill>
                  <a:srgbClr val="A3B0C6"/>
                </a:solidFill>
                <a:latin typeface="Helvetica Neue"/>
              </a:rPr>
              <a:t>Live demonstration</a:t>
            </a:r>
          </a:p>
        </p:txBody>
      </p:sp>
      <p:sp>
        <p:nvSpPr>
          <p:cNvPr id="5" name="TextBox 4"/>
          <p:cNvSpPr txBox="1"/>
          <p:nvPr/>
        </p:nvSpPr>
        <p:spPr>
          <a:xfrm>
            <a:off x="658368" y="4343400"/>
            <a:ext cx="10874959" cy="1280160"/>
          </a:xfrm>
          <a:prstGeom prst="rect">
            <a:avLst/>
          </a:prstGeom>
          <a:noFill/>
        </p:spPr>
        <p:txBody>
          <a:bodyPr wrap="square" anchor="t" lIns="0" rIns="0" tIns="0" bIns="0">
            <a:spAutoFit/>
          </a:bodyPr>
          <a:lstStyle/>
          <a:p>
            <a:pPr algn="ctr">
              <a:spcBef>
                <a:spcPts val="0"/>
              </a:spcBef>
              <a:spcAft>
                <a:spcPts val="700"/>
              </a:spcAft>
            </a:pPr>
            <a:r>
              <a:rPr sz="1200" b="0">
                <a:solidFill>
                  <a:srgbClr val="6E7D96"/>
                </a:solidFill>
                <a:latin typeface="Menlo"/>
              </a:rPr>
              <a:t>Project · vllm-sr.ai</a:t>
            </a:r>
          </a:p>
          <a:p>
            <a:pPr algn="ctr">
              <a:spcBef>
                <a:spcPts val="0"/>
              </a:spcBef>
              <a:spcAft>
                <a:spcPts val="700"/>
              </a:spcAft>
            </a:pPr>
            <a:r>
              <a:rPr sz="1200" b="0">
                <a:solidFill>
                  <a:srgbClr val="6E7D96"/>
                </a:solidFill>
                <a:latin typeface="Menlo"/>
              </a:rPr>
              <a:t>Upstream · github.com/vllm-project/semantic-router</a:t>
            </a:r>
          </a:p>
          <a:p>
            <a:pPr algn="ctr">
              <a:spcBef>
                <a:spcPts val="0"/>
              </a:spcBef>
              <a:spcAft>
                <a:spcPts val="700"/>
              </a:spcAft>
            </a:pPr>
            <a:r>
              <a:rPr sz="1200" b="0">
                <a:solidFill>
                  <a:srgbClr val="6E7D96"/>
                </a:solidFill>
                <a:latin typeface="Menlo"/>
              </a:rPr>
              <a:t>This demo · github.com/ritzshah/vllm-semantic-router-demo</a:t>
            </a:r>
          </a:p>
        </p:txBody>
      </p:sp>
      <p:sp>
        <p:nvSpPr>
          <p:cNvPr id="6" name="TextBox 5"/>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6E7D96"/>
                </a:solidFill>
                <a:latin typeface="Menlo"/>
              </a:rPr>
              <a:t>21 /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