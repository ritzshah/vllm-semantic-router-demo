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Thanks for coming. The next twenty minutes are slides, and then ten minutes of this running live on a cluster — not a recording.</a:t>
            </a:r>
          </a:p>
          <a:p/>
          <a:p>
            <a:r>
              <a:t>I want to start with a problem rather than a product, because the product only really makes sense once the problem is obvious. So give me five minutes before I tell you what this thing is.</a:t>
            </a:r>
          </a:p>
          <a:p/>
          <a:p>
            <a:r>
              <a:t>Quick show of hands — who is running more than one model in production today? [pause] Right. And who decides which one handles a given request? That's the talk.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couple of years ago the question was simple: which model is best? That question is basically dead now, because your estate fragments along four axes at the same time.</a:t>
            </a:r>
          </a:p>
          <a:p/>
          <a:p>
            <a:r>
              <a:t>First, the models themselves — large, small, hybrid reasoning, specialists, open and closed. Second, what they run on: CPU, GPU, NPU, mixed fleets, all with different cost and energy profiles. Third, location — cloud, your data centre, the edge. And for a lot of you that third one is a compliance question long before it's a performance question.</a:t>
            </a:r>
          </a:p>
          <a:p/>
          <a:p>
            <a:r>
              <a:t>And fourth, preference. Quality, latency, cost, privacy. Those conflict with each other, and the right trade-off is different per request — not per application.</a:t>
            </a:r>
          </a:p>
          <a:p/>
          <a:p>
            <a:r>
              <a:t>Now multiply those together. That's the space every single request has to be placed into. And today, without a routing layer, every application you own is navigating all four of those on its own, in code, separately.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what that costs in practice.</a:t>
            </a:r>
          </a:p>
          <a:p/>
          <a:p>
            <a:r>
              <a:t>Uber put five thousand engineers onto token-metered coding assistants. Eighty-four percent adoption — which, if you've ever tried to roll out a developer tool, is a spectacular success story. Right up until April. Month four of twelve, and the entire year's AI budget was gone.</a:t>
            </a:r>
          </a:p>
          <a:p/>
          <a:p>
            <a:r>
              <a:t>Their CTO: "I'm back to the drawing board — the budget I thought I would need is blown away already."</a:t>
            </a:r>
          </a:p>
          <a:p/>
          <a:p>
            <a:r>
              <a:t>I want to be careful here, because the easy reading is that somebody was careless. That's not it. Token-metered consumption with no routing layer has no natural ceiling. And the better your adoption, the faster you hit it. Success is what breaks the budget.</a:t>
            </a:r>
          </a:p>
          <a:p/>
          <a:p>
            <a:r>
              <a:t>This is a published case study, not my data — but I suspect some of you recognise the shape of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pull on that, you find four problems that look different and are actually the same bug.</a:t>
            </a:r>
          </a:p>
          <a:p/>
          <a:p>
            <a:r>
              <a:t>Unnecessary spend: a one-line question and a distributed-systems design problem cost exactly the same, because both of them named the same model.</a:t>
            </a:r>
          </a:p>
          <a:p/>
          <a:p>
            <a:r>
              <a:t>Data sovereignty: personal data, financial data, medical data walks out of your data centre to reach a cloud model — because nothing inspected it on the way out.</a:t>
            </a:r>
          </a:p>
          <a:p/>
          <a:p>
            <a:r>
              <a:t>Safety: jailbreak attempts go straight through to inference, because there's nothing between the prompt and the model. And latency: trivial requests sit in a queue behind heavy reasoning work on the same backend.</a:t>
            </a:r>
          </a:p>
          <a:p/>
          <a:p>
            <a:r>
              <a:t>One root cause. Your inference pipeline is content-blind. A load balancer has no idea what's inside the request it's forwarding — it's balancing bytes.</a:t>
            </a:r>
          </a:p>
          <a:p/>
          <a:p>
            <a:r>
              <a:t>And that's the thing to hold on to: you cannot enforce a policy you cannot see. If you want any of those four fixed, something has to read the request.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here's the idea, and it genuinely is one line.</a:t>
            </a:r>
          </a:p>
          <a:p/>
          <a:p>
            <a:r>
              <a:t>Read intent, domain, complexity and risk from the prompt and its context. Then compose the right model, the right mode, the right supporting capabilities.</a:t>
            </a:r>
          </a:p>
          <a:p/>
          <a:p>
            <a:r>
              <a:t>The part that matters if you actually have to ship this: your clients don't change. They send model "auto" over the ordinary OpenAI-compatible API. No SDK, no new library in your request path, no rewrite. In the demo later, my client is literally curl and a static HTML page.</a:t>
            </a:r>
          </a:p>
          <a:p/>
          <a:p>
            <a:r>
              <a:t>And the architectural payoff is the last line there. Intelligence moves upstream. The decision happens once, at the gateway, instead of being copied into every service you own — which means there's one place to change the policy, and critically, one place to audit 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detour, because these two get conflated constantly and they're not even the same layer of the stack.</a:t>
            </a:r>
          </a:p>
          <a:p/>
          <a:p>
            <a:r>
              <a:t>Mixture-of-Experts is an architecture pattern inside one model. Sparse expert activation across layers. Somebody else chose it at training time, and you cannot inspect or change that routing — it's baked into the weights.</a:t>
            </a:r>
          </a:p>
          <a:p/>
          <a:p>
            <a:r>
              <a:t>Mixture-of-Models is a system pattern across independent models that differ in architecture, training data, capability, and the hardware they sit on. You choose it, in configuration, at request time.</a:t>
            </a:r>
          </a:p>
          <a:p/>
          <a:p>
            <a:r>
              <a:t>If you take one slide away from today, take this one. MoE is someone else's decision baked into weights. MoM is your decision, in your config, and you can change it this afternoon.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I go further — where does this sit relative to what you already run?</a:t>
            </a:r>
          </a:p>
          <a:p/>
          <a:p>
            <a:r>
              <a:t>Three layers, one request path. The semantic router picks what logical model should handle this request, based on intent, complexity, privacy, modality. That happens at the gateway.</a:t>
            </a:r>
          </a:p>
          <a:p/>
          <a:p>
            <a:r>
              <a:t>Your serving layer — llm-d, the vLLM Production Stack, AIBrix, Dynamo — picks which replica runs it, based on load, queue depth, KV-cache locality.</a:t>
            </a:r>
          </a:p>
          <a:p/>
          <a:p>
            <a:r>
              <a:t>And then the backend actually generates the tokens, on whatever accelerator and in whatever location the policy allowed.</a:t>
            </a:r>
          </a:p>
          <a:p/>
          <a:p>
            <a:r>
              <a:t>So if you're already running one of those serving stacks: this goes in front of it, not instead of it. I'll come back to the llm-d relationship specifically at the end.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Mechanically, it's an Envoy external processor. It is not a library sitting in your request path.</a:t>
            </a:r>
          </a:p>
          <a:p/>
          <a:p>
            <a:r>
              <a:t>Envoy receives the request and calls the router over gRPC. The router classifies the prompt and hands back a decision. Sometimes it answers immediately — if a guardrail fires, or if it's seen this question before, the request never reaches a model at all. Otherwise it sets a header naming the chosen model, and Envoy forwards it to that model's cluster.</a:t>
            </a:r>
          </a:p>
          <a:p/>
          <a:p>
            <a:r>
              <a:t>That "never reaches a model" point pays off twice in the demo. Blocked requests come back in under a second, and cache hits in about seven hundred milliseconds, because no GPU is involved at all.</a:t>
            </a:r>
          </a:p>
          <a:p/>
          <a:p>
            <a:r>
              <a:t>And it composes with what you have: standard Envoy, Kubernetes Gateway API, Istio. OpenAI and Anthropic compatible on the front door.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Inside the router there are five stages, and each one has exactly one job. That separation is what makes the policy readable — and more importantly, auditable.</a:t>
            </a:r>
          </a:p>
          <a:p/>
          <a:p>
            <a:r>
              <a:t>Signals extract facts from the request. Projections combine those facts into something reusable. Decisions apply your policy. Algorithms select a model, or coordinate several. And model pools execute.</a:t>
            </a:r>
          </a:p>
          <a:p/>
          <a:p>
            <a:r>
              <a:t>I'm going to spend the next few minutes on three of these. And I'd flag stages two and four in particular — projections and algorithms — because those are the two that most demos skip entirely, and they're where this stops being a glorified if-statement.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Signals are facts extracted from the request. And the key thing is that two very different kinds of detection sit side by side.</a:t>
            </a:r>
          </a:p>
          <a:p/>
          <a:p>
            <a:r>
              <a:t>Deterministic signals are keyword lists and metadata predicates. They're cheap, they're auditable, you can explain them to a compliance team in one sentence — and they're trivially evaded.</a:t>
            </a:r>
          </a:p>
          <a:p/>
          <a:p>
            <a:r>
              <a:t>Learned signals are small fine-tuned classifiers. Domain classification across fourteen categories, a jailbreak detector, and a PII model that tags individual words across seventeen entity types. Plus an embedding model used for routing and for the cache. You'll see both kinds in the demo, and you'll see exactly why you want both.</a:t>
            </a:r>
          </a:p>
          <a:p/>
          <a:p>
            <a:r>
              <a:t>One naming note, because two names circulate: Vela is the project's branding for its mmBERT encoders. Same models.</a:t>
            </a:r>
          </a:p>
          <a:p/>
          <a:p>
            <a:r>
              <a:t>And all of these are just a model ID in a config file. Point it at your own fine-tune and it loads yours instead — the project took their own complexity classifier from eighty percent to ninety-eight that way.</a:t>
            </a:r>
          </a:p>
          <a:p/>
          <a:p>
            <a:r>
              <a:t>Last thing, and it's a design discipline that matters: signals describe facts. They never choose the backend. That's the next stage's job.</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Decisions are where your policy actually lives. Boolean rules, arbitrarily nested, over those signals. Priority resolves conflicts — highest matching rule wins.</a:t>
            </a:r>
          </a:p>
          <a:p/>
          <a:p>
            <a:r>
              <a:t>Our ladder, top to bottom, goes like this. Guardrails first: PII, unsafe content, jailbreak. Then policy overrides — things like an urgent security review, which should get the best model regardless of what anything else thinks. Then difficulty. Then intent. And anything that matches nothing at all falls through to the small model.</a:t>
            </a:r>
          </a:p>
          <a:p/>
          <a:p>
            <a:r>
              <a:t>That ordering is deliberate: guardrails sit far above routing, so no cost optimisation can ever outrank a safety rule. You can't accidentally save money by skipping a check.</a:t>
            </a:r>
          </a:p>
          <a:p/>
          <a:p>
            <a:r>
              <a:t>Middle card is a rule of thumb worth stealing: hard requirements decide eligibility before any optimiser compares cost or latency. Authorization, local-only processing, context capacity. A backend that can't legally serve the request shouldn't be in the race at all.</a:t>
            </a:r>
          </a:p>
          <a:p/>
          <a:p>
            <a:r>
              <a:t>And the third one is the governance story, which is much stronger than "we block PII". The PII signal only reports that it found something. The decision chooses what to do about it — block, reroute to a local-only model, redact, or just log it. Same detector, different policy per team.</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two stages everyone skips.</a:t>
            </a:r>
          </a:p>
          <a:p/>
          <a:p>
            <a:r>
              <a:t>Projections stop your decision list collapsing into a pile of overlapping conditions. Define a difficulty score once, then reference it from ten different rules instead of re-deriving it in each.</a:t>
            </a:r>
          </a:p>
          <a:p/>
          <a:p>
            <a:r>
              <a:t>Algorithms are the more interesting half. Selection algorithms pick one model — fixed order, semantic fit, measured latency, or learning from feedback over time.</a:t>
            </a:r>
          </a:p>
          <a:p/>
          <a:p>
            <a:r>
              <a:t>But loopers coordinate several models for a single request. Cascade escalates cheap-to-expensive when confidence is low. Fusion asks several and synthesises. Workflow runs planner, thinker, worker, verifier as separate roles. That's not routing any more — that's orchestration.</a:t>
            </a:r>
          </a:p>
          <a:p/>
          <a:p>
            <a:r>
              <a:t>I'll be straight: my demo uses the simplest selection algorithm and no loopers at all. But that's the ceiling of what this model can do, and it's worth knowing it's there.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more concept and then I'll show you it running.</a:t>
            </a:r>
          </a:p>
          <a:p/>
          <a:p>
            <a:r>
              <a:t>A recipe is a complete, self-contained policy — its own signals, decisions, algorithms, plugins, even its own cache namespace. And an entrypoint decides which recipe handles a given request.</a:t>
            </a:r>
          </a:p>
          <a:p/>
          <a:p>
            <a:r>
              <a:t>The practical bit is the middle column. These ship as virtual model names. So a team adopts an entire routing policy by changing one string in their client — point at mom-v1-lite if they care about cost, mom-v1-ultra if they care about accuracy — and they can tune a bespoke recipe later when they know what they want.</a:t>
            </a:r>
          </a:p>
          <a:p/>
          <a:p>
            <a:r>
              <a:t>And this answers the question every platform team asks me: can I run different policies for different consumers without standing up a second router? Yes. Two teams, two risk appetites, one platform, and nobody has to agree on a single global threshold.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give you some numbers, and let me be precise about where they come from.</a:t>
            </a:r>
          </a:p>
          <a:p/>
          <a:p>
            <a:r>
              <a:t>These are the project's own in-house benchmarks. They're not independent, they haven't been reproduced by a third party, and I did not measure them. I'm showing them because they're the best public figures available, not because I can vouch for them.</a:t>
            </a:r>
          </a:p>
          <a:p/>
          <a:p>
            <a:r>
              <a:t>Eighty-six percent of traffic kept on local models. Forty milliseconds P50 routing latency — and I'd flag that one specifically, because it's an internal measurement on their hardware. If you benchmark this yourself on a shared CPU node you will not see forty milliseconds, and that's not a defect.</a:t>
            </a:r>
          </a:p>
          <a:p/>
          <a:p>
            <a:r>
              <a:t>The row I'd actually pay attention to is the fine-tuning one. They took complexity classification from eighty percent to ninety-eight and a half. Twenty-three million parameters, under two hours on CPU, and it drops in as a model swap — no architecture change, no redeployment. Their stated lesson was that the loss function mattered more than the volume of training data.</a:t>
            </a:r>
          </a:p>
          <a:p/>
          <a:p>
            <a:r>
              <a:t>Re-validate all of this against your own workload before you quote it to anyone.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hidden and is not in the running order.]</a:t>
            </a:r>
          </a:p>
          <a:p/>
          <a:p>
            <a:r>
              <a:t>It's kept as backup in case someone asks whether any of this was actually run, or challenges the numbers on the previous slide. It holds our own measurements from this cluster: 192 ms routing overhead, roughly 900 ms guardrail blocks with no GPU involved, 6.9 seconds down to 0.75 on a cache hit, the cache-precision figures, the PII over-blocking on dates and place names, and the 10.3 GB classifier footprint.</a:t>
            </a:r>
          </a:p>
          <a:p/>
          <a:p>
            <a:r>
              <a:t>To bring it back into the deck, remove "hidden": true from deck.js and rebuild.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demo, one honest caveat. Routing is the first line of defence. It cannot be the only one.</a:t>
            </a:r>
          </a:p>
          <a:p/>
          <a:p>
            <a:r>
              <a:t>Classification is probabilistic. It will be right most of the time, and you need to plan for the tail rather than pretend there isn't one.</a:t>
            </a:r>
          </a:p>
          <a:p/>
          <a:p>
            <a:r>
              <a:t>So: routing places most requests correctly before any GPU work happens. Evaluation and guardrails catch what it misclassifies. And egress controls filter what comes back — because a local model can still emit sensitive data, and routing only ever saw the question, never the answer.</a:t>
            </a:r>
          </a:p>
          <a:p/>
          <a:p>
            <a:r>
              <a:t>In practice that becomes a data policy: account records and personal data never leave the building and get logged when they're used. Internal material can go to a cloud model only if something inspects it on the way out. Public questions go anywhere.</a:t>
            </a:r>
          </a:p>
          <a:p/>
          <a:p>
            <a:r>
              <a:t>What I'm about to show you implements the first layer and part of the second. No egress controls at all. I'd rather tell you that than have you assume otherwise.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last thing on where this matters most, and it's agents.</a:t>
            </a:r>
          </a:p>
          <a:p/>
          <a:p>
            <a:r>
              <a:t>An agent isn't one request — it's a loop. A single task generates ten to fifty model calls. Without routing, every one of those hits the same expensive model.</a:t>
            </a:r>
          </a:p>
          <a:p/>
          <a:p>
            <a:r>
              <a:t>That's the Uber slide again, just at a different scale. The multiplier is what turns a manageable bill into an unmanageable one.</a:t>
            </a:r>
          </a:p>
          <a:p/>
          <a:p>
            <a:r>
              <a:t>And the safety angle is underrated: every call in that loop passes the same classification. One policy covers an agent you didn't write and can't inspect — because enforcement is at the gateway, not inside the agent.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Last slide, and it's the question I get asked most: how does this relate to llm-d?</a:t>
            </a:r>
          </a:p>
          <a:p/>
          <a:p>
            <a:r>
              <a:t>They're not alternatives. They answer different questions.</a:t>
            </a:r>
          </a:p>
          <a:p/>
          <a:p>
            <a:r>
              <a:t>The semantic router asks what model should handle this, and routes between entirely different base models based on semantics and policy. llm-d asks where this should execute, and routes between replicas of the same model based on load and KV-cache locality.</a:t>
            </a:r>
          </a:p>
          <a:p/>
          <a:p>
            <a:r>
              <a:t>Semantics in front, hardware scheduling behind. They compose.</a:t>
            </a:r>
          </a:p>
          <a:p/>
          <a:p>
            <a:r>
              <a:t>There's a nice detail in the caches too — they don't overlap. Ours skips a whole request when the same question has been asked before. llm-d's prefix cache skips recomputing the shared front of every request. Different savings, same stack.</a:t>
            </a:r>
          </a:p>
          <a:p/>
          <a:p>
            <a:r>
              <a:t>Right — let me show you this actually running.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you're about to see is live on an OpenShift cluster. Nothing here is recorded.</a:t>
            </a:r>
          </a:p>
          <a:p/>
          <a:p>
            <a:r>
              <a:t>One endpoint at the front: an OpenShift route into Envoy, with the router attached as an external processor in the same pod. The client sends model "auto" and nothing else.</a:t>
            </a:r>
          </a:p>
          <a:p/>
          <a:p>
            <a:r>
              <a:t>Behind it, two models on KServe. Qwen 2.5 7B on an L40S for the hard, urgent and quantitative work. Phi-3-mini on a T4 for everything else.</a:t>
            </a:r>
          </a:p>
          <a:p/>
          <a:p>
            <a:r>
              <a:t>And the part I'd draw your attention to: the five classifier processes and the router itself share one container on a plain worker node with no GPU at all. The accelerators only ever generate tokens. The intelligence layer never competes with the serving layer for hardware.</a:t>
            </a:r>
          </a:p>
          <a:p/>
          <a:p>
            <a:r>
              <a:t>Fifteen use cases, about ten minutes. Let's go.</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slide — don't read it. Switch to the console.]</a:t>
            </a:r>
          </a:p>
          <a:p/>
          <a:p>
            <a:r>
              <a:t>Run order: 1, 3, 4, 5 — then 7 — then 8, 9 — then 13, 14 — then 11.</a:t>
            </a:r>
          </a:p>
          <a:p/>
          <a:p>
            <a:r>
              <a:t>Three pairs do the real work.</a:t>
            </a:r>
          </a:p>
          <a:p/>
          <a:p>
            <a:r>
              <a:t>4 and 5 back to back: same topic, opposite routing, because it's grading difficulty and not subject. Say that out loud — "it's still Python, and it still goes to the small model".</a:t>
            </a:r>
          </a:p>
          <a:p/>
          <a:p>
            <a:r>
              <a:t>8 and 9 back to back: the second one has no banned phrase anywhere in it. That's the entire argument for having a classifier as well as a deny-list.</a:t>
            </a:r>
          </a:p>
          <a:p/>
          <a:p>
            <a:r>
              <a:t>13 and 14: the cache working, then the cache correctly refusing a question that's two words different.</a:t>
            </a:r>
          </a:p>
          <a:p/>
          <a:p>
            <a:r>
              <a:t>Every prompt box is editable — if there's time, edit one live. It's the most convincing thing you can do.</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[Press c first so the counters start at zero.]</a:t>
            </a:r>
          </a:p>
          <a:p/>
          <a:p>
            <a:r>
              <a:t>If you finish early: take a prompt from the audience and run it. You don't control the answer, which is the point — and the failure mode is benign. It either goes to one of two models, or a guardrail stops it.</a:t>
            </a:r>
          </a:p>
          <a:p/>
          <a:p>
            <a:r>
              <a:t>Closing line: "The entire routing policy is one readable YAML file in that repo. All fifteen cases are documented with the measurements behind them. And it took me about an afternoon to get wrong in ten different ways, all of which are written up in the troubleshooting guide."</a:t>
            </a:r>
          </a:p>
          <a:p/>
          <a:p>
            <a:r>
              <a:t>Then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extBox 1"/>
          <p:cNvSpPr txBox="1"/>
          <p:nvPr/>
        </p:nvSpPr>
        <p:spPr>
          <a:xfrm>
            <a:off x="658368" y="1600200"/>
            <a:ext cx="9509760" cy="365760"/>
          </a:xfrm>
          <a:prstGeom prst="rect">
            <a:avLst/>
          </a:prstGeom>
          <a:noFill/>
        </p:spPr>
        <p:txBody>
          <a:bodyPr wrap="square" anchor="t" lIns="0" rIns="0" tIns="0" bIns="0">
            <a:spAutoFit/>
          </a:bodyPr>
          <a:lstStyle/>
          <a:p>
            <a:pPr>
              <a:spcBef>
                <a:spcPts val="0"/>
              </a:spcBef>
              <a:spcAft>
                <a:spcPts val="0"/>
              </a:spcAft>
            </a:pPr>
            <a:r>
              <a:rPr sz="1200" b="1">
                <a:solidFill>
                  <a:srgbClr val="FF4D4D"/>
                </a:solidFill>
                <a:latin typeface="Menlo"/>
              </a:rPr>
              <a:t>VLLM SEMANTIC ROUTER</a:t>
            </a:r>
          </a:p>
        </p:txBody>
      </p:sp>
      <p:sp>
        <p:nvSpPr>
          <p:cNvPr id="3" name="TextBox 2"/>
          <p:cNvSpPr txBox="1"/>
          <p:nvPr/>
        </p:nvSpPr>
        <p:spPr>
          <a:xfrm>
            <a:off x="658368" y="2103120"/>
            <a:ext cx="9692640" cy="1737360"/>
          </a:xfrm>
          <a:prstGeom prst="rect">
            <a:avLst/>
          </a:prstGeom>
          <a:noFill/>
        </p:spPr>
        <p:txBody>
          <a:bodyPr wrap="square" anchor="t" lIns="0" rIns="0" tIns="0" bIns="0">
            <a:spAutoFit/>
          </a:bodyPr>
          <a:lstStyle/>
          <a:p>
            <a:pPr>
              <a:lnSpc>
                <a:spcPct val="103000"/>
              </a:lnSpc>
              <a:spcBef>
                <a:spcPts val="0"/>
              </a:spcBef>
              <a:spcAft>
                <a:spcPts val="0"/>
              </a:spcAft>
            </a:pPr>
            <a:r>
              <a:rPr sz="4600" b="1">
                <a:solidFill>
                  <a:srgbClr val="EEF3FA"/>
                </a:solidFill>
                <a:latin typeface="Helvetica Neue"/>
              </a:rPr>
              <a:t>Intelligence Beyond Any One Model</a:t>
            </a:r>
          </a:p>
        </p:txBody>
      </p:sp>
      <p:sp>
        <p:nvSpPr>
          <p:cNvPr id="4" name="Rectangle 3"/>
          <p:cNvSpPr/>
          <p:nvPr/>
        </p:nvSpPr>
        <p:spPr>
          <a:xfrm>
            <a:off x="658368" y="4069080"/>
            <a:ext cx="1005840" cy="76200"/>
          </a:xfrm>
          <a:prstGeom prst="rect">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4434840"/>
            <a:ext cx="7589520" cy="1188720"/>
          </a:xfrm>
          <a:prstGeom prst="rect">
            <a:avLst/>
          </a:prstGeom>
          <a:noFill/>
        </p:spPr>
        <p:txBody>
          <a:bodyPr wrap="square" anchor="t" lIns="0" rIns="0" tIns="0" bIns="0">
            <a:spAutoFit/>
          </a:bodyPr>
          <a:lstStyle/>
          <a:p>
            <a:pPr>
              <a:lnSpc>
                <a:spcPct val="145000"/>
              </a:lnSpc>
              <a:spcBef>
                <a:spcPts val="0"/>
              </a:spcBef>
              <a:spcAft>
                <a:spcPts val="0"/>
              </a:spcAft>
            </a:pPr>
            <a:r>
              <a:rPr sz="1500" b="0">
                <a:solidFill>
                  <a:srgbClr val="A3B0C6"/>
                </a:solidFill>
                <a:latin typeface="Helvetica Neue"/>
              </a:rPr>
              <a:t>Signal-driven routing, guardrails and semantic caching for Mixture-of-Models systems — running live on OpenShift AI.</a:t>
            </a:r>
          </a:p>
        </p:txBody>
      </p:sp>
      <p:sp>
        <p:nvSpPr>
          <p:cNvPr id="6" name="TextBox 5"/>
          <p:cNvSpPr txBox="1"/>
          <p:nvPr/>
        </p:nvSpPr>
        <p:spPr>
          <a:xfrm>
            <a:off x="9521647" y="6382512"/>
            <a:ext cx="2011680" cy="274320"/>
          </a:xfrm>
          <a:prstGeom prst="rect">
            <a:avLst/>
          </a:prstGeom>
          <a:noFill/>
        </p:spPr>
        <p:txBody>
          <a:bodyPr wrap="square" anchor="t" lIns="0" rIns="0" tIns="0" bIns="0">
            <a:spAutoFit/>
          </a:bodyPr>
          <a:lstStyle/>
          <a:p>
            <a:pPr algn="r"/>
            <a:r>
              <a:rPr sz="1000">
                <a:solidFill>
                  <a:srgbClr val="FF4D4D"/>
                </a:solidFill>
                <a:latin typeface="Menlo"/>
              </a:rPr>
              <a:t>0:00  ·  </a:t>
            </a:r>
            <a:r>
              <a:rPr sz="1000">
                <a:solidFill>
                  <a:srgbClr val="6E7D96"/>
                </a:solidFill>
                <a:latin typeface="Menlo"/>
              </a:rPr>
              <a:t>1 / 20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Rectangle 1"/>
          <p:cNvSpPr/>
          <p:nvPr/>
        </p:nvSpPr>
        <p:spPr>
          <a:xfrm>
            <a:off x="0" y="0"/>
            <a:ext cx="1783080" cy="63500"/>
          </a:xfrm>
          <a:prstGeom prst="rect">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30352"/>
            <a:ext cx="10874959" cy="868680"/>
          </a:xfrm>
          <a:prstGeom prst="rect">
            <a:avLst/>
          </a:prstGeom>
          <a:noFill/>
        </p:spPr>
        <p:txBody>
          <a:bodyPr wrap="square" anchor="t" lIns="0" rIns="0" tIns="0" bIns="0">
            <a:spAutoFit/>
          </a:bodyPr>
          <a:lstStyle/>
          <a:p>
            <a:pPr>
              <a:lnSpc>
                <a:spcPct val="110000"/>
              </a:lnSpc>
              <a:spcBef>
                <a:spcPts val="0"/>
              </a:spcBef>
              <a:spcAft>
                <a:spcPts val="0"/>
              </a:spcAft>
            </a:pPr>
            <a:r>
              <a:rPr sz="2900" b="1">
                <a:solidFill>
                  <a:srgbClr val="EEF3FA"/>
                </a:solidFill>
                <a:latin typeface="Helvetica Neue"/>
              </a:rPr>
              <a:t>Fragmentation changed the problem</a:t>
            </a:r>
          </a:p>
        </p:txBody>
      </p:sp>
      <p:sp>
        <p:nvSpPr>
          <p:cNvPr id="4" name="TextBox 3"/>
          <p:cNvSpPr txBox="1"/>
          <p:nvPr/>
        </p:nvSpPr>
        <p:spPr>
          <a:xfrm>
            <a:off x="658368" y="1188720"/>
            <a:ext cx="9692640" cy="822960"/>
          </a:xfrm>
          <a:prstGeom prst="rect">
            <a:avLst/>
          </a:prstGeom>
          <a:noFill/>
        </p:spPr>
        <p:txBody>
          <a:bodyPr wrap="square" anchor="t" lIns="0" rIns="0" tIns="0" bIns="0">
            <a:spAutoFit/>
          </a:bodyPr>
          <a:lstStyle/>
          <a:p>
            <a:pPr>
              <a:lnSpc>
                <a:spcPct val="135000"/>
              </a:lnSpc>
              <a:spcBef>
                <a:spcPts val="0"/>
              </a:spcBef>
              <a:spcAft>
                <a:spcPts val="0"/>
              </a:spcAft>
            </a:pPr>
            <a:r>
              <a:rPr sz="1400" b="0">
                <a:solidFill>
                  <a:srgbClr val="A3B0C6"/>
                </a:solidFill>
                <a:latin typeface="Helvetica Neue"/>
              </a:rPr>
              <a:t>It is no longer "which model is best". The ecosystem fragments along four axes at once, and every one of them is a routing decision.</a:t>
            </a:r>
          </a:p>
        </p:txBody>
      </p:sp>
      <p:sp>
        <p:nvSpPr>
          <p:cNvPr id="5" name="Rectangle 4"/>
          <p:cNvSpPr/>
          <p:nvPr/>
        </p:nvSpPr>
        <p:spPr>
          <a:xfrm>
            <a:off x="658368" y="1938528"/>
            <a:ext cx="3490874" cy="224028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938528"/>
            <a:ext cx="3490874" cy="38100"/>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2176272"/>
            <a:ext cx="3088538" cy="457200"/>
          </a:xfrm>
          <a:prstGeom prst="rect">
            <a:avLst/>
          </a:prstGeom>
          <a:noFill/>
        </p:spPr>
        <p:txBody>
          <a:bodyPr wrap="square" anchor="t" lIns="0" rIns="0" tIns="0" bIns="0">
            <a:spAutoFit/>
          </a:bodyPr>
          <a:lstStyle/>
          <a:p>
            <a:pPr>
              <a:lnSpc>
                <a:spcPct val="115000"/>
              </a:lnSpc>
              <a:spcBef>
                <a:spcPts val="0"/>
              </a:spcBef>
              <a:spcAft>
                <a:spcPts val="0"/>
              </a:spcAft>
            </a:pPr>
            <a:r>
              <a:rPr sz="1450" b="1">
                <a:solidFill>
                  <a:srgbClr val="EEF3FA"/>
                </a:solidFill>
                <a:latin typeface="Helvetica Neue"/>
              </a:rPr>
              <a:t>Models &amp; compute</a:t>
            </a:r>
          </a:p>
        </p:txBody>
      </p:sp>
      <p:sp>
        <p:nvSpPr>
          <p:cNvPr id="8" name="TextBox 7"/>
          <p:cNvSpPr txBox="1"/>
          <p:nvPr/>
        </p:nvSpPr>
        <p:spPr>
          <a:xfrm>
            <a:off x="859536" y="2651760"/>
            <a:ext cx="3088538" cy="1325880"/>
          </a:xfrm>
          <a:prstGeom prst="rect">
            <a:avLst/>
          </a:prstGeom>
          <a:noFill/>
        </p:spPr>
        <p:txBody>
          <a:bodyPr wrap="square" anchor="t" lIns="0" rIns="0" tIns="0" bIns="0">
            <a:spAutoFit/>
          </a:bodyPr>
          <a:lstStyle/>
          <a:p>
            <a:pPr>
              <a:lnSpc>
                <a:spcPct val="140000"/>
              </a:lnSpc>
              <a:spcBef>
                <a:spcPts val="0"/>
              </a:spcBef>
              <a:spcAft>
                <a:spcPts val="0"/>
              </a:spcAft>
            </a:pPr>
            <a:r>
              <a:rPr sz="1150" b="0">
                <a:solidFill>
                  <a:srgbClr val="A3B0C6"/>
                </a:solidFill>
                <a:latin typeface="Helvetica Neue"/>
              </a:rPr>
              <a:t>Large, small, hybrid-reasoning, specialist, open and closed — across CPU, GPU, NPU and mixed fleets with different cost and energy profiles.</a:t>
            </a:r>
          </a:p>
        </p:txBody>
      </p:sp>
      <p:sp>
        <p:nvSpPr>
          <p:cNvPr id="9" name="Rectangle 8"/>
          <p:cNvSpPr/>
          <p:nvPr/>
        </p:nvSpPr>
        <p:spPr>
          <a:xfrm>
            <a:off x="4350410" y="1938528"/>
            <a:ext cx="3490874" cy="224028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50410" y="1938528"/>
            <a:ext cx="3490874" cy="38100"/>
          </a:xfrm>
          <a:prstGeom prst="rect">
            <a:avLst/>
          </a:prstGeom>
          <a:solidFill>
            <a:srgbClr val="4DD6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51578" y="2176272"/>
            <a:ext cx="3088538" cy="457200"/>
          </a:xfrm>
          <a:prstGeom prst="rect">
            <a:avLst/>
          </a:prstGeom>
          <a:noFill/>
        </p:spPr>
        <p:txBody>
          <a:bodyPr wrap="square" anchor="t" lIns="0" rIns="0" tIns="0" bIns="0">
            <a:spAutoFit/>
          </a:bodyPr>
          <a:lstStyle/>
          <a:p>
            <a:pPr>
              <a:lnSpc>
                <a:spcPct val="115000"/>
              </a:lnSpc>
              <a:spcBef>
                <a:spcPts val="0"/>
              </a:spcBef>
              <a:spcAft>
                <a:spcPts val="0"/>
              </a:spcAft>
            </a:pPr>
            <a:r>
              <a:rPr sz="1450" b="1">
                <a:solidFill>
                  <a:srgbClr val="EEF3FA"/>
                </a:solidFill>
                <a:latin typeface="Helvetica Neue"/>
              </a:rPr>
              <a:t>Location</a:t>
            </a:r>
          </a:p>
        </p:txBody>
      </p:sp>
      <p:sp>
        <p:nvSpPr>
          <p:cNvPr id="12" name="TextBox 11"/>
          <p:cNvSpPr txBox="1"/>
          <p:nvPr/>
        </p:nvSpPr>
        <p:spPr>
          <a:xfrm>
            <a:off x="4551578" y="2651760"/>
            <a:ext cx="3088538" cy="1325880"/>
          </a:xfrm>
          <a:prstGeom prst="rect">
            <a:avLst/>
          </a:prstGeom>
          <a:noFill/>
        </p:spPr>
        <p:txBody>
          <a:bodyPr wrap="square" anchor="t" lIns="0" rIns="0" tIns="0" bIns="0">
            <a:spAutoFit/>
          </a:bodyPr>
          <a:lstStyle/>
          <a:p>
            <a:pPr>
              <a:lnSpc>
                <a:spcPct val="140000"/>
              </a:lnSpc>
              <a:spcBef>
                <a:spcPts val="0"/>
              </a:spcBef>
              <a:spcAft>
                <a:spcPts val="0"/>
              </a:spcAft>
            </a:pPr>
            <a:r>
              <a:rPr sz="1150" b="0">
                <a:solidFill>
                  <a:srgbClr val="A3B0C6"/>
                </a:solidFill>
                <a:latin typeface="Helvetica Neue"/>
              </a:rPr>
              <a:t>Cloud, data centre, edge. Where a request may execute is often a compliance question before it is a performance one.</a:t>
            </a:r>
          </a:p>
        </p:txBody>
      </p:sp>
      <p:sp>
        <p:nvSpPr>
          <p:cNvPr id="13" name="Rectangle 12"/>
          <p:cNvSpPr/>
          <p:nvPr/>
        </p:nvSpPr>
        <p:spPr>
          <a:xfrm>
            <a:off x="8042452" y="1938528"/>
            <a:ext cx="3490874" cy="224028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42452" y="1938528"/>
            <a:ext cx="3490874" cy="38100"/>
          </a:xfrm>
          <a:prstGeom prst="rect">
            <a:avLst/>
          </a:prstGeom>
          <a:solidFill>
            <a:srgbClr val="B38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43620" y="2176272"/>
            <a:ext cx="3088538" cy="457200"/>
          </a:xfrm>
          <a:prstGeom prst="rect">
            <a:avLst/>
          </a:prstGeom>
          <a:noFill/>
        </p:spPr>
        <p:txBody>
          <a:bodyPr wrap="square" anchor="t" lIns="0" rIns="0" tIns="0" bIns="0">
            <a:spAutoFit/>
          </a:bodyPr>
          <a:lstStyle/>
          <a:p>
            <a:pPr>
              <a:lnSpc>
                <a:spcPct val="115000"/>
              </a:lnSpc>
              <a:spcBef>
                <a:spcPts val="0"/>
              </a:spcBef>
              <a:spcAft>
                <a:spcPts val="0"/>
              </a:spcAft>
            </a:pPr>
            <a:r>
              <a:rPr sz="1450" b="1">
                <a:solidFill>
                  <a:srgbClr val="EEF3FA"/>
                </a:solidFill>
                <a:latin typeface="Helvetica Neue"/>
              </a:rPr>
              <a:t>Preference</a:t>
            </a:r>
          </a:p>
        </p:txBody>
      </p:sp>
      <p:sp>
        <p:nvSpPr>
          <p:cNvPr id="16" name="TextBox 15"/>
          <p:cNvSpPr txBox="1"/>
          <p:nvPr/>
        </p:nvSpPr>
        <p:spPr>
          <a:xfrm>
            <a:off x="8243620" y="2651760"/>
            <a:ext cx="3088538" cy="1325880"/>
          </a:xfrm>
          <a:prstGeom prst="rect">
            <a:avLst/>
          </a:prstGeom>
          <a:noFill/>
        </p:spPr>
        <p:txBody>
          <a:bodyPr wrap="square" anchor="t" lIns="0" rIns="0" tIns="0" bIns="0">
            <a:spAutoFit/>
          </a:bodyPr>
          <a:lstStyle/>
          <a:p>
            <a:pPr>
              <a:lnSpc>
                <a:spcPct val="140000"/>
              </a:lnSpc>
              <a:spcBef>
                <a:spcPts val="0"/>
              </a:spcBef>
              <a:spcAft>
                <a:spcPts val="0"/>
              </a:spcAft>
            </a:pPr>
            <a:r>
              <a:rPr sz="1150" b="0">
                <a:solidFill>
                  <a:srgbClr val="A3B0C6"/>
                </a:solidFill>
                <a:latin typeface="Helvetica Neue"/>
              </a:rPr>
              <a:t>Quality, latency, cost, privacy. These conflict, and the right trade-off differs per request — not per application.</a:t>
            </a:r>
          </a:p>
        </p:txBody>
      </p:sp>
      <p:sp>
        <p:nvSpPr>
          <p:cNvPr id="17" name="Rectangle 16"/>
          <p:cNvSpPr/>
          <p:nvPr/>
        </p:nvSpPr>
        <p:spPr>
          <a:xfrm>
            <a:off x="658368" y="4398264"/>
            <a:ext cx="10874959" cy="475488"/>
          </a:xfrm>
          <a:prstGeom prst="rect">
            <a:avLst/>
          </a:prstGeom>
          <a:solidFill>
            <a:srgbClr val="1E2636"/>
          </a:solidFill>
          <a:ln w="12700">
            <a:solidFill>
              <a:srgbClr val="FFC8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4398264"/>
            <a:ext cx="50800" cy="475488"/>
          </a:xfrm>
          <a:prstGeom prst="rect">
            <a:avLst/>
          </a:prstGeom>
          <a:solidFill>
            <a:srgbClr val="FFC8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9536" y="4517136"/>
            <a:ext cx="10472623" cy="237744"/>
          </a:xfrm>
          <a:prstGeom prst="rect">
            <a:avLst/>
          </a:prstGeom>
          <a:noFill/>
        </p:spPr>
        <p:txBody>
          <a:bodyPr wrap="square" anchor="t" lIns="0" rIns="0" tIns="0" bIns="0">
            <a:spAutoFit/>
          </a:bodyPr>
          <a:lstStyle/>
          <a:p>
            <a:pPr>
              <a:lnSpc>
                <a:spcPct val="130000"/>
              </a:lnSpc>
              <a:spcBef>
                <a:spcPts val="0"/>
              </a:spcBef>
              <a:spcAft>
                <a:spcPts val="0"/>
              </a:spcAft>
            </a:pPr>
            <a:r>
              <a:rPr sz="1250" b="0">
                <a:solidFill>
                  <a:srgbClr val="FFC857"/>
                </a:solidFill>
                <a:latin typeface="Helvetica Neue"/>
              </a:rPr>
              <a:t>Without a routing layer, every application has to navigate all four on its own.</a:t>
            </a:r>
          </a:p>
        </p:txBody>
      </p:sp>
      <p:sp>
        <p:nvSpPr>
          <p:cNvPr id="20" name="TextBox 19"/>
          <p:cNvSpPr txBox="1"/>
          <p:nvPr/>
        </p:nvSpPr>
        <p:spPr>
          <a:xfrm>
            <a:off x="9521647" y="6382512"/>
            <a:ext cx="2011680" cy="274320"/>
          </a:xfrm>
          <a:prstGeom prst="rect">
            <a:avLst/>
          </a:prstGeom>
          <a:noFill/>
        </p:spPr>
        <p:txBody>
          <a:bodyPr wrap="square" anchor="t" lIns="0" rIns="0" tIns="0" bIns="0">
            <a:spAutoFit/>
          </a:bodyPr>
          <a:lstStyle/>
          <a:p>
            <a:pPr algn="r"/>
            <a:r>
              <a:rPr sz="1000">
                <a:solidFill>
                  <a:srgbClr val="FF4D4D"/>
                </a:solidFill>
                <a:latin typeface="Menlo"/>
              </a:rPr>
              <a:t>1:00  ·  </a:t>
            </a:r>
            <a:r>
              <a:rPr sz="1000">
                <a:solidFill>
                  <a:srgbClr val="6E7D96"/>
                </a:solidFill>
                <a:latin typeface="Menlo"/>
              </a:rPr>
              <a:t>2 / 20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Rectangle 1"/>
          <p:cNvSpPr/>
          <p:nvPr/>
        </p:nvSpPr>
        <p:spPr>
          <a:xfrm>
            <a:off x="0" y="0"/>
            <a:ext cx="1783080" cy="63500"/>
          </a:xfrm>
          <a:prstGeom prst="rect">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30352"/>
            <a:ext cx="10874959" cy="868680"/>
          </a:xfrm>
          <a:prstGeom prst="rect">
            <a:avLst/>
          </a:prstGeom>
          <a:noFill/>
        </p:spPr>
        <p:txBody>
          <a:bodyPr wrap="square" anchor="t" lIns="0" rIns="0" tIns="0" bIns="0">
            <a:spAutoFit/>
          </a:bodyPr>
          <a:lstStyle/>
          <a:p>
            <a:pPr>
              <a:lnSpc>
                <a:spcPct val="110000"/>
              </a:lnSpc>
              <a:spcBef>
                <a:spcPts val="0"/>
              </a:spcBef>
              <a:spcAft>
                <a:spcPts val="0"/>
              </a:spcAft>
            </a:pPr>
            <a:r>
              <a:rPr sz="2900" b="1">
                <a:solidFill>
                  <a:srgbClr val="EEF3FA"/>
                </a:solidFill>
                <a:latin typeface="Helvetica Neue"/>
              </a:rPr>
              <a:t>Then the bill arrives</a:t>
            </a:r>
          </a:p>
        </p:txBody>
      </p:sp>
      <p:sp>
        <p:nvSpPr>
          <p:cNvPr id="4" name="Rectangle 3"/>
          <p:cNvSpPr/>
          <p:nvPr/>
        </p:nvSpPr>
        <p:spPr>
          <a:xfrm>
            <a:off x="658368" y="1335024"/>
            <a:ext cx="50800" cy="420624"/>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96112" y="1335024"/>
            <a:ext cx="9966960" cy="420624"/>
          </a:xfrm>
          <a:prstGeom prst="rect">
            <a:avLst/>
          </a:prstGeom>
          <a:noFill/>
        </p:spPr>
        <p:txBody>
          <a:bodyPr wrap="square" anchor="t" lIns="0" rIns="0" tIns="0" bIns="0">
            <a:spAutoFit/>
          </a:bodyPr>
          <a:lstStyle/>
          <a:p>
            <a:pPr>
              <a:lnSpc>
                <a:spcPct val="130000"/>
              </a:lnSpc>
              <a:spcBef>
                <a:spcPts val="0"/>
              </a:spcBef>
              <a:spcAft>
                <a:spcPts val="0"/>
              </a:spcAft>
            </a:pPr>
            <a:r>
              <a:rPr sz="1800" b="1">
                <a:solidFill>
                  <a:srgbClr val="EEF3FA"/>
                </a:solidFill>
                <a:latin typeface="Helvetica Neue"/>
              </a:rPr>
              <a:t>Uber burned through its entire 2026 AI budget in four months.</a:t>
            </a:r>
          </a:p>
        </p:txBody>
      </p:sp>
      <p:sp>
        <p:nvSpPr>
          <p:cNvPr id="6" name="TextBox 5"/>
          <p:cNvSpPr txBox="1"/>
          <p:nvPr/>
        </p:nvSpPr>
        <p:spPr>
          <a:xfrm>
            <a:off x="658368" y="2066544"/>
            <a:ext cx="10241280" cy="2743200"/>
          </a:xfrm>
          <a:prstGeom prst="rect">
            <a:avLst/>
          </a:prstGeom>
          <a:noFill/>
        </p:spPr>
        <p:txBody>
          <a:bodyPr wrap="square" anchor="t" lIns="0" rIns="0" tIns="0" bIns="0">
            <a:spAutoFit/>
          </a:bodyPr>
          <a:lstStyle/>
          <a:p>
            <a:pPr>
              <a:lnSpc>
                <a:spcPct val="135000"/>
              </a:lnSpc>
              <a:spcBef>
                <a:spcPts val="0"/>
              </a:spcBef>
              <a:spcAft>
                <a:spcPts val="1100"/>
              </a:spcAft>
            </a:pPr>
            <a:r>
              <a:rPr sz="1450">
                <a:solidFill>
                  <a:srgbClr val="FF4D4D"/>
                </a:solidFill>
                <a:latin typeface="Helvetica Neue"/>
              </a:rPr>
              <a:t>▪   5,000 engineers on Claude Code — token-metered, not per-seat.</a:t>
            </a:r>
          </a:p>
          <a:p>
            <a:pPr>
              <a:lnSpc>
                <a:spcPct val="135000"/>
              </a:lnSpc>
              <a:spcBef>
                <a:spcPts val="0"/>
              </a:spcBef>
              <a:spcAft>
                <a:spcPts val="1100"/>
              </a:spcAft>
            </a:pPr>
            <a:r>
              <a:rPr sz="1450">
                <a:solidFill>
                  <a:srgbClr val="FF4D4D"/>
                </a:solidFill>
                <a:latin typeface="Helvetica Neue"/>
              </a:rPr>
              <a:t>▪   84% adoption. Budget of $150–2,000 per engineer per month.</a:t>
            </a:r>
          </a:p>
          <a:p>
            <a:pPr>
              <a:lnSpc>
                <a:spcPct val="135000"/>
              </a:lnSpc>
              <a:spcBef>
                <a:spcPts val="0"/>
              </a:spcBef>
              <a:spcAft>
                <a:spcPts val="1100"/>
              </a:spcAft>
            </a:pPr>
            <a:r>
              <a:rPr sz="1450">
                <a:solidFill>
                  <a:srgbClr val="FF4D4D"/>
                </a:solidFill>
                <a:latin typeface="Helvetica Neue"/>
              </a:rPr>
              <a:t>▪   Exhausted in April: month four of twelve.</a:t>
            </a:r>
          </a:p>
          <a:p>
            <a:pPr>
              <a:lnSpc>
                <a:spcPct val="135000"/>
              </a:lnSpc>
              <a:spcBef>
                <a:spcPts val="0"/>
              </a:spcBef>
              <a:spcAft>
                <a:spcPts val="1100"/>
              </a:spcAft>
            </a:pPr>
            <a:r>
              <a:rPr sz="1450">
                <a:solidFill>
                  <a:srgbClr val="FF4D4D"/>
                </a:solidFill>
                <a:latin typeface="Helvetica Neue"/>
              </a:rPr>
              <a:t>▪   CTO Praveen Neppalli Naga: “I'm back to the drawing board — the budget I thought I would need is blown away already.”</a:t>
            </a:r>
          </a:p>
        </p:txBody>
      </p:sp>
      <p:sp>
        <p:nvSpPr>
          <p:cNvPr id="7" name="TextBox 6"/>
          <p:cNvSpPr txBox="1"/>
          <p:nvPr/>
        </p:nvSpPr>
        <p:spPr>
          <a:xfrm>
            <a:off x="658368" y="6382512"/>
            <a:ext cx="6400800" cy="274320"/>
          </a:xfrm>
          <a:prstGeom prst="rect">
            <a:avLst/>
          </a:prstGeom>
          <a:noFill/>
        </p:spPr>
        <p:txBody>
          <a:bodyPr wrap="square" anchor="t" lIns="0" rIns="0" tIns="0" bIns="0">
            <a:spAutoFit/>
          </a:bodyPr>
          <a:lstStyle/>
          <a:p>
            <a:pPr>
              <a:spcBef>
                <a:spcPts val="0"/>
              </a:spcBef>
              <a:spcAft>
                <a:spcPts val="0"/>
              </a:spcAft>
            </a:pPr>
            <a:r>
              <a:rPr sz="900" b="0">
                <a:solidFill>
                  <a:srgbClr val="6E7D96"/>
                </a:solidFill>
                <a:latin typeface="Menlo"/>
              </a:rPr>
              <a:t>case study via Aayush Saini, Red Hat — vLLM-SR maintainer</a:t>
            </a:r>
          </a:p>
        </p:txBody>
      </p:sp>
      <p:sp>
        <p:nvSpPr>
          <p:cNvPr id="8" name="TextBox 7"/>
          <p:cNvSpPr txBox="1"/>
          <p:nvPr/>
        </p:nvSpPr>
        <p:spPr>
          <a:xfrm>
            <a:off x="9521647" y="6382512"/>
            <a:ext cx="2011680" cy="274320"/>
          </a:xfrm>
          <a:prstGeom prst="rect">
            <a:avLst/>
          </a:prstGeom>
          <a:noFill/>
        </p:spPr>
        <p:txBody>
          <a:bodyPr wrap="square" anchor="t" lIns="0" rIns="0" tIns="0" bIns="0">
            <a:spAutoFit/>
          </a:bodyPr>
          <a:lstStyle/>
          <a:p>
            <a:pPr algn="r"/>
            <a:r>
              <a:rPr sz="1000">
                <a:solidFill>
                  <a:srgbClr val="FF4D4D"/>
                </a:solidFill>
                <a:latin typeface="Menlo"/>
              </a:rPr>
              <a:t>2:30  ·  </a:t>
            </a:r>
            <a:r>
              <a:rPr sz="1000">
                <a:solidFill>
                  <a:srgbClr val="6E7D96"/>
                </a:solidFill>
                <a:latin typeface="Menlo"/>
              </a:rPr>
              <a:t>3 / 20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Rectangle 1"/>
          <p:cNvSpPr/>
          <p:nvPr/>
        </p:nvSpPr>
        <p:spPr>
          <a:xfrm>
            <a:off x="0" y="0"/>
            <a:ext cx="1783080" cy="63500"/>
          </a:xfrm>
          <a:prstGeom prst="rect">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30352"/>
            <a:ext cx="10874959" cy="868680"/>
          </a:xfrm>
          <a:prstGeom prst="rect">
            <a:avLst/>
          </a:prstGeom>
          <a:noFill/>
        </p:spPr>
        <p:txBody>
          <a:bodyPr wrap="square" anchor="t" lIns="0" rIns="0" tIns="0" bIns="0">
            <a:spAutoFit/>
          </a:bodyPr>
          <a:lstStyle/>
          <a:p>
            <a:pPr>
              <a:lnSpc>
                <a:spcPct val="110000"/>
              </a:lnSpc>
              <a:spcBef>
                <a:spcPts val="0"/>
              </a:spcBef>
              <a:spcAft>
                <a:spcPts val="0"/>
              </a:spcAft>
            </a:pPr>
            <a:r>
              <a:rPr sz="2900" b="1">
                <a:solidFill>
                  <a:srgbClr val="EEF3FA"/>
                </a:solidFill>
                <a:latin typeface="Helvetica Neue"/>
              </a:rPr>
              <a:t>The root cause: inference pipelines are content-blind</a:t>
            </a:r>
          </a:p>
        </p:txBody>
      </p:sp>
      <p:sp>
        <p:nvSpPr>
          <p:cNvPr id="4" name="TextBox 3"/>
          <p:cNvSpPr txBox="1"/>
          <p:nvPr/>
        </p:nvSpPr>
        <p:spPr>
          <a:xfrm>
            <a:off x="658368" y="1188720"/>
            <a:ext cx="9692640" cy="822960"/>
          </a:xfrm>
          <a:prstGeom prst="rect">
            <a:avLst/>
          </a:prstGeom>
          <a:noFill/>
        </p:spPr>
        <p:txBody>
          <a:bodyPr wrap="square" anchor="t" lIns="0" rIns="0" tIns="0" bIns="0">
            <a:spAutoFit/>
          </a:bodyPr>
          <a:lstStyle/>
          <a:p>
            <a:pPr>
              <a:lnSpc>
                <a:spcPct val="135000"/>
              </a:lnSpc>
              <a:spcBef>
                <a:spcPts val="0"/>
              </a:spcBef>
              <a:spcAft>
                <a:spcPts val="0"/>
              </a:spcAft>
            </a:pPr>
            <a:r>
              <a:rPr sz="1400" b="0">
                <a:solidFill>
                  <a:srgbClr val="A3B0C6"/>
                </a:solidFill>
                <a:latin typeface="Helvetica Neue"/>
              </a:rPr>
              <a:t>A load balancer distributes requests without any idea what is in them. Four consequences, and all four are the same bug.</a:t>
            </a:r>
          </a:p>
        </p:txBody>
      </p:sp>
      <p:sp>
        <p:nvSpPr>
          <p:cNvPr id="5" name="Rectangle 4"/>
          <p:cNvSpPr/>
          <p:nvPr/>
        </p:nvSpPr>
        <p:spPr>
          <a:xfrm>
            <a:off x="658368" y="1938528"/>
            <a:ext cx="3490874" cy="224028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938528"/>
            <a:ext cx="3490874" cy="38100"/>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2176272"/>
            <a:ext cx="3088538" cy="457200"/>
          </a:xfrm>
          <a:prstGeom prst="rect">
            <a:avLst/>
          </a:prstGeom>
          <a:noFill/>
        </p:spPr>
        <p:txBody>
          <a:bodyPr wrap="square" anchor="t" lIns="0" rIns="0" tIns="0" bIns="0">
            <a:spAutoFit/>
          </a:bodyPr>
          <a:lstStyle/>
          <a:p>
            <a:pPr>
              <a:lnSpc>
                <a:spcPct val="115000"/>
              </a:lnSpc>
              <a:spcBef>
                <a:spcPts val="0"/>
              </a:spcBef>
              <a:spcAft>
                <a:spcPts val="0"/>
              </a:spcAft>
            </a:pPr>
            <a:r>
              <a:rPr sz="1450" b="1">
                <a:solidFill>
                  <a:srgbClr val="EEF3FA"/>
                </a:solidFill>
                <a:latin typeface="Helvetica Neue"/>
              </a:rPr>
              <a:t>Unnecessary spend</a:t>
            </a:r>
          </a:p>
        </p:txBody>
      </p:sp>
      <p:sp>
        <p:nvSpPr>
          <p:cNvPr id="8" name="TextBox 7"/>
          <p:cNvSpPr txBox="1"/>
          <p:nvPr/>
        </p:nvSpPr>
        <p:spPr>
          <a:xfrm>
            <a:off x="859536" y="2651760"/>
            <a:ext cx="3088538" cy="1325880"/>
          </a:xfrm>
          <a:prstGeom prst="rect">
            <a:avLst/>
          </a:prstGeom>
          <a:noFill/>
        </p:spPr>
        <p:txBody>
          <a:bodyPr wrap="square" anchor="t" lIns="0" rIns="0" tIns="0" bIns="0">
            <a:spAutoFit/>
          </a:bodyPr>
          <a:lstStyle/>
          <a:p>
            <a:pPr>
              <a:lnSpc>
                <a:spcPct val="140000"/>
              </a:lnSpc>
              <a:spcBef>
                <a:spcPts val="0"/>
              </a:spcBef>
              <a:spcAft>
                <a:spcPts val="0"/>
              </a:spcAft>
            </a:pPr>
            <a:r>
              <a:rPr sz="1150" b="0">
                <a:solidFill>
                  <a:srgbClr val="A3B0C6"/>
                </a:solidFill>
                <a:latin typeface="Helvetica Neue"/>
              </a:rPr>
              <a:t>A one-line question and a distributed-systems design problem cost the same, because both named the same model.</a:t>
            </a:r>
          </a:p>
        </p:txBody>
      </p:sp>
      <p:sp>
        <p:nvSpPr>
          <p:cNvPr id="9" name="Rectangle 8"/>
          <p:cNvSpPr/>
          <p:nvPr/>
        </p:nvSpPr>
        <p:spPr>
          <a:xfrm>
            <a:off x="4350410" y="1938528"/>
            <a:ext cx="3490874" cy="224028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50410" y="1938528"/>
            <a:ext cx="3490874" cy="38100"/>
          </a:xfrm>
          <a:prstGeom prst="rect">
            <a:avLst/>
          </a:prstGeom>
          <a:solidFill>
            <a:srgbClr val="4DD6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51578" y="2176272"/>
            <a:ext cx="3088538" cy="457200"/>
          </a:xfrm>
          <a:prstGeom prst="rect">
            <a:avLst/>
          </a:prstGeom>
          <a:noFill/>
        </p:spPr>
        <p:txBody>
          <a:bodyPr wrap="square" anchor="t" lIns="0" rIns="0" tIns="0" bIns="0">
            <a:spAutoFit/>
          </a:bodyPr>
          <a:lstStyle/>
          <a:p>
            <a:pPr>
              <a:lnSpc>
                <a:spcPct val="115000"/>
              </a:lnSpc>
              <a:spcBef>
                <a:spcPts val="0"/>
              </a:spcBef>
              <a:spcAft>
                <a:spcPts val="0"/>
              </a:spcAft>
            </a:pPr>
            <a:r>
              <a:rPr sz="1450" b="1">
                <a:solidFill>
                  <a:srgbClr val="EEF3FA"/>
                </a:solidFill>
                <a:latin typeface="Helvetica Neue"/>
              </a:rPr>
              <a:t>Data sovereignty</a:t>
            </a:r>
          </a:p>
        </p:txBody>
      </p:sp>
      <p:sp>
        <p:nvSpPr>
          <p:cNvPr id="12" name="TextBox 11"/>
          <p:cNvSpPr txBox="1"/>
          <p:nvPr/>
        </p:nvSpPr>
        <p:spPr>
          <a:xfrm>
            <a:off x="4551578" y="2651760"/>
            <a:ext cx="3088538" cy="1325880"/>
          </a:xfrm>
          <a:prstGeom prst="rect">
            <a:avLst/>
          </a:prstGeom>
          <a:noFill/>
        </p:spPr>
        <p:txBody>
          <a:bodyPr wrap="square" anchor="t" lIns="0" rIns="0" tIns="0" bIns="0">
            <a:spAutoFit/>
          </a:bodyPr>
          <a:lstStyle/>
          <a:p>
            <a:pPr>
              <a:lnSpc>
                <a:spcPct val="140000"/>
              </a:lnSpc>
              <a:spcBef>
                <a:spcPts val="0"/>
              </a:spcBef>
              <a:spcAft>
                <a:spcPts val="0"/>
              </a:spcAft>
            </a:pPr>
            <a:r>
              <a:rPr sz="1150" b="0">
                <a:solidFill>
                  <a:srgbClr val="A3B0C6"/>
                </a:solidFill>
                <a:latin typeface="Helvetica Neue"/>
              </a:rPr>
              <a:t>PII, financial and medical content leaves the data centre to reach a cloud model, because nothing inspected it on the way out.</a:t>
            </a:r>
          </a:p>
        </p:txBody>
      </p:sp>
      <p:sp>
        <p:nvSpPr>
          <p:cNvPr id="13" name="Rectangle 12"/>
          <p:cNvSpPr/>
          <p:nvPr/>
        </p:nvSpPr>
        <p:spPr>
          <a:xfrm>
            <a:off x="8042452" y="1938528"/>
            <a:ext cx="3490874" cy="224028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42452" y="1938528"/>
            <a:ext cx="3490874" cy="38100"/>
          </a:xfrm>
          <a:prstGeom prst="rect">
            <a:avLst/>
          </a:prstGeom>
          <a:solidFill>
            <a:srgbClr val="B38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43620" y="2176272"/>
            <a:ext cx="3088538" cy="457200"/>
          </a:xfrm>
          <a:prstGeom prst="rect">
            <a:avLst/>
          </a:prstGeom>
          <a:noFill/>
        </p:spPr>
        <p:txBody>
          <a:bodyPr wrap="square" anchor="t" lIns="0" rIns="0" tIns="0" bIns="0">
            <a:spAutoFit/>
          </a:bodyPr>
          <a:lstStyle/>
          <a:p>
            <a:pPr>
              <a:lnSpc>
                <a:spcPct val="115000"/>
              </a:lnSpc>
              <a:spcBef>
                <a:spcPts val="0"/>
              </a:spcBef>
              <a:spcAft>
                <a:spcPts val="0"/>
              </a:spcAft>
            </a:pPr>
            <a:r>
              <a:rPr sz="1450" b="1">
                <a:solidFill>
                  <a:srgbClr val="EEF3FA"/>
                </a:solidFill>
                <a:latin typeface="Helvetica Neue"/>
              </a:rPr>
              <a:t>Safety &amp; latency</a:t>
            </a:r>
          </a:p>
        </p:txBody>
      </p:sp>
      <p:sp>
        <p:nvSpPr>
          <p:cNvPr id="16" name="TextBox 15"/>
          <p:cNvSpPr txBox="1"/>
          <p:nvPr/>
        </p:nvSpPr>
        <p:spPr>
          <a:xfrm>
            <a:off x="8243620" y="2651760"/>
            <a:ext cx="3088538" cy="1325880"/>
          </a:xfrm>
          <a:prstGeom prst="rect">
            <a:avLst/>
          </a:prstGeom>
          <a:noFill/>
        </p:spPr>
        <p:txBody>
          <a:bodyPr wrap="square" anchor="t" lIns="0" rIns="0" tIns="0" bIns="0">
            <a:spAutoFit/>
          </a:bodyPr>
          <a:lstStyle/>
          <a:p>
            <a:pPr>
              <a:lnSpc>
                <a:spcPct val="140000"/>
              </a:lnSpc>
              <a:spcBef>
                <a:spcPts val="0"/>
              </a:spcBef>
              <a:spcAft>
                <a:spcPts val="0"/>
              </a:spcAft>
            </a:pPr>
            <a:r>
              <a:rPr sz="1150" b="0">
                <a:solidFill>
                  <a:srgbClr val="A3B0C6"/>
                </a:solidFill>
                <a:latin typeface="Helvetica Neue"/>
              </a:rPr>
              <a:t>Jailbreaks pass straight through to inference. Meanwhile trivial requests queue behind heavy reasoning work on the same backend.</a:t>
            </a:r>
          </a:p>
        </p:txBody>
      </p:sp>
      <p:sp>
        <p:nvSpPr>
          <p:cNvPr id="17" name="Rectangle 16"/>
          <p:cNvSpPr/>
          <p:nvPr/>
        </p:nvSpPr>
        <p:spPr>
          <a:xfrm>
            <a:off x="658368" y="4398264"/>
            <a:ext cx="10874959" cy="475488"/>
          </a:xfrm>
          <a:prstGeom prst="rect">
            <a:avLst/>
          </a:prstGeom>
          <a:solidFill>
            <a:srgbClr val="1E2636"/>
          </a:solidFill>
          <a:ln w="12700">
            <a:solidFill>
              <a:srgbClr val="FFC8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4398264"/>
            <a:ext cx="50800" cy="475488"/>
          </a:xfrm>
          <a:prstGeom prst="rect">
            <a:avLst/>
          </a:prstGeom>
          <a:solidFill>
            <a:srgbClr val="FFC8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9536" y="4517136"/>
            <a:ext cx="10472623" cy="237744"/>
          </a:xfrm>
          <a:prstGeom prst="rect">
            <a:avLst/>
          </a:prstGeom>
          <a:noFill/>
        </p:spPr>
        <p:txBody>
          <a:bodyPr wrap="square" anchor="t" lIns="0" rIns="0" tIns="0" bIns="0">
            <a:spAutoFit/>
          </a:bodyPr>
          <a:lstStyle/>
          <a:p>
            <a:pPr>
              <a:lnSpc>
                <a:spcPct val="130000"/>
              </a:lnSpc>
              <a:spcBef>
                <a:spcPts val="0"/>
              </a:spcBef>
              <a:spcAft>
                <a:spcPts val="0"/>
              </a:spcAft>
            </a:pPr>
            <a:r>
              <a:rPr sz="1250" b="0">
                <a:solidFill>
                  <a:srgbClr val="FFC857"/>
                </a:solidFill>
                <a:latin typeface="Helvetica Neue"/>
              </a:rPr>
              <a:t>You cannot enforce a policy you cannot see. Routing has to read the request.</a:t>
            </a:r>
          </a:p>
        </p:txBody>
      </p:sp>
      <p:sp>
        <p:nvSpPr>
          <p:cNvPr id="20" name="TextBox 19"/>
          <p:cNvSpPr txBox="1"/>
          <p:nvPr/>
        </p:nvSpPr>
        <p:spPr>
          <a:xfrm>
            <a:off x="9521647" y="6382512"/>
            <a:ext cx="2011680" cy="274320"/>
          </a:xfrm>
          <a:prstGeom prst="rect">
            <a:avLst/>
          </a:prstGeom>
          <a:noFill/>
        </p:spPr>
        <p:txBody>
          <a:bodyPr wrap="square" anchor="t" lIns="0" rIns="0" tIns="0" bIns="0">
            <a:spAutoFit/>
          </a:bodyPr>
          <a:lstStyle/>
          <a:p>
            <a:pPr algn="r"/>
            <a:r>
              <a:rPr sz="1000">
                <a:solidFill>
                  <a:srgbClr val="FF4D4D"/>
                </a:solidFill>
                <a:latin typeface="Menlo"/>
              </a:rPr>
              <a:t>4:00  ·  </a:t>
            </a:r>
            <a:r>
              <a:rPr sz="1000">
                <a:solidFill>
                  <a:srgbClr val="6E7D96"/>
                </a:solidFill>
                <a:latin typeface="Menlo"/>
              </a:rPr>
              <a:t>4 / 20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Rectangle 1"/>
          <p:cNvSpPr/>
          <p:nvPr/>
        </p:nvSpPr>
        <p:spPr>
          <a:xfrm>
            <a:off x="0" y="0"/>
            <a:ext cx="1783080" cy="63500"/>
          </a:xfrm>
          <a:prstGeom prst="rect">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30352"/>
            <a:ext cx="10874959" cy="868680"/>
          </a:xfrm>
          <a:prstGeom prst="rect">
            <a:avLst/>
          </a:prstGeom>
          <a:noFill/>
        </p:spPr>
        <p:txBody>
          <a:bodyPr wrap="square" anchor="t" lIns="0" rIns="0" tIns="0" bIns="0">
            <a:spAutoFit/>
          </a:bodyPr>
          <a:lstStyle/>
          <a:p>
            <a:pPr>
              <a:lnSpc>
                <a:spcPct val="110000"/>
              </a:lnSpc>
              <a:spcBef>
                <a:spcPts val="0"/>
              </a:spcBef>
              <a:spcAft>
                <a:spcPts val="0"/>
              </a:spcAft>
            </a:pPr>
            <a:r>
              <a:rPr sz="2900" b="1">
                <a:solidFill>
                  <a:srgbClr val="EEF3FA"/>
                </a:solidFill>
                <a:latin typeface="Helvetica Neue"/>
              </a:rPr>
              <a:t>The idea, in one line</a:t>
            </a:r>
          </a:p>
        </p:txBody>
      </p:sp>
      <p:sp>
        <p:nvSpPr>
          <p:cNvPr id="4" name="Rectangle 3"/>
          <p:cNvSpPr/>
          <p:nvPr/>
        </p:nvSpPr>
        <p:spPr>
          <a:xfrm>
            <a:off x="658368" y="1335024"/>
            <a:ext cx="50800" cy="420624"/>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96112" y="1335024"/>
            <a:ext cx="9966960" cy="420624"/>
          </a:xfrm>
          <a:prstGeom prst="rect">
            <a:avLst/>
          </a:prstGeom>
          <a:noFill/>
        </p:spPr>
        <p:txBody>
          <a:bodyPr wrap="square" anchor="t" lIns="0" rIns="0" tIns="0" bIns="0">
            <a:spAutoFit/>
          </a:bodyPr>
          <a:lstStyle/>
          <a:p>
            <a:pPr>
              <a:lnSpc>
                <a:spcPct val="130000"/>
              </a:lnSpc>
              <a:spcBef>
                <a:spcPts val="0"/>
              </a:spcBef>
              <a:spcAft>
                <a:spcPts val="0"/>
              </a:spcAft>
            </a:pPr>
            <a:r>
              <a:rPr sz="1800" b="1">
                <a:solidFill>
                  <a:srgbClr val="EEF3FA"/>
                </a:solidFill>
                <a:latin typeface="Helvetica Neue"/>
              </a:rPr>
              <a:t>intent(prompt, context)  →  compose(model, mode, tools)</a:t>
            </a:r>
          </a:p>
        </p:txBody>
      </p:sp>
      <p:sp>
        <p:nvSpPr>
          <p:cNvPr id="6" name="TextBox 5"/>
          <p:cNvSpPr txBox="1"/>
          <p:nvPr/>
        </p:nvSpPr>
        <p:spPr>
          <a:xfrm>
            <a:off x="658368" y="2066544"/>
            <a:ext cx="10241280" cy="2743200"/>
          </a:xfrm>
          <a:prstGeom prst="rect">
            <a:avLst/>
          </a:prstGeom>
          <a:noFill/>
        </p:spPr>
        <p:txBody>
          <a:bodyPr wrap="square" anchor="t" lIns="0" rIns="0" tIns="0" bIns="0">
            <a:spAutoFit/>
          </a:bodyPr>
          <a:lstStyle/>
          <a:p>
            <a:pPr>
              <a:lnSpc>
                <a:spcPct val="135000"/>
              </a:lnSpc>
              <a:spcBef>
                <a:spcPts val="0"/>
              </a:spcBef>
              <a:spcAft>
                <a:spcPts val="1100"/>
              </a:spcAft>
            </a:pPr>
            <a:r>
              <a:rPr sz="1450">
                <a:solidFill>
                  <a:srgbClr val="FF4D4D"/>
                </a:solidFill>
                <a:latin typeface="Helvetica Neue"/>
              </a:rPr>
              <a:t>▪   Read intent, domain, complexity and risk from the prompt and its context.</a:t>
            </a:r>
          </a:p>
          <a:p>
            <a:pPr>
              <a:lnSpc>
                <a:spcPct val="135000"/>
              </a:lnSpc>
              <a:spcBef>
                <a:spcPts val="0"/>
              </a:spcBef>
              <a:spcAft>
                <a:spcPts val="1100"/>
              </a:spcAft>
            </a:pPr>
            <a:r>
              <a:rPr sz="1450">
                <a:solidFill>
                  <a:srgbClr val="FF4D4D"/>
                </a:solidFill>
                <a:latin typeface="Helvetica Neue"/>
              </a:rPr>
              <a:t>▪   Then compose the right model, the right mode, the right supporting capabilities.</a:t>
            </a:r>
          </a:p>
          <a:p>
            <a:pPr>
              <a:lnSpc>
                <a:spcPct val="135000"/>
              </a:lnSpc>
              <a:spcBef>
                <a:spcPts val="0"/>
              </a:spcBef>
              <a:spcAft>
                <a:spcPts val="1100"/>
              </a:spcAft>
            </a:pPr>
            <a:r>
              <a:rPr sz="1450">
                <a:solidFill>
                  <a:srgbClr val="FF4D4D"/>
                </a:solidFill>
                <a:latin typeface="Helvetica Neue"/>
              </a:rPr>
              <a:t>▪   Clients send model: "auto" over the ordinary OpenAI-compatible API. No SDK, no client change.</a:t>
            </a:r>
          </a:p>
          <a:p>
            <a:pPr>
              <a:lnSpc>
                <a:spcPct val="135000"/>
              </a:lnSpc>
              <a:spcBef>
                <a:spcPts val="0"/>
              </a:spcBef>
              <a:spcAft>
                <a:spcPts val="1100"/>
              </a:spcAft>
            </a:pPr>
            <a:r>
              <a:rPr sz="1450">
                <a:solidFill>
                  <a:srgbClr val="FF4D4D"/>
                </a:solidFill>
                <a:latin typeface="Helvetica Neue"/>
              </a:rPr>
              <a:t>▪   Intelligence moves upstream — the decision happens once at the gateway, not in every application.</a:t>
            </a:r>
          </a:p>
        </p:txBody>
      </p:sp>
      <p:sp>
        <p:nvSpPr>
          <p:cNvPr id="7" name="TextBox 6"/>
          <p:cNvSpPr txBox="1"/>
          <p:nvPr/>
        </p:nvSpPr>
        <p:spPr>
          <a:xfrm>
            <a:off x="9521647" y="6382512"/>
            <a:ext cx="2011680" cy="274320"/>
          </a:xfrm>
          <a:prstGeom prst="rect">
            <a:avLst/>
          </a:prstGeom>
          <a:noFill/>
        </p:spPr>
        <p:txBody>
          <a:bodyPr wrap="square" anchor="t" lIns="0" rIns="0" tIns="0" bIns="0">
            <a:spAutoFit/>
          </a:bodyPr>
          <a:lstStyle/>
          <a:p>
            <a:pPr algn="r"/>
            <a:r>
              <a:rPr sz="1000">
                <a:solidFill>
                  <a:srgbClr val="FF4D4D"/>
                </a:solidFill>
                <a:latin typeface="Menlo"/>
              </a:rPr>
              <a:t>5:30  ·  </a:t>
            </a:r>
            <a:r>
              <a:rPr sz="1000">
                <a:solidFill>
                  <a:srgbClr val="6E7D96"/>
                </a:solidFill>
                <a:latin typeface="Menlo"/>
              </a:rPr>
              <a:t>5 / 20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Rectangle 1"/>
          <p:cNvSpPr/>
          <p:nvPr/>
        </p:nvSpPr>
        <p:spPr>
          <a:xfrm>
            <a:off x="0" y="0"/>
            <a:ext cx="1783080" cy="63500"/>
          </a:xfrm>
          <a:prstGeom prst="rect">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30352"/>
            <a:ext cx="10874959" cy="868680"/>
          </a:xfrm>
          <a:prstGeom prst="rect">
            <a:avLst/>
          </a:prstGeom>
          <a:noFill/>
        </p:spPr>
        <p:txBody>
          <a:bodyPr wrap="square" anchor="t" lIns="0" rIns="0" tIns="0" bIns="0">
            <a:spAutoFit/>
          </a:bodyPr>
          <a:lstStyle/>
          <a:p>
            <a:pPr>
              <a:lnSpc>
                <a:spcPct val="110000"/>
              </a:lnSpc>
              <a:spcBef>
                <a:spcPts val="0"/>
              </a:spcBef>
              <a:spcAft>
                <a:spcPts val="0"/>
              </a:spcAft>
            </a:pPr>
            <a:r>
              <a:rPr sz="2900" b="1">
                <a:solidFill>
                  <a:srgbClr val="EEF3FA"/>
                </a:solidFill>
                <a:latin typeface="Helvetica Neue"/>
              </a:rPr>
              <a:t>Mixture-of-Models is not Mixture-of-Experts</a:t>
            </a:r>
          </a:p>
        </p:txBody>
      </p:sp>
      <p:sp>
        <p:nvSpPr>
          <p:cNvPr id="4" name="TextBox 3"/>
          <p:cNvSpPr txBox="1"/>
          <p:nvPr/>
        </p:nvSpPr>
        <p:spPr>
          <a:xfrm>
            <a:off x="658368" y="1188720"/>
            <a:ext cx="9692640" cy="822960"/>
          </a:xfrm>
          <a:prstGeom prst="rect">
            <a:avLst/>
          </a:prstGeom>
          <a:noFill/>
        </p:spPr>
        <p:txBody>
          <a:bodyPr wrap="square" anchor="t" lIns="0" rIns="0" tIns="0" bIns="0">
            <a:spAutoFit/>
          </a:bodyPr>
          <a:lstStyle/>
          <a:p>
            <a:pPr>
              <a:lnSpc>
                <a:spcPct val="135000"/>
              </a:lnSpc>
              <a:spcBef>
                <a:spcPts val="0"/>
              </a:spcBef>
              <a:spcAft>
                <a:spcPts val="0"/>
              </a:spcAft>
            </a:pPr>
            <a:r>
              <a:rPr sz="1400" b="0">
                <a:solidFill>
                  <a:srgbClr val="A3B0C6"/>
                </a:solidFill>
                <a:latin typeface="Helvetica Neue"/>
              </a:rPr>
              <a:t>These get conflated constantly, and they operate at completely different levels.</a:t>
            </a:r>
          </a:p>
        </p:txBody>
      </p:sp>
      <p:sp>
        <p:nvSpPr>
          <p:cNvPr id="5" name="Rectangle 4"/>
          <p:cNvSpPr/>
          <p:nvPr/>
        </p:nvSpPr>
        <p:spPr>
          <a:xfrm>
            <a:off x="658368" y="1938528"/>
            <a:ext cx="5318607" cy="320040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938528"/>
            <a:ext cx="5318607" cy="475488"/>
          </a:xfrm>
          <a:prstGeom prst="rect">
            <a:avLst/>
          </a:prstGeom>
          <a:solidFill>
            <a:srgbClr val="1E26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938528"/>
            <a:ext cx="50800" cy="475488"/>
          </a:xfrm>
          <a:prstGeom prst="rect">
            <a:avLst/>
          </a:prstGeom>
          <a:solidFill>
            <a:srgbClr val="4DD6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77824" y="2057400"/>
            <a:ext cx="4879695" cy="329184"/>
          </a:xfrm>
          <a:prstGeom prst="rect">
            <a:avLst/>
          </a:prstGeom>
          <a:noFill/>
        </p:spPr>
        <p:txBody>
          <a:bodyPr wrap="square" anchor="t" lIns="0" rIns="0" tIns="0" bIns="0">
            <a:spAutoFit/>
          </a:bodyPr>
          <a:lstStyle/>
          <a:p>
            <a:pPr>
              <a:spcBef>
                <a:spcPts val="0"/>
              </a:spcBef>
              <a:spcAft>
                <a:spcPts val="0"/>
              </a:spcAft>
            </a:pPr>
            <a:r>
              <a:rPr sz="1500" b="1">
                <a:solidFill>
                  <a:srgbClr val="4DD6C8"/>
                </a:solidFill>
                <a:latin typeface="Helvetica Neue"/>
              </a:rPr>
              <a:t>MoE — Mixture-of-Experts</a:t>
            </a:r>
          </a:p>
        </p:txBody>
      </p:sp>
      <p:sp>
        <p:nvSpPr>
          <p:cNvPr id="9" name="TextBox 8"/>
          <p:cNvSpPr txBox="1"/>
          <p:nvPr/>
        </p:nvSpPr>
        <p:spPr>
          <a:xfrm>
            <a:off x="877824" y="2560320"/>
            <a:ext cx="4879695" cy="2377440"/>
          </a:xfrm>
          <a:prstGeom prst="rect">
            <a:avLst/>
          </a:prstGeom>
          <a:noFill/>
        </p:spPr>
        <p:txBody>
          <a:bodyPr wrap="square" anchor="t" lIns="0" rIns="0" tIns="0" bIns="0">
            <a:spAutoFit/>
          </a:bodyPr>
          <a:lstStyle/>
          <a:p>
            <a:pPr>
              <a:lnSpc>
                <a:spcPct val="135000"/>
              </a:lnSpc>
              <a:spcBef>
                <a:spcPts val="0"/>
              </a:spcBef>
              <a:spcAft>
                <a:spcPts val="1000"/>
              </a:spcAft>
            </a:pPr>
            <a:r>
              <a:rPr sz="1200" b="0">
                <a:solidFill>
                  <a:srgbClr val="A3B0C6"/>
                </a:solidFill>
                <a:latin typeface="Helvetica Neue"/>
              </a:rPr>
              <a:t>An architecture pattern inside a single model.</a:t>
            </a:r>
          </a:p>
          <a:p>
            <a:pPr>
              <a:lnSpc>
                <a:spcPct val="135000"/>
              </a:lnSpc>
              <a:spcBef>
                <a:spcPts val="0"/>
              </a:spcBef>
              <a:spcAft>
                <a:spcPts val="1000"/>
              </a:spcAft>
            </a:pPr>
            <a:r>
              <a:rPr sz="1200" b="0">
                <a:solidFill>
                  <a:srgbClr val="A3B0C6"/>
                </a:solidFill>
                <a:latin typeface="Helvetica Neue"/>
              </a:rPr>
              <a:t>Sparse expert activation across layers.</a:t>
            </a:r>
          </a:p>
          <a:p>
            <a:pPr>
              <a:lnSpc>
                <a:spcPct val="135000"/>
              </a:lnSpc>
              <a:spcBef>
                <a:spcPts val="0"/>
              </a:spcBef>
              <a:spcAft>
                <a:spcPts val="1000"/>
              </a:spcAft>
            </a:pPr>
            <a:r>
              <a:rPr sz="1200" b="0">
                <a:solidFill>
                  <a:srgbClr val="A3B0C6"/>
                </a:solidFill>
                <a:latin typeface="Helvetica Neue"/>
              </a:rPr>
              <a:t>Chosen by the model vendor at training time.</a:t>
            </a:r>
          </a:p>
          <a:p>
            <a:pPr>
              <a:lnSpc>
                <a:spcPct val="135000"/>
              </a:lnSpc>
              <a:spcBef>
                <a:spcPts val="0"/>
              </a:spcBef>
              <a:spcAft>
                <a:spcPts val="1000"/>
              </a:spcAft>
            </a:pPr>
            <a:r>
              <a:rPr sz="1200" b="0">
                <a:solidFill>
                  <a:srgbClr val="A3B0C6"/>
                </a:solidFill>
                <a:latin typeface="Helvetica Neue"/>
              </a:rPr>
              <a:t>You cannot inspect or change the routing.</a:t>
            </a:r>
          </a:p>
        </p:txBody>
      </p:sp>
      <p:sp>
        <p:nvSpPr>
          <p:cNvPr id="10" name="Rectangle 9"/>
          <p:cNvSpPr/>
          <p:nvPr/>
        </p:nvSpPr>
        <p:spPr>
          <a:xfrm>
            <a:off x="6214719" y="1938528"/>
            <a:ext cx="5318607" cy="320040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14719" y="1938528"/>
            <a:ext cx="5318607" cy="475488"/>
          </a:xfrm>
          <a:prstGeom prst="rect">
            <a:avLst/>
          </a:prstGeom>
          <a:solidFill>
            <a:srgbClr val="1E26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4719" y="1938528"/>
            <a:ext cx="50800" cy="475488"/>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34175" y="2057400"/>
            <a:ext cx="4879695" cy="329184"/>
          </a:xfrm>
          <a:prstGeom prst="rect">
            <a:avLst/>
          </a:prstGeom>
          <a:noFill/>
        </p:spPr>
        <p:txBody>
          <a:bodyPr wrap="square" anchor="t" lIns="0" rIns="0" tIns="0" bIns="0">
            <a:spAutoFit/>
          </a:bodyPr>
          <a:lstStyle/>
          <a:p>
            <a:pPr>
              <a:spcBef>
                <a:spcPts val="0"/>
              </a:spcBef>
              <a:spcAft>
                <a:spcPts val="0"/>
              </a:spcAft>
            </a:pPr>
            <a:r>
              <a:rPr sz="1500" b="1">
                <a:solidFill>
                  <a:srgbClr val="FF4D4D"/>
                </a:solidFill>
                <a:latin typeface="Helvetica Neue"/>
              </a:rPr>
              <a:t>MoM — Mixture-of-Models</a:t>
            </a:r>
          </a:p>
        </p:txBody>
      </p:sp>
      <p:sp>
        <p:nvSpPr>
          <p:cNvPr id="14" name="TextBox 13"/>
          <p:cNvSpPr txBox="1"/>
          <p:nvPr/>
        </p:nvSpPr>
        <p:spPr>
          <a:xfrm>
            <a:off x="6434175" y="2560320"/>
            <a:ext cx="4879695" cy="2377440"/>
          </a:xfrm>
          <a:prstGeom prst="rect">
            <a:avLst/>
          </a:prstGeom>
          <a:noFill/>
        </p:spPr>
        <p:txBody>
          <a:bodyPr wrap="square" anchor="t" lIns="0" rIns="0" tIns="0" bIns="0">
            <a:spAutoFit/>
          </a:bodyPr>
          <a:lstStyle/>
          <a:p>
            <a:pPr>
              <a:lnSpc>
                <a:spcPct val="135000"/>
              </a:lnSpc>
              <a:spcBef>
                <a:spcPts val="0"/>
              </a:spcBef>
              <a:spcAft>
                <a:spcPts val="1000"/>
              </a:spcAft>
            </a:pPr>
            <a:r>
              <a:rPr sz="1200" b="0">
                <a:solidFill>
                  <a:srgbClr val="A3B0C6"/>
                </a:solidFill>
                <a:latin typeface="Helvetica Neue"/>
              </a:rPr>
              <a:t>A system pattern orchestrating independent models.</a:t>
            </a:r>
          </a:p>
          <a:p>
            <a:pPr>
              <a:lnSpc>
                <a:spcPct val="135000"/>
              </a:lnSpc>
              <a:spcBef>
                <a:spcPts val="0"/>
              </a:spcBef>
              <a:spcAft>
                <a:spcPts val="1000"/>
              </a:spcAft>
            </a:pPr>
            <a:r>
              <a:rPr sz="1200" b="0">
                <a:solidFill>
                  <a:srgbClr val="A3B0C6"/>
                </a:solidFill>
                <a:latin typeface="Helvetica Neue"/>
              </a:rPr>
              <a:t>They differ in architecture, training data, capability, hardware.</a:t>
            </a:r>
          </a:p>
          <a:p>
            <a:pPr>
              <a:lnSpc>
                <a:spcPct val="135000"/>
              </a:lnSpc>
              <a:spcBef>
                <a:spcPts val="0"/>
              </a:spcBef>
              <a:spcAft>
                <a:spcPts val="1000"/>
              </a:spcAft>
            </a:pPr>
            <a:r>
              <a:rPr sz="1200" b="0">
                <a:solidFill>
                  <a:srgbClr val="A3B0C6"/>
                </a:solidFill>
                <a:latin typeface="Helvetica Neue"/>
              </a:rPr>
              <a:t>Chosen by you, in configuration, at request time.</a:t>
            </a:r>
          </a:p>
          <a:p>
            <a:pPr>
              <a:lnSpc>
                <a:spcPct val="135000"/>
              </a:lnSpc>
              <a:spcBef>
                <a:spcPts val="0"/>
              </a:spcBef>
              <a:spcAft>
                <a:spcPts val="1000"/>
              </a:spcAft>
            </a:pPr>
            <a:r>
              <a:rPr sz="1200" b="0">
                <a:solidFill>
                  <a:srgbClr val="A3B0C6"/>
                </a:solidFill>
                <a:latin typeface="Helvetica Neue"/>
              </a:rPr>
              <a:t>Every decision is declared in YAML and observable.</a:t>
            </a:r>
          </a:p>
        </p:txBody>
      </p:sp>
      <p:sp>
        <p:nvSpPr>
          <p:cNvPr id="15" name="TextBox 14"/>
          <p:cNvSpPr txBox="1"/>
          <p:nvPr/>
        </p:nvSpPr>
        <p:spPr>
          <a:xfrm>
            <a:off x="9521647" y="6382512"/>
            <a:ext cx="2011680" cy="274320"/>
          </a:xfrm>
          <a:prstGeom prst="rect">
            <a:avLst/>
          </a:prstGeom>
          <a:noFill/>
        </p:spPr>
        <p:txBody>
          <a:bodyPr wrap="square" anchor="t" lIns="0" rIns="0" tIns="0" bIns="0">
            <a:spAutoFit/>
          </a:bodyPr>
          <a:lstStyle/>
          <a:p>
            <a:pPr algn="r"/>
            <a:r>
              <a:rPr sz="1000">
                <a:solidFill>
                  <a:srgbClr val="FF4D4D"/>
                </a:solidFill>
                <a:latin typeface="Menlo"/>
              </a:rPr>
              <a:t>7:00  ·  </a:t>
            </a:r>
            <a:r>
              <a:rPr sz="1000">
                <a:solidFill>
                  <a:srgbClr val="6E7D96"/>
                </a:solidFill>
                <a:latin typeface="Menlo"/>
              </a:rPr>
              <a:t>6 / 20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Rectangle 1"/>
          <p:cNvSpPr/>
          <p:nvPr/>
        </p:nvSpPr>
        <p:spPr>
          <a:xfrm>
            <a:off x="0" y="0"/>
            <a:ext cx="1783080" cy="63500"/>
          </a:xfrm>
          <a:prstGeom prst="rect">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30352"/>
            <a:ext cx="10874959" cy="868680"/>
          </a:xfrm>
          <a:prstGeom prst="rect">
            <a:avLst/>
          </a:prstGeom>
          <a:noFill/>
        </p:spPr>
        <p:txBody>
          <a:bodyPr wrap="square" anchor="t" lIns="0" rIns="0" tIns="0" bIns="0">
            <a:spAutoFit/>
          </a:bodyPr>
          <a:lstStyle/>
          <a:p>
            <a:pPr>
              <a:lnSpc>
                <a:spcPct val="110000"/>
              </a:lnSpc>
              <a:spcBef>
                <a:spcPts val="0"/>
              </a:spcBef>
              <a:spcAft>
                <a:spcPts val="0"/>
              </a:spcAft>
            </a:pPr>
            <a:r>
              <a:rPr sz="2900" b="1">
                <a:solidFill>
                  <a:srgbClr val="EEF3FA"/>
                </a:solidFill>
                <a:latin typeface="Helvetica Neue"/>
              </a:rPr>
              <a:t>Where it sits: what, which, how</a:t>
            </a:r>
          </a:p>
        </p:txBody>
      </p:sp>
      <p:sp>
        <p:nvSpPr>
          <p:cNvPr id="4" name="TextBox 3"/>
          <p:cNvSpPr txBox="1"/>
          <p:nvPr/>
        </p:nvSpPr>
        <p:spPr>
          <a:xfrm>
            <a:off x="658368" y="1188720"/>
            <a:ext cx="9692640" cy="822960"/>
          </a:xfrm>
          <a:prstGeom prst="rect">
            <a:avLst/>
          </a:prstGeom>
          <a:noFill/>
        </p:spPr>
        <p:txBody>
          <a:bodyPr wrap="square" anchor="t" lIns="0" rIns="0" tIns="0" bIns="0">
            <a:spAutoFit/>
          </a:bodyPr>
          <a:lstStyle/>
          <a:p>
            <a:pPr>
              <a:lnSpc>
                <a:spcPct val="135000"/>
              </a:lnSpc>
              <a:spcBef>
                <a:spcPts val="0"/>
              </a:spcBef>
              <a:spcAft>
                <a:spcPts val="0"/>
              </a:spcAft>
            </a:pPr>
            <a:r>
              <a:rPr sz="1400" b="0">
                <a:solidFill>
                  <a:srgbClr val="A3B0C6"/>
                </a:solidFill>
                <a:latin typeface="Helvetica Neue"/>
              </a:rPr>
              <a:t>Three layers, one request path. The router complements your serving stack rather than replacing it.</a:t>
            </a:r>
          </a:p>
        </p:txBody>
      </p:sp>
      <p:sp>
        <p:nvSpPr>
          <p:cNvPr id="5" name="Rectangle 4"/>
          <p:cNvSpPr/>
          <p:nvPr/>
        </p:nvSpPr>
        <p:spPr>
          <a:xfrm>
            <a:off x="658368" y="1938528"/>
            <a:ext cx="10874959" cy="25400"/>
          </a:xfrm>
          <a:prstGeom prst="rect">
            <a:avLst/>
          </a:prstGeom>
          <a:solidFill>
            <a:srgbClr val="2E38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658368" y="2212848"/>
            <a:ext cx="384048" cy="384048"/>
          </a:xfrm>
          <a:prstGeom prst="ellipse">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Bef>
                <a:spcPts val="0"/>
              </a:spcBef>
              <a:spcAft>
                <a:spcPts val="0"/>
              </a:spcAft>
            </a:pPr>
            <a:r>
              <a:rPr sz="1300" b="1">
                <a:solidFill>
                  <a:srgbClr val="FFFFFF"/>
                </a:solidFill>
                <a:latin typeface="Menlo"/>
              </a:rPr>
              <a:t>1</a:t>
            </a:r>
          </a:p>
        </p:txBody>
      </p:sp>
      <p:sp>
        <p:nvSpPr>
          <p:cNvPr id="7" name="TextBox 6"/>
          <p:cNvSpPr txBox="1"/>
          <p:nvPr/>
        </p:nvSpPr>
        <p:spPr>
          <a:xfrm>
            <a:off x="658368" y="2743200"/>
            <a:ext cx="3429914" cy="365760"/>
          </a:xfrm>
          <a:prstGeom prst="rect">
            <a:avLst/>
          </a:prstGeom>
          <a:noFill/>
        </p:spPr>
        <p:txBody>
          <a:bodyPr wrap="square" anchor="t" lIns="0" rIns="0" tIns="0" bIns="0">
            <a:spAutoFit/>
          </a:bodyPr>
          <a:lstStyle/>
          <a:p>
            <a:pPr>
              <a:spcBef>
                <a:spcPts val="0"/>
              </a:spcBef>
              <a:spcAft>
                <a:spcPts val="0"/>
              </a:spcAft>
            </a:pPr>
            <a:r>
              <a:rPr sz="1400" b="1">
                <a:solidFill>
                  <a:srgbClr val="EEF3FA"/>
                </a:solidFill>
                <a:latin typeface="Helvetica Neue"/>
              </a:rPr>
              <a:t>WHAT — vLLM-SR</a:t>
            </a:r>
          </a:p>
        </p:txBody>
      </p:sp>
      <p:sp>
        <p:nvSpPr>
          <p:cNvPr id="8" name="TextBox 7"/>
          <p:cNvSpPr txBox="1"/>
          <p:nvPr/>
        </p:nvSpPr>
        <p:spPr>
          <a:xfrm>
            <a:off x="658368" y="3145536"/>
            <a:ext cx="3429914" cy="1920240"/>
          </a:xfrm>
          <a:prstGeom prst="rect">
            <a:avLst/>
          </a:prstGeom>
          <a:noFill/>
        </p:spPr>
        <p:txBody>
          <a:bodyPr wrap="square" anchor="t" lIns="0" rIns="0" tIns="0" bIns="0">
            <a:spAutoFit/>
          </a:bodyPr>
          <a:lstStyle/>
          <a:p>
            <a:pPr>
              <a:lnSpc>
                <a:spcPct val="140000"/>
              </a:lnSpc>
              <a:spcBef>
                <a:spcPts val="0"/>
              </a:spcBef>
              <a:spcAft>
                <a:spcPts val="0"/>
              </a:spcAft>
            </a:pPr>
            <a:r>
              <a:rPr sz="1100" b="0">
                <a:solidFill>
                  <a:srgbClr val="A3B0C6"/>
                </a:solidFill>
                <a:latin typeface="Helvetica Neue"/>
              </a:rPr>
              <a:t>Chooses the logical model, from intent, complexity, privacy, modality and preference. At the gateway.</a:t>
            </a:r>
          </a:p>
        </p:txBody>
      </p:sp>
      <p:sp>
        <p:nvSpPr>
          <p:cNvPr id="9" name="Oval 8"/>
          <p:cNvSpPr/>
          <p:nvPr/>
        </p:nvSpPr>
        <p:spPr>
          <a:xfrm>
            <a:off x="4344314" y="2212848"/>
            <a:ext cx="384048" cy="384048"/>
          </a:xfrm>
          <a:prstGeom prst="ellipse">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Bef>
                <a:spcPts val="0"/>
              </a:spcBef>
              <a:spcAft>
                <a:spcPts val="0"/>
              </a:spcAft>
            </a:pPr>
            <a:r>
              <a:rPr sz="1300" b="1">
                <a:solidFill>
                  <a:srgbClr val="FFFFFF"/>
                </a:solidFill>
                <a:latin typeface="Menlo"/>
              </a:rPr>
              <a:t>2</a:t>
            </a:r>
          </a:p>
        </p:txBody>
      </p:sp>
      <p:sp>
        <p:nvSpPr>
          <p:cNvPr id="10" name="TextBox 9"/>
          <p:cNvSpPr txBox="1"/>
          <p:nvPr/>
        </p:nvSpPr>
        <p:spPr>
          <a:xfrm>
            <a:off x="4344314" y="2743200"/>
            <a:ext cx="3429914" cy="365760"/>
          </a:xfrm>
          <a:prstGeom prst="rect">
            <a:avLst/>
          </a:prstGeom>
          <a:noFill/>
        </p:spPr>
        <p:txBody>
          <a:bodyPr wrap="square" anchor="t" lIns="0" rIns="0" tIns="0" bIns="0">
            <a:spAutoFit/>
          </a:bodyPr>
          <a:lstStyle/>
          <a:p>
            <a:pPr>
              <a:spcBef>
                <a:spcPts val="0"/>
              </a:spcBef>
              <a:spcAft>
                <a:spcPts val="0"/>
              </a:spcAft>
            </a:pPr>
            <a:r>
              <a:rPr sz="1400" b="1">
                <a:solidFill>
                  <a:srgbClr val="EEF3FA"/>
                </a:solidFill>
                <a:latin typeface="Helvetica Neue"/>
              </a:rPr>
              <a:t>WHICH — serving layer</a:t>
            </a:r>
          </a:p>
        </p:txBody>
      </p:sp>
      <p:sp>
        <p:nvSpPr>
          <p:cNvPr id="11" name="TextBox 10"/>
          <p:cNvSpPr txBox="1"/>
          <p:nvPr/>
        </p:nvSpPr>
        <p:spPr>
          <a:xfrm>
            <a:off x="4344314" y="3145536"/>
            <a:ext cx="3429914" cy="1920240"/>
          </a:xfrm>
          <a:prstGeom prst="rect">
            <a:avLst/>
          </a:prstGeom>
          <a:noFill/>
        </p:spPr>
        <p:txBody>
          <a:bodyPr wrap="square" anchor="t" lIns="0" rIns="0" tIns="0" bIns="0">
            <a:spAutoFit/>
          </a:bodyPr>
          <a:lstStyle/>
          <a:p>
            <a:pPr>
              <a:lnSpc>
                <a:spcPct val="140000"/>
              </a:lnSpc>
              <a:spcBef>
                <a:spcPts val="0"/>
              </a:spcBef>
              <a:spcAft>
                <a:spcPts val="0"/>
              </a:spcAft>
            </a:pPr>
            <a:r>
              <a:rPr sz="1100" b="0">
                <a:solidFill>
                  <a:srgbClr val="A3B0C6"/>
                </a:solidFill>
                <a:latin typeface="Helvetica Neue"/>
              </a:rPr>
              <a:t>llm-d, vLLM Production Stack, AIBrix, Dynamo. Picks the replica, from load, queue depth and KV-cache locality.</a:t>
            </a:r>
          </a:p>
        </p:txBody>
      </p:sp>
      <p:sp>
        <p:nvSpPr>
          <p:cNvPr id="12" name="Oval 11"/>
          <p:cNvSpPr/>
          <p:nvPr/>
        </p:nvSpPr>
        <p:spPr>
          <a:xfrm>
            <a:off x="8030260" y="2212848"/>
            <a:ext cx="384048" cy="384048"/>
          </a:xfrm>
          <a:prstGeom prst="ellipse">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Bef>
                <a:spcPts val="0"/>
              </a:spcBef>
              <a:spcAft>
                <a:spcPts val="0"/>
              </a:spcAft>
            </a:pPr>
            <a:r>
              <a:rPr sz="1300" b="1">
                <a:solidFill>
                  <a:srgbClr val="FFFFFF"/>
                </a:solidFill>
                <a:latin typeface="Menlo"/>
              </a:rPr>
              <a:t>3</a:t>
            </a:r>
          </a:p>
        </p:txBody>
      </p:sp>
      <p:sp>
        <p:nvSpPr>
          <p:cNvPr id="13" name="TextBox 12"/>
          <p:cNvSpPr txBox="1"/>
          <p:nvPr/>
        </p:nvSpPr>
        <p:spPr>
          <a:xfrm>
            <a:off x="8030260" y="2743200"/>
            <a:ext cx="3429914" cy="365760"/>
          </a:xfrm>
          <a:prstGeom prst="rect">
            <a:avLst/>
          </a:prstGeom>
          <a:noFill/>
        </p:spPr>
        <p:txBody>
          <a:bodyPr wrap="square" anchor="t" lIns="0" rIns="0" tIns="0" bIns="0">
            <a:spAutoFit/>
          </a:bodyPr>
          <a:lstStyle/>
          <a:p>
            <a:pPr>
              <a:spcBef>
                <a:spcPts val="0"/>
              </a:spcBef>
              <a:spcAft>
                <a:spcPts val="0"/>
              </a:spcAft>
            </a:pPr>
            <a:r>
              <a:rPr sz="1400" b="1">
                <a:solidFill>
                  <a:srgbClr val="EEF3FA"/>
                </a:solidFill>
                <a:latin typeface="Helvetica Neue"/>
              </a:rPr>
              <a:t>HOW &amp; WHERE — backends</a:t>
            </a:r>
          </a:p>
        </p:txBody>
      </p:sp>
      <p:sp>
        <p:nvSpPr>
          <p:cNvPr id="14" name="TextBox 13"/>
          <p:cNvSpPr txBox="1"/>
          <p:nvPr/>
        </p:nvSpPr>
        <p:spPr>
          <a:xfrm>
            <a:off x="8030260" y="3145536"/>
            <a:ext cx="3429914" cy="1920240"/>
          </a:xfrm>
          <a:prstGeom prst="rect">
            <a:avLst/>
          </a:prstGeom>
          <a:noFill/>
        </p:spPr>
        <p:txBody>
          <a:bodyPr wrap="square" anchor="t" lIns="0" rIns="0" tIns="0" bIns="0">
            <a:spAutoFit/>
          </a:bodyPr>
          <a:lstStyle/>
          <a:p>
            <a:pPr>
              <a:lnSpc>
                <a:spcPct val="140000"/>
              </a:lnSpc>
              <a:spcBef>
                <a:spcPts val="0"/>
              </a:spcBef>
              <a:spcAft>
                <a:spcPts val="0"/>
              </a:spcAft>
            </a:pPr>
            <a:r>
              <a:rPr sz="1100" b="0">
                <a:solidFill>
                  <a:srgbClr val="A3B0C6"/>
                </a:solidFill>
                <a:latin typeface="Helvetica Neue"/>
              </a:rPr>
              <a:t>vLLM and friends actually generate the tokens, on whichever accelerator and in whichever location policy allowed.</a:t>
            </a:r>
          </a:p>
        </p:txBody>
      </p:sp>
      <p:sp>
        <p:nvSpPr>
          <p:cNvPr id="15" name="TextBox 14"/>
          <p:cNvSpPr txBox="1"/>
          <p:nvPr/>
        </p:nvSpPr>
        <p:spPr>
          <a:xfrm>
            <a:off x="9521647" y="6382512"/>
            <a:ext cx="2011680" cy="274320"/>
          </a:xfrm>
          <a:prstGeom prst="rect">
            <a:avLst/>
          </a:prstGeom>
          <a:noFill/>
        </p:spPr>
        <p:txBody>
          <a:bodyPr wrap="square" anchor="t" lIns="0" rIns="0" tIns="0" bIns="0">
            <a:spAutoFit/>
          </a:bodyPr>
          <a:lstStyle/>
          <a:p>
            <a:pPr algn="r"/>
            <a:r>
              <a:rPr sz="1000">
                <a:solidFill>
                  <a:srgbClr val="FF4D4D"/>
                </a:solidFill>
                <a:latin typeface="Menlo"/>
              </a:rPr>
              <a:t>8:00  ·  </a:t>
            </a:r>
            <a:r>
              <a:rPr sz="1000">
                <a:solidFill>
                  <a:srgbClr val="6E7D96"/>
                </a:solidFill>
                <a:latin typeface="Menlo"/>
              </a:rPr>
              <a:t>7 / 20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Rectangle 1"/>
          <p:cNvSpPr/>
          <p:nvPr/>
        </p:nvSpPr>
        <p:spPr>
          <a:xfrm>
            <a:off x="0" y="0"/>
            <a:ext cx="1783080" cy="63500"/>
          </a:xfrm>
          <a:prstGeom prst="rect">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30352"/>
            <a:ext cx="10874959" cy="868680"/>
          </a:xfrm>
          <a:prstGeom prst="rect">
            <a:avLst/>
          </a:prstGeom>
          <a:noFill/>
        </p:spPr>
        <p:txBody>
          <a:bodyPr wrap="square" anchor="t" lIns="0" rIns="0" tIns="0" bIns="0">
            <a:spAutoFit/>
          </a:bodyPr>
          <a:lstStyle/>
          <a:p>
            <a:pPr>
              <a:lnSpc>
                <a:spcPct val="110000"/>
              </a:lnSpc>
              <a:spcBef>
                <a:spcPts val="0"/>
              </a:spcBef>
              <a:spcAft>
                <a:spcPts val="0"/>
              </a:spcAft>
            </a:pPr>
            <a:r>
              <a:rPr sz="2900" b="1">
                <a:solidFill>
                  <a:srgbClr val="EEF3FA"/>
                </a:solidFill>
                <a:latin typeface="Helvetica Neue"/>
              </a:rPr>
              <a:t>How it attaches: an Envoy external processor</a:t>
            </a:r>
          </a:p>
        </p:txBody>
      </p:sp>
      <p:sp>
        <p:nvSpPr>
          <p:cNvPr id="4" name="Rectangle 3"/>
          <p:cNvSpPr/>
          <p:nvPr/>
        </p:nvSpPr>
        <p:spPr>
          <a:xfrm>
            <a:off x="658368" y="1335024"/>
            <a:ext cx="50800" cy="694944"/>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96112" y="1335024"/>
            <a:ext cx="9966960" cy="694944"/>
          </a:xfrm>
          <a:prstGeom prst="rect">
            <a:avLst/>
          </a:prstGeom>
          <a:noFill/>
        </p:spPr>
        <p:txBody>
          <a:bodyPr wrap="square" anchor="t" lIns="0" rIns="0" tIns="0" bIns="0">
            <a:spAutoFit/>
          </a:bodyPr>
          <a:lstStyle/>
          <a:p>
            <a:pPr>
              <a:lnSpc>
                <a:spcPct val="130000"/>
              </a:lnSpc>
              <a:spcBef>
                <a:spcPts val="0"/>
              </a:spcBef>
              <a:spcAft>
                <a:spcPts val="0"/>
              </a:spcAft>
            </a:pPr>
            <a:r>
              <a:rPr sz="1800" b="1">
                <a:solidFill>
                  <a:srgbClr val="EEF3FA"/>
                </a:solidFill>
                <a:latin typeface="Helvetica Neue"/>
              </a:rPr>
              <a:t>Not a library in your request path. A gRPC external processor that Envoy consults mid-request.</a:t>
            </a:r>
          </a:p>
        </p:txBody>
      </p:sp>
      <p:sp>
        <p:nvSpPr>
          <p:cNvPr id="6" name="TextBox 5"/>
          <p:cNvSpPr txBox="1"/>
          <p:nvPr/>
        </p:nvSpPr>
        <p:spPr>
          <a:xfrm>
            <a:off x="658368" y="2340864"/>
            <a:ext cx="10241280" cy="2743200"/>
          </a:xfrm>
          <a:prstGeom prst="rect">
            <a:avLst/>
          </a:prstGeom>
          <a:noFill/>
        </p:spPr>
        <p:txBody>
          <a:bodyPr wrap="square" anchor="t" lIns="0" rIns="0" tIns="0" bIns="0">
            <a:spAutoFit/>
          </a:bodyPr>
          <a:lstStyle/>
          <a:p>
            <a:pPr>
              <a:lnSpc>
                <a:spcPct val="135000"/>
              </a:lnSpc>
              <a:spcBef>
                <a:spcPts val="0"/>
              </a:spcBef>
              <a:spcAft>
                <a:spcPts val="1100"/>
              </a:spcAft>
            </a:pPr>
            <a:r>
              <a:rPr sz="1450">
                <a:solidFill>
                  <a:srgbClr val="FF4D4D"/>
                </a:solidFill>
                <a:latin typeface="Helvetica Neue"/>
              </a:rPr>
              <a:t>▪   Envoy calls the router over gRPC; the router classifies and returns a decision.</a:t>
            </a:r>
          </a:p>
          <a:p>
            <a:pPr>
              <a:lnSpc>
                <a:spcPct val="135000"/>
              </a:lnSpc>
              <a:spcBef>
                <a:spcPts val="0"/>
              </a:spcBef>
              <a:spcAft>
                <a:spcPts val="1100"/>
              </a:spcAft>
            </a:pPr>
            <a:r>
              <a:rPr sz="1450">
                <a:solidFill>
                  <a:srgbClr val="FF4D4D"/>
                </a:solidFill>
                <a:latin typeface="Helvetica Neue"/>
              </a:rPr>
              <a:t>▪   It can answer immediately — a guardrail block or a cache hit never reaches a model at all.</a:t>
            </a:r>
          </a:p>
          <a:p>
            <a:pPr>
              <a:lnSpc>
                <a:spcPct val="135000"/>
              </a:lnSpc>
              <a:spcBef>
                <a:spcPts val="0"/>
              </a:spcBef>
              <a:spcAft>
                <a:spcPts val="1100"/>
              </a:spcAft>
            </a:pPr>
            <a:r>
              <a:rPr sz="1450">
                <a:solidFill>
                  <a:srgbClr val="FF4D4D"/>
                </a:solidFill>
                <a:latin typeface="Helvetica Neue"/>
              </a:rPr>
              <a:t>▪   Otherwise it sets x-selected-model and Envoy forwards to that model's cluster.</a:t>
            </a:r>
          </a:p>
          <a:p>
            <a:pPr>
              <a:lnSpc>
                <a:spcPct val="135000"/>
              </a:lnSpc>
              <a:spcBef>
                <a:spcPts val="0"/>
              </a:spcBef>
              <a:spcAft>
                <a:spcPts val="1100"/>
              </a:spcAft>
            </a:pPr>
            <a:r>
              <a:rPr sz="1450">
                <a:solidFill>
                  <a:srgbClr val="FF4D4D"/>
                </a:solidFill>
                <a:latin typeface="Helvetica Neue"/>
              </a:rPr>
              <a:t>▪   Standard Envoy, Kubernetes Gateway API, Istio. OpenAI- and Anthropic-compatible on the front.</a:t>
            </a:r>
          </a:p>
        </p:txBody>
      </p:sp>
      <p:sp>
        <p:nvSpPr>
          <p:cNvPr id="7" name="TextBox 6"/>
          <p:cNvSpPr txBox="1"/>
          <p:nvPr/>
        </p:nvSpPr>
        <p:spPr>
          <a:xfrm>
            <a:off x="9521647" y="6382512"/>
            <a:ext cx="2011680" cy="274320"/>
          </a:xfrm>
          <a:prstGeom prst="rect">
            <a:avLst/>
          </a:prstGeom>
          <a:noFill/>
        </p:spPr>
        <p:txBody>
          <a:bodyPr wrap="square" anchor="t" lIns="0" rIns="0" tIns="0" bIns="0">
            <a:spAutoFit/>
          </a:bodyPr>
          <a:lstStyle/>
          <a:p>
            <a:pPr algn="r"/>
            <a:r>
              <a:rPr sz="1000">
                <a:solidFill>
                  <a:srgbClr val="FF4D4D"/>
                </a:solidFill>
                <a:latin typeface="Menlo"/>
              </a:rPr>
              <a:t>9:00  ·  </a:t>
            </a:r>
            <a:r>
              <a:rPr sz="1000">
                <a:solidFill>
                  <a:srgbClr val="6E7D96"/>
                </a:solidFill>
                <a:latin typeface="Menlo"/>
              </a:rPr>
              <a:t>8 / 20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Rectangle 1"/>
          <p:cNvSpPr/>
          <p:nvPr/>
        </p:nvSpPr>
        <p:spPr>
          <a:xfrm>
            <a:off x="0" y="0"/>
            <a:ext cx="1783080" cy="63500"/>
          </a:xfrm>
          <a:prstGeom prst="rect">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30352"/>
            <a:ext cx="10874959" cy="868680"/>
          </a:xfrm>
          <a:prstGeom prst="rect">
            <a:avLst/>
          </a:prstGeom>
          <a:noFill/>
        </p:spPr>
        <p:txBody>
          <a:bodyPr wrap="square" anchor="t" lIns="0" rIns="0" tIns="0" bIns="0">
            <a:spAutoFit/>
          </a:bodyPr>
          <a:lstStyle/>
          <a:p>
            <a:pPr>
              <a:lnSpc>
                <a:spcPct val="110000"/>
              </a:lnSpc>
              <a:spcBef>
                <a:spcPts val="0"/>
              </a:spcBef>
              <a:spcAft>
                <a:spcPts val="0"/>
              </a:spcAft>
            </a:pPr>
            <a:r>
              <a:rPr sz="2900" b="1">
                <a:solidFill>
                  <a:srgbClr val="EEF3FA"/>
                </a:solidFill>
                <a:latin typeface="Helvetica Neue"/>
              </a:rPr>
              <a:t>The pipeline: five stages</a:t>
            </a:r>
          </a:p>
        </p:txBody>
      </p:sp>
      <p:sp>
        <p:nvSpPr>
          <p:cNvPr id="4" name="TextBox 3"/>
          <p:cNvSpPr txBox="1"/>
          <p:nvPr/>
        </p:nvSpPr>
        <p:spPr>
          <a:xfrm>
            <a:off x="658368" y="1188720"/>
            <a:ext cx="9692640" cy="822960"/>
          </a:xfrm>
          <a:prstGeom prst="rect">
            <a:avLst/>
          </a:prstGeom>
          <a:noFill/>
        </p:spPr>
        <p:txBody>
          <a:bodyPr wrap="square" anchor="t" lIns="0" rIns="0" tIns="0" bIns="0">
            <a:spAutoFit/>
          </a:bodyPr>
          <a:lstStyle/>
          <a:p>
            <a:pPr>
              <a:lnSpc>
                <a:spcPct val="135000"/>
              </a:lnSpc>
              <a:spcBef>
                <a:spcPts val="0"/>
              </a:spcBef>
              <a:spcAft>
                <a:spcPts val="0"/>
              </a:spcAft>
            </a:pPr>
            <a:r>
              <a:rPr sz="1400" b="0">
                <a:solidFill>
                  <a:srgbClr val="A3B0C6"/>
                </a:solidFill>
                <a:latin typeface="Helvetica Neue"/>
              </a:rPr>
              <a:t>Each stage has one job, and that separation is what makes the policy readable and auditable.</a:t>
            </a:r>
          </a:p>
        </p:txBody>
      </p:sp>
      <p:sp>
        <p:nvSpPr>
          <p:cNvPr id="5" name="Rectangle 4"/>
          <p:cNvSpPr/>
          <p:nvPr/>
        </p:nvSpPr>
        <p:spPr>
          <a:xfrm>
            <a:off x="658368" y="1938528"/>
            <a:ext cx="10874959" cy="25400"/>
          </a:xfrm>
          <a:prstGeom prst="rect">
            <a:avLst/>
          </a:prstGeom>
          <a:solidFill>
            <a:srgbClr val="2E38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658368" y="2212848"/>
            <a:ext cx="384048" cy="384048"/>
          </a:xfrm>
          <a:prstGeom prst="ellipse">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Bef>
                <a:spcPts val="0"/>
              </a:spcBef>
              <a:spcAft>
                <a:spcPts val="0"/>
              </a:spcAft>
            </a:pPr>
            <a:r>
              <a:rPr sz="1300" b="1">
                <a:solidFill>
                  <a:srgbClr val="FFFFFF"/>
                </a:solidFill>
                <a:latin typeface="Menlo"/>
              </a:rPr>
              <a:t>1</a:t>
            </a:r>
          </a:p>
        </p:txBody>
      </p:sp>
      <p:sp>
        <p:nvSpPr>
          <p:cNvPr id="7" name="TextBox 6"/>
          <p:cNvSpPr txBox="1"/>
          <p:nvPr/>
        </p:nvSpPr>
        <p:spPr>
          <a:xfrm>
            <a:off x="658368" y="2743200"/>
            <a:ext cx="1955535" cy="365760"/>
          </a:xfrm>
          <a:prstGeom prst="rect">
            <a:avLst/>
          </a:prstGeom>
          <a:noFill/>
        </p:spPr>
        <p:txBody>
          <a:bodyPr wrap="square" anchor="t" lIns="0" rIns="0" tIns="0" bIns="0">
            <a:spAutoFit/>
          </a:bodyPr>
          <a:lstStyle/>
          <a:p>
            <a:pPr>
              <a:spcBef>
                <a:spcPts val="0"/>
              </a:spcBef>
              <a:spcAft>
                <a:spcPts val="0"/>
              </a:spcAft>
            </a:pPr>
            <a:r>
              <a:rPr sz="1400" b="1">
                <a:solidFill>
                  <a:srgbClr val="EEF3FA"/>
                </a:solidFill>
                <a:latin typeface="Helvetica Neue"/>
              </a:rPr>
              <a:t>Signals</a:t>
            </a:r>
          </a:p>
        </p:txBody>
      </p:sp>
      <p:sp>
        <p:nvSpPr>
          <p:cNvPr id="8" name="TextBox 7"/>
          <p:cNvSpPr txBox="1"/>
          <p:nvPr/>
        </p:nvSpPr>
        <p:spPr>
          <a:xfrm>
            <a:off x="658368" y="3145536"/>
            <a:ext cx="1955535" cy="1920240"/>
          </a:xfrm>
          <a:prstGeom prst="rect">
            <a:avLst/>
          </a:prstGeom>
          <a:noFill/>
        </p:spPr>
        <p:txBody>
          <a:bodyPr wrap="square" anchor="t" lIns="0" rIns="0" tIns="0" bIns="0">
            <a:spAutoFit/>
          </a:bodyPr>
          <a:lstStyle/>
          <a:p>
            <a:pPr>
              <a:lnSpc>
                <a:spcPct val="140000"/>
              </a:lnSpc>
              <a:spcBef>
                <a:spcPts val="0"/>
              </a:spcBef>
              <a:spcAft>
                <a:spcPts val="0"/>
              </a:spcAft>
            </a:pPr>
            <a:r>
              <a:rPr sz="1100" b="0">
                <a:solidFill>
                  <a:srgbClr val="A3B0C6"/>
                </a:solidFill>
                <a:latin typeface="Helvetica Neue"/>
              </a:rPr>
              <a:t>Extract facts from the request, conversation, identity and content. Signals describe; they never choose a backend.</a:t>
            </a:r>
          </a:p>
        </p:txBody>
      </p:sp>
      <p:sp>
        <p:nvSpPr>
          <p:cNvPr id="9" name="Oval 8"/>
          <p:cNvSpPr/>
          <p:nvPr/>
        </p:nvSpPr>
        <p:spPr>
          <a:xfrm>
            <a:off x="2869935" y="2212848"/>
            <a:ext cx="384048" cy="384048"/>
          </a:xfrm>
          <a:prstGeom prst="ellipse">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Bef>
                <a:spcPts val="0"/>
              </a:spcBef>
              <a:spcAft>
                <a:spcPts val="0"/>
              </a:spcAft>
            </a:pPr>
            <a:r>
              <a:rPr sz="1300" b="1">
                <a:solidFill>
                  <a:srgbClr val="FFFFFF"/>
                </a:solidFill>
                <a:latin typeface="Menlo"/>
              </a:rPr>
              <a:t>2</a:t>
            </a:r>
          </a:p>
        </p:txBody>
      </p:sp>
      <p:sp>
        <p:nvSpPr>
          <p:cNvPr id="10" name="TextBox 9"/>
          <p:cNvSpPr txBox="1"/>
          <p:nvPr/>
        </p:nvSpPr>
        <p:spPr>
          <a:xfrm>
            <a:off x="2869935" y="2743200"/>
            <a:ext cx="1955535" cy="365760"/>
          </a:xfrm>
          <a:prstGeom prst="rect">
            <a:avLst/>
          </a:prstGeom>
          <a:noFill/>
        </p:spPr>
        <p:txBody>
          <a:bodyPr wrap="square" anchor="t" lIns="0" rIns="0" tIns="0" bIns="0">
            <a:spAutoFit/>
          </a:bodyPr>
          <a:lstStyle/>
          <a:p>
            <a:pPr>
              <a:spcBef>
                <a:spcPts val="0"/>
              </a:spcBef>
              <a:spcAft>
                <a:spcPts val="0"/>
              </a:spcAft>
            </a:pPr>
            <a:r>
              <a:rPr sz="1400" b="1">
                <a:solidFill>
                  <a:srgbClr val="EEF3FA"/>
                </a:solidFill>
                <a:latin typeface="Helvetica Neue"/>
              </a:rPr>
              <a:t>Projections</a:t>
            </a:r>
          </a:p>
        </p:txBody>
      </p:sp>
      <p:sp>
        <p:nvSpPr>
          <p:cNvPr id="11" name="TextBox 10"/>
          <p:cNvSpPr txBox="1"/>
          <p:nvPr/>
        </p:nvSpPr>
        <p:spPr>
          <a:xfrm>
            <a:off x="2869935" y="3145536"/>
            <a:ext cx="1955535" cy="1920240"/>
          </a:xfrm>
          <a:prstGeom prst="rect">
            <a:avLst/>
          </a:prstGeom>
          <a:noFill/>
        </p:spPr>
        <p:txBody>
          <a:bodyPr wrap="square" anchor="t" lIns="0" rIns="0" tIns="0" bIns="0">
            <a:spAutoFit/>
          </a:bodyPr>
          <a:lstStyle/>
          <a:p>
            <a:pPr>
              <a:lnSpc>
                <a:spcPct val="140000"/>
              </a:lnSpc>
              <a:spcBef>
                <a:spcPts val="0"/>
              </a:spcBef>
              <a:spcAft>
                <a:spcPts val="0"/>
              </a:spcAft>
            </a:pPr>
            <a:r>
              <a:rPr sz="1100" b="0">
                <a:solidFill>
                  <a:srgbClr val="A3B0C6"/>
                </a:solidFill>
                <a:latin typeface="Helvetica Neue"/>
              </a:rPr>
              <a:t>Coordinate evidence. Combine several signal outputs into one reusable result.</a:t>
            </a:r>
          </a:p>
        </p:txBody>
      </p:sp>
      <p:sp>
        <p:nvSpPr>
          <p:cNvPr id="12" name="Oval 11"/>
          <p:cNvSpPr/>
          <p:nvPr/>
        </p:nvSpPr>
        <p:spPr>
          <a:xfrm>
            <a:off x="5081503" y="2212848"/>
            <a:ext cx="384048" cy="384048"/>
          </a:xfrm>
          <a:prstGeom prst="ellipse">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Bef>
                <a:spcPts val="0"/>
              </a:spcBef>
              <a:spcAft>
                <a:spcPts val="0"/>
              </a:spcAft>
            </a:pPr>
            <a:r>
              <a:rPr sz="1300" b="1">
                <a:solidFill>
                  <a:srgbClr val="FFFFFF"/>
                </a:solidFill>
                <a:latin typeface="Menlo"/>
              </a:rPr>
              <a:t>3</a:t>
            </a:r>
          </a:p>
        </p:txBody>
      </p:sp>
      <p:sp>
        <p:nvSpPr>
          <p:cNvPr id="13" name="TextBox 12"/>
          <p:cNvSpPr txBox="1"/>
          <p:nvPr/>
        </p:nvSpPr>
        <p:spPr>
          <a:xfrm>
            <a:off x="5081503" y="2743200"/>
            <a:ext cx="1955535" cy="365760"/>
          </a:xfrm>
          <a:prstGeom prst="rect">
            <a:avLst/>
          </a:prstGeom>
          <a:noFill/>
        </p:spPr>
        <p:txBody>
          <a:bodyPr wrap="square" anchor="t" lIns="0" rIns="0" tIns="0" bIns="0">
            <a:spAutoFit/>
          </a:bodyPr>
          <a:lstStyle/>
          <a:p>
            <a:pPr>
              <a:spcBef>
                <a:spcPts val="0"/>
              </a:spcBef>
              <a:spcAft>
                <a:spcPts val="0"/>
              </a:spcAft>
            </a:pPr>
            <a:r>
              <a:rPr sz="1400" b="1">
                <a:solidFill>
                  <a:srgbClr val="EEF3FA"/>
                </a:solidFill>
                <a:latin typeface="Helvetica Neue"/>
              </a:rPr>
              <a:t>Decisions</a:t>
            </a:r>
          </a:p>
        </p:txBody>
      </p:sp>
      <p:sp>
        <p:nvSpPr>
          <p:cNvPr id="14" name="TextBox 13"/>
          <p:cNvSpPr txBox="1"/>
          <p:nvPr/>
        </p:nvSpPr>
        <p:spPr>
          <a:xfrm>
            <a:off x="5081503" y="3145536"/>
            <a:ext cx="1955535" cy="1920240"/>
          </a:xfrm>
          <a:prstGeom prst="rect">
            <a:avLst/>
          </a:prstGeom>
          <a:noFill/>
        </p:spPr>
        <p:txBody>
          <a:bodyPr wrap="square" anchor="t" lIns="0" rIns="0" tIns="0" bIns="0">
            <a:spAutoFit/>
          </a:bodyPr>
          <a:lstStyle/>
          <a:p>
            <a:pPr>
              <a:lnSpc>
                <a:spcPct val="140000"/>
              </a:lnSpc>
              <a:spcBef>
                <a:spcPts val="0"/>
              </a:spcBef>
              <a:spcAft>
                <a:spcPts val="0"/>
              </a:spcAft>
            </a:pPr>
            <a:r>
              <a:rPr sz="1100" b="0">
                <a:solidFill>
                  <a:srgbClr val="A3B0C6"/>
                </a:solidFill>
                <a:latin typeface="Helvetica Neue"/>
              </a:rPr>
              <a:t>Apply policy. Boolean rules over signals and projections, resolved by priority.</a:t>
            </a:r>
          </a:p>
        </p:txBody>
      </p:sp>
      <p:sp>
        <p:nvSpPr>
          <p:cNvPr id="15" name="Oval 14"/>
          <p:cNvSpPr/>
          <p:nvPr/>
        </p:nvSpPr>
        <p:spPr>
          <a:xfrm>
            <a:off x="7293071" y="2212848"/>
            <a:ext cx="384048" cy="384048"/>
          </a:xfrm>
          <a:prstGeom prst="ellipse">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Bef>
                <a:spcPts val="0"/>
              </a:spcBef>
              <a:spcAft>
                <a:spcPts val="0"/>
              </a:spcAft>
            </a:pPr>
            <a:r>
              <a:rPr sz="1300" b="1">
                <a:solidFill>
                  <a:srgbClr val="FFFFFF"/>
                </a:solidFill>
                <a:latin typeface="Menlo"/>
              </a:rPr>
              <a:t>4</a:t>
            </a:r>
          </a:p>
        </p:txBody>
      </p:sp>
      <p:sp>
        <p:nvSpPr>
          <p:cNvPr id="16" name="TextBox 15"/>
          <p:cNvSpPr txBox="1"/>
          <p:nvPr/>
        </p:nvSpPr>
        <p:spPr>
          <a:xfrm>
            <a:off x="7293071" y="2743200"/>
            <a:ext cx="1955535" cy="365760"/>
          </a:xfrm>
          <a:prstGeom prst="rect">
            <a:avLst/>
          </a:prstGeom>
          <a:noFill/>
        </p:spPr>
        <p:txBody>
          <a:bodyPr wrap="square" anchor="t" lIns="0" rIns="0" tIns="0" bIns="0">
            <a:spAutoFit/>
          </a:bodyPr>
          <a:lstStyle/>
          <a:p>
            <a:pPr>
              <a:spcBef>
                <a:spcPts val="0"/>
              </a:spcBef>
              <a:spcAft>
                <a:spcPts val="0"/>
              </a:spcAft>
            </a:pPr>
            <a:r>
              <a:rPr sz="1400" b="1">
                <a:solidFill>
                  <a:srgbClr val="EEF3FA"/>
                </a:solidFill>
                <a:latin typeface="Helvetica Neue"/>
              </a:rPr>
              <a:t>Algorithms</a:t>
            </a:r>
          </a:p>
        </p:txBody>
      </p:sp>
      <p:sp>
        <p:nvSpPr>
          <p:cNvPr id="17" name="TextBox 16"/>
          <p:cNvSpPr txBox="1"/>
          <p:nvPr/>
        </p:nvSpPr>
        <p:spPr>
          <a:xfrm>
            <a:off x="7293071" y="3145536"/>
            <a:ext cx="1955535" cy="1920240"/>
          </a:xfrm>
          <a:prstGeom prst="rect">
            <a:avLst/>
          </a:prstGeom>
          <a:noFill/>
        </p:spPr>
        <p:txBody>
          <a:bodyPr wrap="square" anchor="t" lIns="0" rIns="0" tIns="0" bIns="0">
            <a:spAutoFit/>
          </a:bodyPr>
          <a:lstStyle/>
          <a:p>
            <a:pPr>
              <a:lnSpc>
                <a:spcPct val="140000"/>
              </a:lnSpc>
              <a:spcBef>
                <a:spcPts val="0"/>
              </a:spcBef>
              <a:spcAft>
                <a:spcPts val="0"/>
              </a:spcAft>
            </a:pPr>
            <a:r>
              <a:rPr sz="1100" b="0">
                <a:solidFill>
                  <a:srgbClr val="A3B0C6"/>
                </a:solidFill>
                <a:latin typeface="Helvetica Neue"/>
              </a:rPr>
              <a:t>Select one model, or coordinate several across a cascade, panel or multi-round workflow.</a:t>
            </a:r>
          </a:p>
        </p:txBody>
      </p:sp>
      <p:sp>
        <p:nvSpPr>
          <p:cNvPr id="18" name="Oval 17"/>
          <p:cNvSpPr/>
          <p:nvPr/>
        </p:nvSpPr>
        <p:spPr>
          <a:xfrm>
            <a:off x="9504639" y="2212848"/>
            <a:ext cx="384048" cy="384048"/>
          </a:xfrm>
          <a:prstGeom prst="ellipse">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Bef>
                <a:spcPts val="0"/>
              </a:spcBef>
              <a:spcAft>
                <a:spcPts val="0"/>
              </a:spcAft>
            </a:pPr>
            <a:r>
              <a:rPr sz="1300" b="1">
                <a:solidFill>
                  <a:srgbClr val="FFFFFF"/>
                </a:solidFill>
                <a:latin typeface="Menlo"/>
              </a:rPr>
              <a:t>5</a:t>
            </a:r>
          </a:p>
        </p:txBody>
      </p:sp>
      <p:sp>
        <p:nvSpPr>
          <p:cNvPr id="19" name="TextBox 18"/>
          <p:cNvSpPr txBox="1"/>
          <p:nvPr/>
        </p:nvSpPr>
        <p:spPr>
          <a:xfrm>
            <a:off x="9504639" y="2743200"/>
            <a:ext cx="1955535" cy="365760"/>
          </a:xfrm>
          <a:prstGeom prst="rect">
            <a:avLst/>
          </a:prstGeom>
          <a:noFill/>
        </p:spPr>
        <p:txBody>
          <a:bodyPr wrap="square" anchor="t" lIns="0" rIns="0" tIns="0" bIns="0">
            <a:spAutoFit/>
          </a:bodyPr>
          <a:lstStyle/>
          <a:p>
            <a:pPr>
              <a:spcBef>
                <a:spcPts val="0"/>
              </a:spcBef>
              <a:spcAft>
                <a:spcPts val="0"/>
              </a:spcAft>
            </a:pPr>
            <a:r>
              <a:rPr sz="1400" b="1">
                <a:solidFill>
                  <a:srgbClr val="EEF3FA"/>
                </a:solidFill>
                <a:latin typeface="Helvetica Neue"/>
              </a:rPr>
              <a:t>Model pools</a:t>
            </a:r>
          </a:p>
        </p:txBody>
      </p:sp>
      <p:sp>
        <p:nvSpPr>
          <p:cNvPr id="20" name="TextBox 19"/>
          <p:cNvSpPr txBox="1"/>
          <p:nvPr/>
        </p:nvSpPr>
        <p:spPr>
          <a:xfrm>
            <a:off x="9504639" y="3145536"/>
            <a:ext cx="1955535" cy="1920240"/>
          </a:xfrm>
          <a:prstGeom prst="rect">
            <a:avLst/>
          </a:prstGeom>
          <a:noFill/>
        </p:spPr>
        <p:txBody>
          <a:bodyPr wrap="square" anchor="t" lIns="0" rIns="0" tIns="0" bIns="0">
            <a:spAutoFit/>
          </a:bodyPr>
          <a:lstStyle/>
          <a:p>
            <a:pPr>
              <a:lnSpc>
                <a:spcPct val="140000"/>
              </a:lnSpc>
              <a:spcBef>
                <a:spcPts val="0"/>
              </a:spcBef>
              <a:spcAft>
                <a:spcPts val="0"/>
              </a:spcAft>
            </a:pPr>
            <a:r>
              <a:rPr sz="1100" b="0">
                <a:solidFill>
                  <a:srgbClr val="A3B0C6"/>
                </a:solidFill>
                <a:latin typeface="Helvetica Neue"/>
              </a:rPr>
              <a:t>Execute. Providers bind logical model names to physical endpoints.</a:t>
            </a:r>
          </a:p>
        </p:txBody>
      </p:sp>
      <p:sp>
        <p:nvSpPr>
          <p:cNvPr id="21" name="TextBox 20"/>
          <p:cNvSpPr txBox="1"/>
          <p:nvPr/>
        </p:nvSpPr>
        <p:spPr>
          <a:xfrm>
            <a:off x="658368" y="6382512"/>
            <a:ext cx="6400800" cy="274320"/>
          </a:xfrm>
          <a:prstGeom prst="rect">
            <a:avLst/>
          </a:prstGeom>
          <a:noFill/>
        </p:spPr>
        <p:txBody>
          <a:bodyPr wrap="square" anchor="t" lIns="0" rIns="0" tIns="0" bIns="0">
            <a:spAutoFit/>
          </a:bodyPr>
          <a:lstStyle/>
          <a:p>
            <a:pPr>
              <a:spcBef>
                <a:spcPts val="0"/>
              </a:spcBef>
              <a:spcAft>
                <a:spcPts val="0"/>
              </a:spcAft>
            </a:pPr>
            <a:r>
              <a:rPr sz="900" b="0">
                <a:solidFill>
                  <a:srgbClr val="6E7D96"/>
                </a:solidFill>
                <a:latin typeface="Menlo"/>
              </a:rPr>
              <a:t>vllm-sr.ai/docs/overview/signal-driven-decisions</a:t>
            </a:r>
          </a:p>
        </p:txBody>
      </p:sp>
      <p:sp>
        <p:nvSpPr>
          <p:cNvPr id="22" name="TextBox 21"/>
          <p:cNvSpPr txBox="1"/>
          <p:nvPr/>
        </p:nvSpPr>
        <p:spPr>
          <a:xfrm>
            <a:off x="9521647" y="6382512"/>
            <a:ext cx="2011680" cy="274320"/>
          </a:xfrm>
          <a:prstGeom prst="rect">
            <a:avLst/>
          </a:prstGeom>
          <a:noFill/>
        </p:spPr>
        <p:txBody>
          <a:bodyPr wrap="square" anchor="t" lIns="0" rIns="0" tIns="0" bIns="0">
            <a:spAutoFit/>
          </a:bodyPr>
          <a:lstStyle/>
          <a:p>
            <a:pPr algn="r"/>
            <a:r>
              <a:rPr sz="1000">
                <a:solidFill>
                  <a:srgbClr val="FF4D4D"/>
                </a:solidFill>
                <a:latin typeface="Menlo"/>
              </a:rPr>
              <a:t>10:00  ·  </a:t>
            </a:r>
            <a:r>
              <a:rPr sz="1000">
                <a:solidFill>
                  <a:srgbClr val="6E7D96"/>
                </a:solidFill>
                <a:latin typeface="Menlo"/>
              </a:rPr>
              <a:t>9 / 20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Rectangle 1"/>
          <p:cNvSpPr/>
          <p:nvPr/>
        </p:nvSpPr>
        <p:spPr>
          <a:xfrm>
            <a:off x="0" y="0"/>
            <a:ext cx="1783080" cy="63500"/>
          </a:xfrm>
          <a:prstGeom prst="rect">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30352"/>
            <a:ext cx="10874959" cy="868680"/>
          </a:xfrm>
          <a:prstGeom prst="rect">
            <a:avLst/>
          </a:prstGeom>
          <a:noFill/>
        </p:spPr>
        <p:txBody>
          <a:bodyPr wrap="square" anchor="t" lIns="0" rIns="0" tIns="0" bIns="0">
            <a:spAutoFit/>
          </a:bodyPr>
          <a:lstStyle/>
          <a:p>
            <a:pPr>
              <a:lnSpc>
                <a:spcPct val="110000"/>
              </a:lnSpc>
              <a:spcBef>
                <a:spcPts val="0"/>
              </a:spcBef>
              <a:spcAft>
                <a:spcPts val="0"/>
              </a:spcAft>
            </a:pPr>
            <a:r>
              <a:rPr sz="2900" b="1">
                <a:solidFill>
                  <a:srgbClr val="EEF3FA"/>
                </a:solidFill>
                <a:latin typeface="Helvetica Neue"/>
              </a:rPr>
              <a:t>Stage 1 — Signals, and the models behind them</a:t>
            </a:r>
          </a:p>
        </p:txBody>
      </p:sp>
      <p:sp>
        <p:nvSpPr>
          <p:cNvPr id="4" name="TextBox 3"/>
          <p:cNvSpPr txBox="1"/>
          <p:nvPr/>
        </p:nvSpPr>
        <p:spPr>
          <a:xfrm>
            <a:off x="658368" y="1188720"/>
            <a:ext cx="9692640" cy="822960"/>
          </a:xfrm>
          <a:prstGeom prst="rect">
            <a:avLst/>
          </a:prstGeom>
          <a:noFill/>
        </p:spPr>
        <p:txBody>
          <a:bodyPr wrap="square" anchor="t" lIns="0" rIns="0" tIns="0" bIns="0">
            <a:spAutoFit/>
          </a:bodyPr>
          <a:lstStyle/>
          <a:p>
            <a:pPr>
              <a:lnSpc>
                <a:spcPct val="135000"/>
              </a:lnSpc>
              <a:spcBef>
                <a:spcPts val="0"/>
              </a:spcBef>
              <a:spcAft>
                <a:spcPts val="0"/>
              </a:spcAft>
            </a:pPr>
            <a:r>
              <a:rPr sz="1400" b="0">
                <a:solidFill>
                  <a:srgbClr val="A3B0C6"/>
                </a:solidFill>
                <a:latin typeface="Helvetica Neue"/>
              </a:rPr>
              <a:t>Deterministic rules and small fine-tuned classifiers sit side by side. All of it on CPU, in the router pod.</a:t>
            </a:r>
          </a:p>
        </p:txBody>
      </p:sp>
      <p:sp>
        <p:nvSpPr>
          <p:cNvPr id="5" name="Rectangle 4"/>
          <p:cNvSpPr/>
          <p:nvPr/>
        </p:nvSpPr>
        <p:spPr>
          <a:xfrm>
            <a:off x="658368" y="1938528"/>
            <a:ext cx="3490874" cy="224028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938528"/>
            <a:ext cx="3490874" cy="38100"/>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2176272"/>
            <a:ext cx="3088538" cy="457200"/>
          </a:xfrm>
          <a:prstGeom prst="rect">
            <a:avLst/>
          </a:prstGeom>
          <a:noFill/>
        </p:spPr>
        <p:txBody>
          <a:bodyPr wrap="square" anchor="t" lIns="0" rIns="0" tIns="0" bIns="0">
            <a:spAutoFit/>
          </a:bodyPr>
          <a:lstStyle/>
          <a:p>
            <a:pPr>
              <a:lnSpc>
                <a:spcPct val="115000"/>
              </a:lnSpc>
              <a:spcBef>
                <a:spcPts val="0"/>
              </a:spcBef>
              <a:spcAft>
                <a:spcPts val="0"/>
              </a:spcAft>
            </a:pPr>
            <a:r>
              <a:rPr sz="1450" b="1">
                <a:solidFill>
                  <a:srgbClr val="EEF3FA"/>
                </a:solidFill>
                <a:latin typeface="Helvetica Neue"/>
              </a:rPr>
              <a:t>Deterministic</a:t>
            </a:r>
          </a:p>
        </p:txBody>
      </p:sp>
      <p:sp>
        <p:nvSpPr>
          <p:cNvPr id="8" name="TextBox 7"/>
          <p:cNvSpPr txBox="1"/>
          <p:nvPr/>
        </p:nvSpPr>
        <p:spPr>
          <a:xfrm>
            <a:off x="859536" y="2651760"/>
            <a:ext cx="3088538" cy="1325880"/>
          </a:xfrm>
          <a:prstGeom prst="rect">
            <a:avLst/>
          </a:prstGeom>
          <a:noFill/>
        </p:spPr>
        <p:txBody>
          <a:bodyPr wrap="square" anchor="t" lIns="0" rIns="0" tIns="0" bIns="0">
            <a:spAutoFit/>
          </a:bodyPr>
          <a:lstStyle/>
          <a:p>
            <a:pPr>
              <a:lnSpc>
                <a:spcPct val="140000"/>
              </a:lnSpc>
              <a:spcBef>
                <a:spcPts val="0"/>
              </a:spcBef>
              <a:spcAft>
                <a:spcPts val="0"/>
              </a:spcAft>
            </a:pPr>
            <a:r>
              <a:rPr sz="1150" b="0">
                <a:solidFill>
                  <a:srgbClr val="A3B0C6"/>
                </a:solidFill>
                <a:latin typeface="Helvetica Neue"/>
              </a:rPr>
              <a:t>Keyword lists, metadata predicates, context-length bands. Cheap, auditable, trivially explained to a compliance team — and trivially evaded.</a:t>
            </a:r>
          </a:p>
        </p:txBody>
      </p:sp>
      <p:sp>
        <p:nvSpPr>
          <p:cNvPr id="9" name="Rectangle 8"/>
          <p:cNvSpPr/>
          <p:nvPr/>
        </p:nvSpPr>
        <p:spPr>
          <a:xfrm>
            <a:off x="4350410" y="1938528"/>
            <a:ext cx="3490874" cy="224028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50410" y="1938528"/>
            <a:ext cx="3490874" cy="38100"/>
          </a:xfrm>
          <a:prstGeom prst="rect">
            <a:avLst/>
          </a:prstGeom>
          <a:solidFill>
            <a:srgbClr val="4DD6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51578" y="2176272"/>
            <a:ext cx="3088538" cy="457200"/>
          </a:xfrm>
          <a:prstGeom prst="rect">
            <a:avLst/>
          </a:prstGeom>
          <a:noFill/>
        </p:spPr>
        <p:txBody>
          <a:bodyPr wrap="square" anchor="t" lIns="0" rIns="0" tIns="0" bIns="0">
            <a:spAutoFit/>
          </a:bodyPr>
          <a:lstStyle/>
          <a:p>
            <a:pPr>
              <a:lnSpc>
                <a:spcPct val="115000"/>
              </a:lnSpc>
              <a:spcBef>
                <a:spcPts val="0"/>
              </a:spcBef>
              <a:spcAft>
                <a:spcPts val="0"/>
              </a:spcAft>
            </a:pPr>
            <a:r>
              <a:rPr sz="1450" b="1">
                <a:solidFill>
                  <a:srgbClr val="EEF3FA"/>
                </a:solidFill>
                <a:latin typeface="Helvetica Neue"/>
              </a:rPr>
              <a:t>Learned</a:t>
            </a:r>
          </a:p>
        </p:txBody>
      </p:sp>
      <p:sp>
        <p:nvSpPr>
          <p:cNvPr id="12" name="TextBox 11"/>
          <p:cNvSpPr txBox="1"/>
          <p:nvPr/>
        </p:nvSpPr>
        <p:spPr>
          <a:xfrm>
            <a:off x="4551578" y="2651760"/>
            <a:ext cx="3088538" cy="1325880"/>
          </a:xfrm>
          <a:prstGeom prst="rect">
            <a:avLst/>
          </a:prstGeom>
          <a:noFill/>
        </p:spPr>
        <p:txBody>
          <a:bodyPr wrap="square" anchor="t" lIns="0" rIns="0" tIns="0" bIns="0">
            <a:spAutoFit/>
          </a:bodyPr>
          <a:lstStyle/>
          <a:p>
            <a:pPr>
              <a:lnSpc>
                <a:spcPct val="140000"/>
              </a:lnSpc>
              <a:spcBef>
                <a:spcPts val="0"/>
              </a:spcBef>
              <a:spcAft>
                <a:spcPts val="0"/>
              </a:spcAft>
            </a:pPr>
            <a:r>
              <a:rPr sz="1150" b="0">
                <a:solidFill>
                  <a:srgbClr val="A3B0C6"/>
                </a:solidFill>
                <a:latin typeface="Helvetica Neue"/>
              </a:rPr>
              <a:t>The Vela-1.0-Encoder-307M family, which is the project's mmBERT encoder — our router logs it as model_type "mmbert". Domain (14 labels), Guard (benign/jailbreak), PII (35 BIO token tags over 17 entity types), plus an embedding model for routing and the cache.</a:t>
            </a:r>
          </a:p>
        </p:txBody>
      </p:sp>
      <p:sp>
        <p:nvSpPr>
          <p:cNvPr id="13" name="Rectangle 12"/>
          <p:cNvSpPr/>
          <p:nvPr/>
        </p:nvSpPr>
        <p:spPr>
          <a:xfrm>
            <a:off x="8042452" y="1938528"/>
            <a:ext cx="3490874" cy="224028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42452" y="1938528"/>
            <a:ext cx="3490874" cy="38100"/>
          </a:xfrm>
          <a:prstGeom prst="rect">
            <a:avLst/>
          </a:prstGeom>
          <a:solidFill>
            <a:srgbClr val="B38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43620" y="2176272"/>
            <a:ext cx="3088538" cy="457200"/>
          </a:xfrm>
          <a:prstGeom prst="rect">
            <a:avLst/>
          </a:prstGeom>
          <a:noFill/>
        </p:spPr>
        <p:txBody>
          <a:bodyPr wrap="square" anchor="t" lIns="0" rIns="0" tIns="0" bIns="0">
            <a:spAutoFit/>
          </a:bodyPr>
          <a:lstStyle/>
          <a:p>
            <a:pPr>
              <a:lnSpc>
                <a:spcPct val="115000"/>
              </a:lnSpc>
              <a:spcBef>
                <a:spcPts val="0"/>
              </a:spcBef>
              <a:spcAft>
                <a:spcPts val="0"/>
              </a:spcAft>
            </a:pPr>
            <a:r>
              <a:rPr sz="1450" b="1">
                <a:solidFill>
                  <a:srgbClr val="EEF3FA"/>
                </a:solidFill>
                <a:latin typeface="Helvetica Neue"/>
              </a:rPr>
              <a:t>Swappable</a:t>
            </a:r>
          </a:p>
        </p:txBody>
      </p:sp>
      <p:sp>
        <p:nvSpPr>
          <p:cNvPr id="16" name="TextBox 15"/>
          <p:cNvSpPr txBox="1"/>
          <p:nvPr/>
        </p:nvSpPr>
        <p:spPr>
          <a:xfrm>
            <a:off x="8243620" y="2651760"/>
            <a:ext cx="3088538" cy="1325880"/>
          </a:xfrm>
          <a:prstGeom prst="rect">
            <a:avLst/>
          </a:prstGeom>
          <a:noFill/>
        </p:spPr>
        <p:txBody>
          <a:bodyPr wrap="square" anchor="t" lIns="0" rIns="0" tIns="0" bIns="0">
            <a:spAutoFit/>
          </a:bodyPr>
          <a:lstStyle/>
          <a:p>
            <a:pPr>
              <a:lnSpc>
                <a:spcPct val="140000"/>
              </a:lnSpc>
              <a:spcBef>
                <a:spcPts val="0"/>
              </a:spcBef>
              <a:spcAft>
                <a:spcPts val="0"/>
              </a:spcAft>
            </a:pPr>
            <a:r>
              <a:rPr sz="1150" b="0">
                <a:solidFill>
                  <a:srgbClr val="A3B0C6"/>
                </a:solidFill>
                <a:latin typeface="Helvetica Neue"/>
              </a:rPr>
              <a:t>Each is just a model_id in the config. Point it at your own fine-tune and it loads that instead — the project's own complexity classifier went 80.4% to 98.5% that way.</a:t>
            </a:r>
          </a:p>
        </p:txBody>
      </p:sp>
      <p:sp>
        <p:nvSpPr>
          <p:cNvPr id="17" name="Rectangle 16"/>
          <p:cNvSpPr/>
          <p:nvPr/>
        </p:nvSpPr>
        <p:spPr>
          <a:xfrm>
            <a:off x="658368" y="4398264"/>
            <a:ext cx="10874959" cy="475488"/>
          </a:xfrm>
          <a:prstGeom prst="rect">
            <a:avLst/>
          </a:prstGeom>
          <a:solidFill>
            <a:srgbClr val="1E2636"/>
          </a:solidFill>
          <a:ln w="12700">
            <a:solidFill>
              <a:srgbClr val="FFC8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4398264"/>
            <a:ext cx="50800" cy="475488"/>
          </a:xfrm>
          <a:prstGeom prst="rect">
            <a:avLst/>
          </a:prstGeom>
          <a:solidFill>
            <a:srgbClr val="FFC8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9536" y="4517136"/>
            <a:ext cx="10472623" cy="237744"/>
          </a:xfrm>
          <a:prstGeom prst="rect">
            <a:avLst/>
          </a:prstGeom>
          <a:noFill/>
        </p:spPr>
        <p:txBody>
          <a:bodyPr wrap="square" anchor="t" lIns="0" rIns="0" tIns="0" bIns="0">
            <a:spAutoFit/>
          </a:bodyPr>
          <a:lstStyle/>
          <a:p>
            <a:pPr>
              <a:lnSpc>
                <a:spcPct val="130000"/>
              </a:lnSpc>
              <a:spcBef>
                <a:spcPts val="0"/>
              </a:spcBef>
              <a:spcAft>
                <a:spcPts val="0"/>
              </a:spcAft>
            </a:pPr>
            <a:r>
              <a:rPr sz="1250" b="0">
                <a:solidFill>
                  <a:srgbClr val="FFC857"/>
                </a:solidFill>
                <a:latin typeface="Helvetica Neue"/>
              </a:rPr>
              <a:t>Signals describe facts. They do not choose the backend.</a:t>
            </a:r>
          </a:p>
        </p:txBody>
      </p:sp>
      <p:sp>
        <p:nvSpPr>
          <p:cNvPr id="20" name="TextBox 19"/>
          <p:cNvSpPr txBox="1"/>
          <p:nvPr/>
        </p:nvSpPr>
        <p:spPr>
          <a:xfrm>
            <a:off x="9521647" y="6382512"/>
            <a:ext cx="2011680" cy="274320"/>
          </a:xfrm>
          <a:prstGeom prst="rect">
            <a:avLst/>
          </a:prstGeom>
          <a:noFill/>
        </p:spPr>
        <p:txBody>
          <a:bodyPr wrap="square" anchor="t" lIns="0" rIns="0" tIns="0" bIns="0">
            <a:spAutoFit/>
          </a:bodyPr>
          <a:lstStyle/>
          <a:p>
            <a:pPr algn="r"/>
            <a:r>
              <a:rPr sz="1000">
                <a:solidFill>
                  <a:srgbClr val="FF4D4D"/>
                </a:solidFill>
                <a:latin typeface="Menlo"/>
              </a:rPr>
              <a:t>11:00  ·  </a:t>
            </a:r>
            <a:r>
              <a:rPr sz="1000">
                <a:solidFill>
                  <a:srgbClr val="6E7D96"/>
                </a:solidFill>
                <a:latin typeface="Menlo"/>
              </a:rPr>
              <a:t>10 / 20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Rectangle 1"/>
          <p:cNvSpPr/>
          <p:nvPr/>
        </p:nvSpPr>
        <p:spPr>
          <a:xfrm>
            <a:off x="0" y="0"/>
            <a:ext cx="1783080" cy="63500"/>
          </a:xfrm>
          <a:prstGeom prst="rect">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30352"/>
            <a:ext cx="10874959" cy="868680"/>
          </a:xfrm>
          <a:prstGeom prst="rect">
            <a:avLst/>
          </a:prstGeom>
          <a:noFill/>
        </p:spPr>
        <p:txBody>
          <a:bodyPr wrap="square" anchor="t" lIns="0" rIns="0" tIns="0" bIns="0">
            <a:spAutoFit/>
          </a:bodyPr>
          <a:lstStyle/>
          <a:p>
            <a:pPr>
              <a:lnSpc>
                <a:spcPct val="110000"/>
              </a:lnSpc>
              <a:spcBef>
                <a:spcPts val="0"/>
              </a:spcBef>
              <a:spcAft>
                <a:spcPts val="0"/>
              </a:spcAft>
            </a:pPr>
            <a:r>
              <a:rPr sz="2900" b="1">
                <a:solidFill>
                  <a:srgbClr val="EEF3FA"/>
                </a:solidFill>
                <a:latin typeface="Helvetica Neue"/>
              </a:rPr>
              <a:t>Stage 3 — Decisions apply policy</a:t>
            </a:r>
          </a:p>
        </p:txBody>
      </p:sp>
      <p:sp>
        <p:nvSpPr>
          <p:cNvPr id="4" name="TextBox 3"/>
          <p:cNvSpPr txBox="1"/>
          <p:nvPr/>
        </p:nvSpPr>
        <p:spPr>
          <a:xfrm>
            <a:off x="658368" y="1188720"/>
            <a:ext cx="9692640" cy="822960"/>
          </a:xfrm>
          <a:prstGeom prst="rect">
            <a:avLst/>
          </a:prstGeom>
          <a:noFill/>
        </p:spPr>
        <p:txBody>
          <a:bodyPr wrap="square" anchor="t" lIns="0" rIns="0" tIns="0" bIns="0">
            <a:spAutoFit/>
          </a:bodyPr>
          <a:lstStyle/>
          <a:p>
            <a:pPr>
              <a:lnSpc>
                <a:spcPct val="135000"/>
              </a:lnSpc>
              <a:spcBef>
                <a:spcPts val="0"/>
              </a:spcBef>
              <a:spcAft>
                <a:spcPts val="0"/>
              </a:spcAft>
            </a:pPr>
            <a:r>
              <a:rPr sz="1400" b="0">
                <a:solidFill>
                  <a:srgbClr val="A3B0C6"/>
                </a:solidFill>
                <a:latin typeface="Helvetica Neue"/>
              </a:rPr>
              <a:t>Boolean rules with arbitrary nesting. Priority resolves conflicts — the highest-priority matching decision wins.</a:t>
            </a:r>
          </a:p>
        </p:txBody>
      </p:sp>
      <p:sp>
        <p:nvSpPr>
          <p:cNvPr id="5" name="Rectangle 4"/>
          <p:cNvSpPr/>
          <p:nvPr/>
        </p:nvSpPr>
        <p:spPr>
          <a:xfrm>
            <a:off x="658368" y="1938528"/>
            <a:ext cx="3490874" cy="224028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938528"/>
            <a:ext cx="3490874" cy="38100"/>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2176272"/>
            <a:ext cx="3088538" cy="457200"/>
          </a:xfrm>
          <a:prstGeom prst="rect">
            <a:avLst/>
          </a:prstGeom>
          <a:noFill/>
        </p:spPr>
        <p:txBody>
          <a:bodyPr wrap="square" anchor="t" lIns="0" rIns="0" tIns="0" bIns="0">
            <a:spAutoFit/>
          </a:bodyPr>
          <a:lstStyle/>
          <a:p>
            <a:pPr>
              <a:lnSpc>
                <a:spcPct val="115000"/>
              </a:lnSpc>
              <a:spcBef>
                <a:spcPts val="0"/>
              </a:spcBef>
              <a:spcAft>
                <a:spcPts val="0"/>
              </a:spcAft>
            </a:pPr>
            <a:r>
              <a:rPr sz="1450" b="1">
                <a:solidFill>
                  <a:srgbClr val="EEF3FA"/>
                </a:solidFill>
                <a:latin typeface="Helvetica Neue"/>
              </a:rPr>
              <a:t>Our ladder, top to bottom</a:t>
            </a:r>
          </a:p>
        </p:txBody>
      </p:sp>
      <p:sp>
        <p:nvSpPr>
          <p:cNvPr id="8" name="TextBox 7"/>
          <p:cNvSpPr txBox="1"/>
          <p:nvPr/>
        </p:nvSpPr>
        <p:spPr>
          <a:xfrm>
            <a:off x="859536" y="2651760"/>
            <a:ext cx="3088538" cy="1325880"/>
          </a:xfrm>
          <a:prstGeom prst="rect">
            <a:avLst/>
          </a:prstGeom>
          <a:noFill/>
        </p:spPr>
        <p:txBody>
          <a:bodyPr wrap="square" anchor="t" lIns="0" rIns="0" tIns="0" bIns="0">
            <a:spAutoFit/>
          </a:bodyPr>
          <a:lstStyle/>
          <a:p>
            <a:pPr>
              <a:lnSpc>
                <a:spcPct val="140000"/>
              </a:lnSpc>
              <a:spcBef>
                <a:spcPts val="0"/>
              </a:spcBef>
              <a:spcAft>
                <a:spcPts val="0"/>
              </a:spcAft>
            </a:pPr>
            <a:r>
              <a:rPr sz="1150" b="0">
                <a:solidFill>
                  <a:srgbClr val="A3B0C6"/>
                </a:solidFill>
                <a:latin typeface="Helvetica Neue"/>
              </a:rPr>
              <a:t>Guardrails first — PII, unsafe content, jailbreak. Then policy overrides, like an urgent security review. Then difficulty. Then intent. Anything that matches nothing falls through to the small model.</a:t>
            </a:r>
          </a:p>
        </p:txBody>
      </p:sp>
      <p:sp>
        <p:nvSpPr>
          <p:cNvPr id="9" name="Rectangle 8"/>
          <p:cNvSpPr/>
          <p:nvPr/>
        </p:nvSpPr>
        <p:spPr>
          <a:xfrm>
            <a:off x="4350410" y="1938528"/>
            <a:ext cx="3490874" cy="224028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50410" y="1938528"/>
            <a:ext cx="3490874" cy="38100"/>
          </a:xfrm>
          <a:prstGeom prst="rect">
            <a:avLst/>
          </a:prstGeom>
          <a:solidFill>
            <a:srgbClr val="4DD6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51578" y="2176272"/>
            <a:ext cx="3088538" cy="457200"/>
          </a:xfrm>
          <a:prstGeom prst="rect">
            <a:avLst/>
          </a:prstGeom>
          <a:noFill/>
        </p:spPr>
        <p:txBody>
          <a:bodyPr wrap="square" anchor="t" lIns="0" rIns="0" tIns="0" bIns="0">
            <a:spAutoFit/>
          </a:bodyPr>
          <a:lstStyle/>
          <a:p>
            <a:pPr>
              <a:lnSpc>
                <a:spcPct val="115000"/>
              </a:lnSpc>
              <a:spcBef>
                <a:spcPts val="0"/>
              </a:spcBef>
              <a:spcAft>
                <a:spcPts val="0"/>
              </a:spcAft>
            </a:pPr>
            <a:r>
              <a:rPr sz="1450" b="1">
                <a:solidFill>
                  <a:srgbClr val="EEF3FA"/>
                </a:solidFill>
                <a:latin typeface="Helvetica Neue"/>
              </a:rPr>
              <a:t>Eligibility before optimisation</a:t>
            </a:r>
          </a:p>
        </p:txBody>
      </p:sp>
      <p:sp>
        <p:nvSpPr>
          <p:cNvPr id="12" name="TextBox 11"/>
          <p:cNvSpPr txBox="1"/>
          <p:nvPr/>
        </p:nvSpPr>
        <p:spPr>
          <a:xfrm>
            <a:off x="4551578" y="2651760"/>
            <a:ext cx="3088538" cy="1325880"/>
          </a:xfrm>
          <a:prstGeom prst="rect">
            <a:avLst/>
          </a:prstGeom>
          <a:noFill/>
        </p:spPr>
        <p:txBody>
          <a:bodyPr wrap="square" anchor="t" lIns="0" rIns="0" tIns="0" bIns="0">
            <a:spAutoFit/>
          </a:bodyPr>
          <a:lstStyle/>
          <a:p>
            <a:pPr>
              <a:lnSpc>
                <a:spcPct val="140000"/>
              </a:lnSpc>
              <a:spcBef>
                <a:spcPts val="0"/>
              </a:spcBef>
              <a:spcAft>
                <a:spcPts val="0"/>
              </a:spcAft>
            </a:pPr>
            <a:r>
              <a:rPr sz="1150" b="0">
                <a:solidFill>
                  <a:srgbClr val="A3B0C6"/>
                </a:solidFill>
                <a:latin typeface="Helvetica Neue"/>
              </a:rPr>
              <a:t>Authorization, local-only processing, modality and context capacity make a route eligible or ineligible before any optimiser compares cost or latency.</a:t>
            </a:r>
          </a:p>
        </p:txBody>
      </p:sp>
      <p:sp>
        <p:nvSpPr>
          <p:cNvPr id="13" name="Rectangle 12"/>
          <p:cNvSpPr/>
          <p:nvPr/>
        </p:nvSpPr>
        <p:spPr>
          <a:xfrm>
            <a:off x="8042452" y="1938528"/>
            <a:ext cx="3490874" cy="224028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42452" y="1938528"/>
            <a:ext cx="3490874" cy="38100"/>
          </a:xfrm>
          <a:prstGeom prst="rect">
            <a:avLst/>
          </a:prstGeom>
          <a:solidFill>
            <a:srgbClr val="B38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43620" y="2176272"/>
            <a:ext cx="3088538" cy="457200"/>
          </a:xfrm>
          <a:prstGeom prst="rect">
            <a:avLst/>
          </a:prstGeom>
          <a:noFill/>
        </p:spPr>
        <p:txBody>
          <a:bodyPr wrap="square" anchor="t" lIns="0" rIns="0" tIns="0" bIns="0">
            <a:spAutoFit/>
          </a:bodyPr>
          <a:lstStyle/>
          <a:p>
            <a:pPr>
              <a:lnSpc>
                <a:spcPct val="115000"/>
              </a:lnSpc>
              <a:spcBef>
                <a:spcPts val="0"/>
              </a:spcBef>
              <a:spcAft>
                <a:spcPts val="0"/>
              </a:spcAft>
            </a:pPr>
            <a:r>
              <a:rPr sz="1450" b="1">
                <a:solidFill>
                  <a:srgbClr val="EEF3FA"/>
                </a:solidFill>
                <a:latin typeface="Helvetica Neue"/>
              </a:rPr>
              <a:t>Detection is not enforcement</a:t>
            </a:r>
          </a:p>
        </p:txBody>
      </p:sp>
      <p:sp>
        <p:nvSpPr>
          <p:cNvPr id="16" name="TextBox 15"/>
          <p:cNvSpPr txBox="1"/>
          <p:nvPr/>
        </p:nvSpPr>
        <p:spPr>
          <a:xfrm>
            <a:off x="8243620" y="2651760"/>
            <a:ext cx="3088538" cy="1325880"/>
          </a:xfrm>
          <a:prstGeom prst="rect">
            <a:avLst/>
          </a:prstGeom>
          <a:noFill/>
        </p:spPr>
        <p:txBody>
          <a:bodyPr wrap="square" anchor="t" lIns="0" rIns="0" tIns="0" bIns="0">
            <a:spAutoFit/>
          </a:bodyPr>
          <a:lstStyle/>
          <a:p>
            <a:pPr>
              <a:lnSpc>
                <a:spcPct val="140000"/>
              </a:lnSpc>
              <a:spcBef>
                <a:spcPts val="0"/>
              </a:spcBef>
              <a:spcAft>
                <a:spcPts val="0"/>
              </a:spcAft>
            </a:pPr>
            <a:r>
              <a:rPr sz="1150" b="0">
                <a:solidFill>
                  <a:srgbClr val="A3B0C6"/>
                </a:solidFill>
                <a:latin typeface="Helvetica Neue"/>
              </a:rPr>
              <a:t>A PII signal reports a match. The decision chooses whether to block, reroute to a local-only model, redact, or merely observe. The same detector, different policy per recipe.</a:t>
            </a:r>
          </a:p>
        </p:txBody>
      </p:sp>
      <p:sp>
        <p:nvSpPr>
          <p:cNvPr id="17" name="Rectangle 16"/>
          <p:cNvSpPr/>
          <p:nvPr/>
        </p:nvSpPr>
        <p:spPr>
          <a:xfrm>
            <a:off x="658368" y="4398264"/>
            <a:ext cx="10874959" cy="475488"/>
          </a:xfrm>
          <a:prstGeom prst="rect">
            <a:avLst/>
          </a:prstGeom>
          <a:solidFill>
            <a:srgbClr val="1E2636"/>
          </a:solidFill>
          <a:ln w="12700">
            <a:solidFill>
              <a:srgbClr val="FFC8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4398264"/>
            <a:ext cx="50800" cy="475488"/>
          </a:xfrm>
          <a:prstGeom prst="rect">
            <a:avLst/>
          </a:prstGeom>
          <a:solidFill>
            <a:srgbClr val="FFC8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9536" y="4517136"/>
            <a:ext cx="10472623" cy="237744"/>
          </a:xfrm>
          <a:prstGeom prst="rect">
            <a:avLst/>
          </a:prstGeom>
          <a:noFill/>
        </p:spPr>
        <p:txBody>
          <a:bodyPr wrap="square" anchor="t" lIns="0" rIns="0" tIns="0" bIns="0">
            <a:spAutoFit/>
          </a:bodyPr>
          <a:lstStyle/>
          <a:p>
            <a:pPr>
              <a:lnSpc>
                <a:spcPct val="130000"/>
              </a:lnSpc>
              <a:spcBef>
                <a:spcPts val="0"/>
              </a:spcBef>
              <a:spcAft>
                <a:spcPts val="0"/>
              </a:spcAft>
            </a:pPr>
            <a:r>
              <a:rPr sz="1250" b="0">
                <a:solidFill>
                  <a:srgbClr val="FFC857"/>
                </a:solidFill>
                <a:latin typeface="Helvetica Neue"/>
              </a:rPr>
              <a:t>Guardrails sit far above routing, deliberately — no cost optimisation can ever outrank a safety rule.</a:t>
            </a:r>
          </a:p>
        </p:txBody>
      </p:sp>
      <p:sp>
        <p:nvSpPr>
          <p:cNvPr id="20" name="TextBox 19"/>
          <p:cNvSpPr txBox="1"/>
          <p:nvPr/>
        </p:nvSpPr>
        <p:spPr>
          <a:xfrm>
            <a:off x="9521647" y="6382512"/>
            <a:ext cx="2011680" cy="274320"/>
          </a:xfrm>
          <a:prstGeom prst="rect">
            <a:avLst/>
          </a:prstGeom>
          <a:noFill/>
        </p:spPr>
        <p:txBody>
          <a:bodyPr wrap="square" anchor="t" lIns="0" rIns="0" tIns="0" bIns="0">
            <a:spAutoFit/>
          </a:bodyPr>
          <a:lstStyle/>
          <a:p>
            <a:pPr algn="r"/>
            <a:r>
              <a:rPr sz="1000">
                <a:solidFill>
                  <a:srgbClr val="FF4D4D"/>
                </a:solidFill>
                <a:latin typeface="Menlo"/>
              </a:rPr>
              <a:t>12:30  ·  </a:t>
            </a:r>
            <a:r>
              <a:rPr sz="1000">
                <a:solidFill>
                  <a:srgbClr val="6E7D96"/>
                </a:solidFill>
                <a:latin typeface="Menlo"/>
              </a:rPr>
              <a:t>11 / 20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Rectangle 1"/>
          <p:cNvSpPr/>
          <p:nvPr/>
        </p:nvSpPr>
        <p:spPr>
          <a:xfrm>
            <a:off x="0" y="0"/>
            <a:ext cx="1783080" cy="63500"/>
          </a:xfrm>
          <a:prstGeom prst="rect">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30352"/>
            <a:ext cx="10874959" cy="868680"/>
          </a:xfrm>
          <a:prstGeom prst="rect">
            <a:avLst/>
          </a:prstGeom>
          <a:noFill/>
        </p:spPr>
        <p:txBody>
          <a:bodyPr wrap="square" anchor="t" lIns="0" rIns="0" tIns="0" bIns="0">
            <a:spAutoFit/>
          </a:bodyPr>
          <a:lstStyle/>
          <a:p>
            <a:pPr>
              <a:lnSpc>
                <a:spcPct val="110000"/>
              </a:lnSpc>
              <a:spcBef>
                <a:spcPts val="0"/>
              </a:spcBef>
              <a:spcAft>
                <a:spcPts val="0"/>
              </a:spcAft>
            </a:pPr>
            <a:r>
              <a:rPr sz="2900" b="1">
                <a:solidFill>
                  <a:srgbClr val="EEF3FA"/>
                </a:solidFill>
                <a:latin typeface="Helvetica Neue"/>
              </a:rPr>
              <a:t>Stages 2 &amp; 4 — Projections and Algorithms</a:t>
            </a:r>
          </a:p>
        </p:txBody>
      </p:sp>
      <p:sp>
        <p:nvSpPr>
          <p:cNvPr id="4" name="TextBox 3"/>
          <p:cNvSpPr txBox="1"/>
          <p:nvPr/>
        </p:nvSpPr>
        <p:spPr>
          <a:xfrm>
            <a:off x="658368" y="1188720"/>
            <a:ext cx="9692640" cy="822960"/>
          </a:xfrm>
          <a:prstGeom prst="rect">
            <a:avLst/>
          </a:prstGeom>
          <a:noFill/>
        </p:spPr>
        <p:txBody>
          <a:bodyPr wrap="square" anchor="t" lIns="0" rIns="0" tIns="0" bIns="0">
            <a:spAutoFit/>
          </a:bodyPr>
          <a:lstStyle/>
          <a:p>
            <a:pPr>
              <a:lnSpc>
                <a:spcPct val="135000"/>
              </a:lnSpc>
              <a:spcBef>
                <a:spcPts val="0"/>
              </a:spcBef>
              <a:spcAft>
                <a:spcPts val="0"/>
              </a:spcAft>
            </a:pPr>
            <a:r>
              <a:rPr sz="1400" b="0">
                <a:solidFill>
                  <a:srgbClr val="A3B0C6"/>
                </a:solidFill>
                <a:latin typeface="Helvetica Neue"/>
              </a:rPr>
              <a:t>The two stages most demos skip. Projections make policy readable; algorithms make it more than a switch statement.</a:t>
            </a:r>
          </a:p>
        </p:txBody>
      </p:sp>
      <p:sp>
        <p:nvSpPr>
          <p:cNvPr id="5" name="Rectangle 4"/>
          <p:cNvSpPr/>
          <p:nvPr/>
        </p:nvSpPr>
        <p:spPr>
          <a:xfrm>
            <a:off x="658368" y="1938528"/>
            <a:ext cx="3490874" cy="224028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938528"/>
            <a:ext cx="3490874" cy="38100"/>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2176272"/>
            <a:ext cx="3088538" cy="457200"/>
          </a:xfrm>
          <a:prstGeom prst="rect">
            <a:avLst/>
          </a:prstGeom>
          <a:noFill/>
        </p:spPr>
        <p:txBody>
          <a:bodyPr wrap="square" anchor="t" lIns="0" rIns="0" tIns="0" bIns="0">
            <a:spAutoFit/>
          </a:bodyPr>
          <a:lstStyle/>
          <a:p>
            <a:pPr>
              <a:lnSpc>
                <a:spcPct val="115000"/>
              </a:lnSpc>
              <a:spcBef>
                <a:spcPts val="0"/>
              </a:spcBef>
              <a:spcAft>
                <a:spcPts val="0"/>
              </a:spcAft>
            </a:pPr>
            <a:r>
              <a:rPr sz="1450" b="1">
                <a:solidFill>
                  <a:srgbClr val="EEF3FA"/>
                </a:solidFill>
                <a:latin typeface="Helvetica Neue"/>
              </a:rPr>
              <a:t>Projections</a:t>
            </a:r>
          </a:p>
        </p:txBody>
      </p:sp>
      <p:sp>
        <p:nvSpPr>
          <p:cNvPr id="8" name="TextBox 7"/>
          <p:cNvSpPr txBox="1"/>
          <p:nvPr/>
        </p:nvSpPr>
        <p:spPr>
          <a:xfrm>
            <a:off x="859536" y="2651760"/>
            <a:ext cx="3088538" cy="1325880"/>
          </a:xfrm>
          <a:prstGeom prst="rect">
            <a:avLst/>
          </a:prstGeom>
          <a:noFill/>
        </p:spPr>
        <p:txBody>
          <a:bodyPr wrap="square" anchor="t" lIns="0" rIns="0" tIns="0" bIns="0">
            <a:spAutoFit/>
          </a:bodyPr>
          <a:lstStyle/>
          <a:p>
            <a:pPr>
              <a:lnSpc>
                <a:spcPct val="140000"/>
              </a:lnSpc>
              <a:spcBef>
                <a:spcPts val="0"/>
              </a:spcBef>
              <a:spcAft>
                <a:spcPts val="0"/>
              </a:spcAft>
            </a:pPr>
            <a:r>
              <a:rPr sz="1150" b="0">
                <a:solidFill>
                  <a:srgbClr val="A3B0C6"/>
                </a:solidFill>
                <a:latin typeface="Helvetica Neue"/>
              </a:rPr>
              <a:t>Partitions pick a coherent winner among overlapping matches. Scores combine weighted inputs. Mappings turn a score into named bands. Define a difficulty score once, reference it from ten decisions.</a:t>
            </a:r>
          </a:p>
        </p:txBody>
      </p:sp>
      <p:sp>
        <p:nvSpPr>
          <p:cNvPr id="9" name="Rectangle 8"/>
          <p:cNvSpPr/>
          <p:nvPr/>
        </p:nvSpPr>
        <p:spPr>
          <a:xfrm>
            <a:off x="4350410" y="1938528"/>
            <a:ext cx="3490874" cy="224028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50410" y="1938528"/>
            <a:ext cx="3490874" cy="38100"/>
          </a:xfrm>
          <a:prstGeom prst="rect">
            <a:avLst/>
          </a:prstGeom>
          <a:solidFill>
            <a:srgbClr val="4DD6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51578" y="2176272"/>
            <a:ext cx="3088538" cy="457200"/>
          </a:xfrm>
          <a:prstGeom prst="rect">
            <a:avLst/>
          </a:prstGeom>
          <a:noFill/>
        </p:spPr>
        <p:txBody>
          <a:bodyPr wrap="square" anchor="t" lIns="0" rIns="0" tIns="0" bIns="0">
            <a:spAutoFit/>
          </a:bodyPr>
          <a:lstStyle/>
          <a:p>
            <a:pPr>
              <a:lnSpc>
                <a:spcPct val="115000"/>
              </a:lnSpc>
              <a:spcBef>
                <a:spcPts val="0"/>
              </a:spcBef>
              <a:spcAft>
                <a:spcPts val="0"/>
              </a:spcAft>
            </a:pPr>
            <a:r>
              <a:rPr sz="1450" b="1">
                <a:solidFill>
                  <a:srgbClr val="EEF3FA"/>
                </a:solidFill>
                <a:latin typeface="Helvetica Neue"/>
              </a:rPr>
              <a:t>Selection algorithms</a:t>
            </a:r>
          </a:p>
        </p:txBody>
      </p:sp>
      <p:sp>
        <p:nvSpPr>
          <p:cNvPr id="12" name="TextBox 11"/>
          <p:cNvSpPr txBox="1"/>
          <p:nvPr/>
        </p:nvSpPr>
        <p:spPr>
          <a:xfrm>
            <a:off x="4551578" y="2651760"/>
            <a:ext cx="3088538" cy="1325880"/>
          </a:xfrm>
          <a:prstGeom prst="rect">
            <a:avLst/>
          </a:prstGeom>
          <a:noFill/>
        </p:spPr>
        <p:txBody>
          <a:bodyPr wrap="square" anchor="t" lIns="0" rIns="0" tIns="0" bIns="0">
            <a:spAutoFit/>
          </a:bodyPr>
          <a:lstStyle/>
          <a:p>
            <a:pPr>
              <a:lnSpc>
                <a:spcPct val="140000"/>
              </a:lnSpc>
              <a:spcBef>
                <a:spcPts val="0"/>
              </a:spcBef>
              <a:spcAft>
                <a:spcPts val="0"/>
              </a:spcAft>
            </a:pPr>
            <a:r>
              <a:rPr sz="1150" b="0">
                <a:solidFill>
                  <a:srgbClr val="A3B0C6"/>
                </a:solidFill>
                <a:latin typeface="Helvetica Neue"/>
              </a:rPr>
              <a:t>Pick one candidate — fixed order, semantic fit, measured latency, multi-factor, or Elo-style learning from feedback. Our demo runs the simplest: static.</a:t>
            </a:r>
          </a:p>
        </p:txBody>
      </p:sp>
      <p:sp>
        <p:nvSpPr>
          <p:cNvPr id="13" name="Rectangle 12"/>
          <p:cNvSpPr/>
          <p:nvPr/>
        </p:nvSpPr>
        <p:spPr>
          <a:xfrm>
            <a:off x="8042452" y="1938528"/>
            <a:ext cx="3490874" cy="224028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42452" y="1938528"/>
            <a:ext cx="3490874" cy="38100"/>
          </a:xfrm>
          <a:prstGeom prst="rect">
            <a:avLst/>
          </a:prstGeom>
          <a:solidFill>
            <a:srgbClr val="B38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43620" y="2176272"/>
            <a:ext cx="3088538" cy="457200"/>
          </a:xfrm>
          <a:prstGeom prst="rect">
            <a:avLst/>
          </a:prstGeom>
          <a:noFill/>
        </p:spPr>
        <p:txBody>
          <a:bodyPr wrap="square" anchor="t" lIns="0" rIns="0" tIns="0" bIns="0">
            <a:spAutoFit/>
          </a:bodyPr>
          <a:lstStyle/>
          <a:p>
            <a:pPr>
              <a:lnSpc>
                <a:spcPct val="115000"/>
              </a:lnSpc>
              <a:spcBef>
                <a:spcPts val="0"/>
              </a:spcBef>
              <a:spcAft>
                <a:spcPts val="0"/>
              </a:spcAft>
            </a:pPr>
            <a:r>
              <a:rPr sz="1450" b="1">
                <a:solidFill>
                  <a:srgbClr val="EEF3FA"/>
                </a:solidFill>
                <a:latin typeface="Helvetica Neue"/>
              </a:rPr>
              <a:t>Looper algorithms</a:t>
            </a:r>
          </a:p>
        </p:txBody>
      </p:sp>
      <p:sp>
        <p:nvSpPr>
          <p:cNvPr id="16" name="TextBox 15"/>
          <p:cNvSpPr txBox="1"/>
          <p:nvPr/>
        </p:nvSpPr>
        <p:spPr>
          <a:xfrm>
            <a:off x="8243620" y="2651760"/>
            <a:ext cx="3088538" cy="1325880"/>
          </a:xfrm>
          <a:prstGeom prst="rect">
            <a:avLst/>
          </a:prstGeom>
          <a:noFill/>
        </p:spPr>
        <p:txBody>
          <a:bodyPr wrap="square" anchor="t" lIns="0" rIns="0" tIns="0" bIns="0">
            <a:spAutoFit/>
          </a:bodyPr>
          <a:lstStyle/>
          <a:p>
            <a:pPr>
              <a:lnSpc>
                <a:spcPct val="140000"/>
              </a:lnSpc>
              <a:spcBef>
                <a:spcPts val="0"/>
              </a:spcBef>
              <a:spcAft>
                <a:spcPts val="0"/>
              </a:spcAft>
            </a:pPr>
            <a:r>
              <a:rPr sz="1150" b="0">
                <a:solidFill>
                  <a:srgbClr val="A3B0C6"/>
                </a:solidFill>
                <a:latin typeface="Helvetica Neue"/>
              </a:rPr>
              <a:t>Coordinate several models for one request. SELECT, CASCADE (escalate on confidence), FUSION (compare and synthesise), WORKFLOW (planner, thinker, worker, verifier).</a:t>
            </a:r>
          </a:p>
        </p:txBody>
      </p:sp>
      <p:sp>
        <p:nvSpPr>
          <p:cNvPr id="17" name="Rectangle 16"/>
          <p:cNvSpPr/>
          <p:nvPr/>
        </p:nvSpPr>
        <p:spPr>
          <a:xfrm>
            <a:off x="658368" y="4398264"/>
            <a:ext cx="10874959" cy="475488"/>
          </a:xfrm>
          <a:prstGeom prst="rect">
            <a:avLst/>
          </a:prstGeom>
          <a:solidFill>
            <a:srgbClr val="1E2636"/>
          </a:solidFill>
          <a:ln w="12700">
            <a:solidFill>
              <a:srgbClr val="FFC8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4398264"/>
            <a:ext cx="50800" cy="475488"/>
          </a:xfrm>
          <a:prstGeom prst="rect">
            <a:avLst/>
          </a:prstGeom>
          <a:solidFill>
            <a:srgbClr val="FFC8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9536" y="4517136"/>
            <a:ext cx="10472623" cy="237744"/>
          </a:xfrm>
          <a:prstGeom prst="rect">
            <a:avLst/>
          </a:prstGeom>
          <a:noFill/>
        </p:spPr>
        <p:txBody>
          <a:bodyPr wrap="square" anchor="t" lIns="0" rIns="0" tIns="0" bIns="0">
            <a:spAutoFit/>
          </a:bodyPr>
          <a:lstStyle/>
          <a:p>
            <a:pPr>
              <a:lnSpc>
                <a:spcPct val="130000"/>
              </a:lnSpc>
              <a:spcBef>
                <a:spcPts val="0"/>
              </a:spcBef>
              <a:spcAft>
                <a:spcPts val="0"/>
              </a:spcAft>
            </a:pPr>
            <a:r>
              <a:rPr sz="1250" b="0">
                <a:solidFill>
                  <a:srgbClr val="FFC857"/>
                </a:solidFill>
                <a:latin typeface="Helvetica Neue"/>
              </a:rPr>
              <a:t>quality = routing × diversity × verification × contract</a:t>
            </a:r>
          </a:p>
        </p:txBody>
      </p:sp>
      <p:sp>
        <p:nvSpPr>
          <p:cNvPr id="20" name="TextBox 19"/>
          <p:cNvSpPr txBox="1"/>
          <p:nvPr/>
        </p:nvSpPr>
        <p:spPr>
          <a:xfrm>
            <a:off x="9521647" y="6382512"/>
            <a:ext cx="2011680" cy="274320"/>
          </a:xfrm>
          <a:prstGeom prst="rect">
            <a:avLst/>
          </a:prstGeom>
          <a:noFill/>
        </p:spPr>
        <p:txBody>
          <a:bodyPr wrap="square" anchor="t" lIns="0" rIns="0" tIns="0" bIns="0">
            <a:spAutoFit/>
          </a:bodyPr>
          <a:lstStyle/>
          <a:p>
            <a:pPr algn="r"/>
            <a:r>
              <a:rPr sz="1000">
                <a:solidFill>
                  <a:srgbClr val="FF4D4D"/>
                </a:solidFill>
                <a:latin typeface="Menlo"/>
              </a:rPr>
              <a:t>14:00  ·  </a:t>
            </a:r>
            <a:r>
              <a:rPr sz="1000">
                <a:solidFill>
                  <a:srgbClr val="6E7D96"/>
                </a:solidFill>
                <a:latin typeface="Menlo"/>
              </a:rPr>
              <a:t>12 / 20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Rectangle 1"/>
          <p:cNvSpPr/>
          <p:nvPr/>
        </p:nvSpPr>
        <p:spPr>
          <a:xfrm>
            <a:off x="0" y="0"/>
            <a:ext cx="1783080" cy="63500"/>
          </a:xfrm>
          <a:prstGeom prst="rect">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30352"/>
            <a:ext cx="10874959" cy="868680"/>
          </a:xfrm>
          <a:prstGeom prst="rect">
            <a:avLst/>
          </a:prstGeom>
          <a:noFill/>
        </p:spPr>
        <p:txBody>
          <a:bodyPr wrap="square" anchor="t" lIns="0" rIns="0" tIns="0" bIns="0">
            <a:spAutoFit/>
          </a:bodyPr>
          <a:lstStyle/>
          <a:p>
            <a:pPr>
              <a:lnSpc>
                <a:spcPct val="110000"/>
              </a:lnSpc>
              <a:spcBef>
                <a:spcPts val="0"/>
              </a:spcBef>
              <a:spcAft>
                <a:spcPts val="0"/>
              </a:spcAft>
            </a:pPr>
            <a:r>
              <a:rPr sz="2900" b="1">
                <a:solidFill>
                  <a:srgbClr val="EEF3FA"/>
                </a:solidFill>
                <a:latin typeface="Helvetica Neue"/>
              </a:rPr>
              <a:t>Recipes: policy you can adopt with one string</a:t>
            </a:r>
          </a:p>
        </p:txBody>
      </p:sp>
      <p:sp>
        <p:nvSpPr>
          <p:cNvPr id="4" name="TextBox 3"/>
          <p:cNvSpPr txBox="1"/>
          <p:nvPr/>
        </p:nvSpPr>
        <p:spPr>
          <a:xfrm>
            <a:off x="658368" y="1188720"/>
            <a:ext cx="9692640" cy="822960"/>
          </a:xfrm>
          <a:prstGeom prst="rect">
            <a:avLst/>
          </a:prstGeom>
          <a:noFill/>
        </p:spPr>
        <p:txBody>
          <a:bodyPr wrap="square" anchor="t" lIns="0" rIns="0" tIns="0" bIns="0">
            <a:spAutoFit/>
          </a:bodyPr>
          <a:lstStyle/>
          <a:p>
            <a:pPr>
              <a:lnSpc>
                <a:spcPct val="135000"/>
              </a:lnSpc>
              <a:spcBef>
                <a:spcPts val="0"/>
              </a:spcBef>
              <a:spcAft>
                <a:spcPts val="0"/>
              </a:spcAft>
            </a:pPr>
            <a:r>
              <a:rPr sz="1400" b="0">
                <a:solidFill>
                  <a:srgbClr val="A3B0C6"/>
                </a:solidFill>
                <a:latin typeface="Helvetica Neue"/>
              </a:rPr>
              <a:t>A recipe owns its own signals, projections, decisions, algorithms, plugins and cache namespace. An entrypoint picks which one handles a request.</a:t>
            </a:r>
          </a:p>
        </p:txBody>
      </p:sp>
      <p:graphicFrame>
        <p:nvGraphicFramePr>
          <p:cNvPr id="5" name="Table 4"/>
          <p:cNvGraphicFramePr>
            <a:graphicFrameLocks noGrp="1"/>
          </p:cNvGraphicFramePr>
          <p:nvPr/>
        </p:nvGraphicFramePr>
        <p:xfrm>
          <a:off x="658368" y="1938528"/>
          <a:ext cx="10874959" cy="3200400"/>
        </p:xfrm>
        <a:graphic>
          <a:graphicData uri="http://schemas.openxmlformats.org/drawingml/2006/table">
            <a:tbl>
              <a:tblPr firstRow="1" bandRow="1">
                <a:tableStyleId>{5C22544A-7EE6-4342-B048-85BDC9FD1C3A}</a:tableStyleId>
              </a:tblPr>
              <a:tblGrid>
                <a:gridCol w="1554480"/>
                <a:gridCol w="2651760"/>
                <a:gridCol w="6668719"/>
              </a:tblGrid>
              <a:tr h="533400">
                <a:tc>
                  <a:txBody>
                    <a:bodyPr wrap="square"/>
                    <a:lstStyle/>
                    <a:p>
                      <a:pPr>
                        <a:spcBef>
                          <a:spcPts val="0"/>
                        </a:spcBef>
                        <a:spcAft>
                          <a:spcPts val="0"/>
                        </a:spcAft>
                      </a:pPr>
                      <a:r>
                        <a:rPr sz="1000" b="1">
                          <a:solidFill>
                            <a:srgbClr val="FF4D4D"/>
                          </a:solidFill>
                          <a:latin typeface="Helvetica Neue"/>
                        </a:rPr>
                        <a:t>RECIPE</a:t>
                      </a:r>
                    </a:p>
                  </a:txBody>
                  <a:tcPr marL="91440" marR="91440">
                    <a:solidFill>
                      <a:srgbClr val="0B0E14"/>
                    </a:solidFill>
                  </a:tcPr>
                </a:tc>
                <a:tc>
                  <a:txBody>
                    <a:bodyPr wrap="square"/>
                    <a:lstStyle/>
                    <a:p>
                      <a:pPr>
                        <a:spcBef>
                          <a:spcPts val="0"/>
                        </a:spcBef>
                        <a:spcAft>
                          <a:spcPts val="0"/>
                        </a:spcAft>
                      </a:pPr>
                      <a:r>
                        <a:rPr sz="1000" b="1">
                          <a:solidFill>
                            <a:srgbClr val="FF4D4D"/>
                          </a:solidFill>
                          <a:latin typeface="Helvetica Neue"/>
                        </a:rPr>
                        <a:t>VIRTUAL MODEL</a:t>
                      </a:r>
                    </a:p>
                  </a:txBody>
                  <a:tcPr marL="91440" marR="91440">
                    <a:solidFill>
                      <a:srgbClr val="0B0E14"/>
                    </a:solidFill>
                  </a:tcPr>
                </a:tc>
                <a:tc>
                  <a:txBody>
                    <a:bodyPr wrap="square"/>
                    <a:lstStyle/>
                    <a:p>
                      <a:pPr>
                        <a:spcBef>
                          <a:spcPts val="0"/>
                        </a:spcBef>
                        <a:spcAft>
                          <a:spcPts val="0"/>
                        </a:spcAft>
                      </a:pPr>
                      <a:r>
                        <a:rPr sz="1000" b="1">
                          <a:solidFill>
                            <a:srgbClr val="FF4D4D"/>
                          </a:solidFill>
                          <a:latin typeface="Helvetica Neue"/>
                        </a:rPr>
                        <a:t>OPTIMISES FOR</a:t>
                      </a:r>
                    </a:p>
                  </a:txBody>
                  <a:tcPr marL="91440" marR="91440">
                    <a:solidFill>
                      <a:srgbClr val="0B0E14"/>
                    </a:solidFill>
                  </a:tcPr>
                </a:tc>
              </a:tr>
              <a:tr h="533400">
                <a:tc>
                  <a:txBody>
                    <a:bodyPr wrap="square"/>
                    <a:lstStyle/>
                    <a:p>
                      <a:pPr>
                        <a:lnSpc>
                          <a:spcPct val="125000"/>
                        </a:lnSpc>
                        <a:spcBef>
                          <a:spcPts val="0"/>
                        </a:spcBef>
                        <a:spcAft>
                          <a:spcPts val="0"/>
                        </a:spcAft>
                      </a:pPr>
                      <a:r>
                        <a:rPr sz="1100" b="1">
                          <a:solidFill>
                            <a:srgbClr val="EEF3FA"/>
                          </a:solidFill>
                          <a:latin typeface="Helvetica Neue"/>
                        </a:rPr>
                        <a:t>Balance</a:t>
                      </a:r>
                    </a:p>
                  </a:txBody>
                  <a:tcPr marL="91440" marR="91440" marT="45720" marB="45720">
                    <a:solidFill>
                      <a:srgbClr val="151B26"/>
                    </a:solidFill>
                  </a:tcPr>
                </a:tc>
                <a:tc>
                  <a:txBody>
                    <a:bodyPr wrap="square"/>
                    <a:lstStyle/>
                    <a:p>
                      <a:pPr>
                        <a:lnSpc>
                          <a:spcPct val="125000"/>
                        </a:lnSpc>
                        <a:spcBef>
                          <a:spcPts val="0"/>
                        </a:spcBef>
                        <a:spcAft>
                          <a:spcPts val="0"/>
                        </a:spcAft>
                      </a:pPr>
                      <a:r>
                        <a:rPr sz="1050" b="0">
                          <a:solidFill>
                            <a:srgbClr val="A3B0C6"/>
                          </a:solidFill>
                          <a:latin typeface="Menlo"/>
                        </a:rPr>
                        <a:t>vllm-sr/mom-v1-blend</a:t>
                      </a:r>
                    </a:p>
                  </a:txBody>
                  <a:tcPr marL="91440" marR="91440" marT="45720" marB="45720">
                    <a:solidFill>
                      <a:srgbClr val="151B26"/>
                    </a:solidFill>
                  </a:tcPr>
                </a:tc>
                <a:tc>
                  <a:txBody>
                    <a:bodyPr wrap="square"/>
                    <a:lstStyle/>
                    <a:p>
                      <a:pPr>
                        <a:lnSpc>
                          <a:spcPct val="125000"/>
                        </a:lnSpc>
                        <a:spcBef>
                          <a:spcPts val="0"/>
                        </a:spcBef>
                        <a:spcAft>
                          <a:spcPts val="0"/>
                        </a:spcAft>
                      </a:pPr>
                      <a:r>
                        <a:rPr sz="1050" b="0">
                          <a:solidFill>
                            <a:srgbClr val="A3B0C6"/>
                          </a:solidFill>
                          <a:latin typeface="Helvetica Neue"/>
                        </a:rPr>
                        <a:t>Difficulty, consequential advice, answer recovery</a:t>
                      </a:r>
                    </a:p>
                  </a:txBody>
                  <a:tcPr marL="91440" marR="91440" marT="45720" marB="45720">
                    <a:solidFill>
                      <a:srgbClr val="151B26"/>
                    </a:solidFill>
                  </a:tcPr>
                </a:tc>
              </a:tr>
              <a:tr h="533400">
                <a:tc>
                  <a:txBody>
                    <a:bodyPr wrap="square"/>
                    <a:lstStyle/>
                    <a:p>
                      <a:pPr>
                        <a:lnSpc>
                          <a:spcPct val="125000"/>
                        </a:lnSpc>
                        <a:spcBef>
                          <a:spcPts val="0"/>
                        </a:spcBef>
                        <a:spcAft>
                          <a:spcPts val="0"/>
                        </a:spcAft>
                      </a:pPr>
                      <a:r>
                        <a:rPr sz="1100" b="1">
                          <a:solidFill>
                            <a:srgbClr val="EEF3FA"/>
                          </a:solidFill>
                          <a:latin typeface="Helvetica Neue"/>
                        </a:rPr>
                        <a:t>Speed</a:t>
                      </a:r>
                    </a:p>
                  </a:txBody>
                  <a:tcPr marL="91440" marR="91440" marT="45720" marB="45720">
                    <a:solidFill>
                      <a:srgbClr val="0B0E14"/>
                    </a:solidFill>
                  </a:tcPr>
                </a:tc>
                <a:tc>
                  <a:txBody>
                    <a:bodyPr wrap="square"/>
                    <a:lstStyle/>
                    <a:p>
                      <a:pPr>
                        <a:lnSpc>
                          <a:spcPct val="125000"/>
                        </a:lnSpc>
                        <a:spcBef>
                          <a:spcPts val="0"/>
                        </a:spcBef>
                        <a:spcAft>
                          <a:spcPts val="0"/>
                        </a:spcAft>
                      </a:pPr>
                      <a:r>
                        <a:rPr sz="1050" b="0">
                          <a:solidFill>
                            <a:srgbClr val="A3B0C6"/>
                          </a:solidFill>
                          <a:latin typeface="Menlo"/>
                        </a:rPr>
                        <a:t>vllm-sr/mom-v1-flash</a:t>
                      </a:r>
                    </a:p>
                  </a:txBody>
                  <a:tcPr marL="91440" marR="91440" marT="45720" marB="45720">
                    <a:solidFill>
                      <a:srgbClr val="0B0E14"/>
                    </a:solidFill>
                  </a:tcPr>
                </a:tc>
                <a:tc>
                  <a:txBody>
                    <a:bodyPr wrap="square"/>
                    <a:lstStyle/>
                    <a:p>
                      <a:pPr>
                        <a:lnSpc>
                          <a:spcPct val="125000"/>
                        </a:lnSpc>
                        <a:spcBef>
                          <a:spcPts val="0"/>
                        </a:spcBef>
                        <a:spcAft>
                          <a:spcPts val="0"/>
                        </a:spcAft>
                      </a:pPr>
                      <a:r>
                        <a:rPr sz="1050" b="0">
                          <a:solidFill>
                            <a:srgbClr val="A3B0C6"/>
                          </a:solidFill>
                          <a:latin typeface="Helvetica Neue"/>
                        </a:rPr>
                        <a:t>Lighter signal set, lowest added latency</a:t>
                      </a:r>
                    </a:p>
                  </a:txBody>
                  <a:tcPr marL="91440" marR="91440" marT="45720" marB="45720">
                    <a:solidFill>
                      <a:srgbClr val="0B0E14"/>
                    </a:solidFill>
                  </a:tcPr>
                </a:tc>
              </a:tr>
              <a:tr h="533400">
                <a:tc>
                  <a:txBody>
                    <a:bodyPr wrap="square"/>
                    <a:lstStyle/>
                    <a:p>
                      <a:pPr>
                        <a:lnSpc>
                          <a:spcPct val="125000"/>
                        </a:lnSpc>
                        <a:spcBef>
                          <a:spcPts val="0"/>
                        </a:spcBef>
                        <a:spcAft>
                          <a:spcPts val="0"/>
                        </a:spcAft>
                      </a:pPr>
                      <a:r>
                        <a:rPr sz="1100" b="1">
                          <a:solidFill>
                            <a:srgbClr val="EEF3FA"/>
                          </a:solidFill>
                          <a:latin typeface="Helvetica Neue"/>
                        </a:rPr>
                        <a:t>Cost</a:t>
                      </a:r>
                    </a:p>
                  </a:txBody>
                  <a:tcPr marL="91440" marR="91440" marT="45720" marB="45720">
                    <a:solidFill>
                      <a:srgbClr val="151B26"/>
                    </a:solidFill>
                  </a:tcPr>
                </a:tc>
                <a:tc>
                  <a:txBody>
                    <a:bodyPr wrap="square"/>
                    <a:lstStyle/>
                    <a:p>
                      <a:pPr>
                        <a:lnSpc>
                          <a:spcPct val="125000"/>
                        </a:lnSpc>
                        <a:spcBef>
                          <a:spcPts val="0"/>
                        </a:spcBef>
                        <a:spcAft>
                          <a:spcPts val="0"/>
                        </a:spcAft>
                      </a:pPr>
                      <a:r>
                        <a:rPr sz="1050" b="0">
                          <a:solidFill>
                            <a:srgbClr val="A3B0C6"/>
                          </a:solidFill>
                          <a:latin typeface="Menlo"/>
                        </a:rPr>
                        <a:t>vllm-sr/mom-v1-lite</a:t>
                      </a:r>
                    </a:p>
                  </a:txBody>
                  <a:tcPr marL="91440" marR="91440" marT="45720" marB="45720">
                    <a:solidFill>
                      <a:srgbClr val="151B26"/>
                    </a:solidFill>
                  </a:tcPr>
                </a:tc>
                <a:tc>
                  <a:txBody>
                    <a:bodyPr wrap="square"/>
                    <a:lstStyle/>
                    <a:p>
                      <a:pPr>
                        <a:lnSpc>
                          <a:spcPct val="125000"/>
                        </a:lnSpc>
                        <a:spcBef>
                          <a:spcPts val="0"/>
                        </a:spcBef>
                        <a:spcAft>
                          <a:spcPts val="0"/>
                        </a:spcAft>
                      </a:pPr>
                      <a:r>
                        <a:rPr sz="1050" b="0">
                          <a:solidFill>
                            <a:srgbClr val="A3B0C6"/>
                          </a:solidFill>
                          <a:latin typeface="Helvetica Neue"/>
                        </a:rPr>
                        <a:t>Lighter signal set, cheapest viable path</a:t>
                      </a:r>
                    </a:p>
                  </a:txBody>
                  <a:tcPr marL="91440" marR="91440" marT="45720" marB="45720">
                    <a:solidFill>
                      <a:srgbClr val="151B26"/>
                    </a:solidFill>
                  </a:tcPr>
                </a:tc>
              </a:tr>
              <a:tr h="533400">
                <a:tc>
                  <a:txBody>
                    <a:bodyPr wrap="square"/>
                    <a:lstStyle/>
                    <a:p>
                      <a:pPr>
                        <a:lnSpc>
                          <a:spcPct val="125000"/>
                        </a:lnSpc>
                        <a:spcBef>
                          <a:spcPts val="0"/>
                        </a:spcBef>
                        <a:spcAft>
                          <a:spcPts val="0"/>
                        </a:spcAft>
                      </a:pPr>
                      <a:r>
                        <a:rPr sz="1100" b="1">
                          <a:solidFill>
                            <a:srgbClr val="EEF3FA"/>
                          </a:solidFill>
                          <a:latin typeface="Helvetica Neue"/>
                        </a:rPr>
                        <a:t>Accuracy</a:t>
                      </a:r>
                    </a:p>
                  </a:txBody>
                  <a:tcPr marL="91440" marR="91440" marT="45720" marB="45720">
                    <a:solidFill>
                      <a:srgbClr val="0B0E14"/>
                    </a:solidFill>
                  </a:tcPr>
                </a:tc>
                <a:tc>
                  <a:txBody>
                    <a:bodyPr wrap="square"/>
                    <a:lstStyle/>
                    <a:p>
                      <a:pPr>
                        <a:lnSpc>
                          <a:spcPct val="125000"/>
                        </a:lnSpc>
                        <a:spcBef>
                          <a:spcPts val="0"/>
                        </a:spcBef>
                        <a:spcAft>
                          <a:spcPts val="0"/>
                        </a:spcAft>
                      </a:pPr>
                      <a:r>
                        <a:rPr sz="1050" b="0">
                          <a:solidFill>
                            <a:srgbClr val="A3B0C6"/>
                          </a:solidFill>
                          <a:latin typeface="Menlo"/>
                        </a:rPr>
                        <a:t>vllm-sr/mom-v1-ultra</a:t>
                      </a:r>
                    </a:p>
                  </a:txBody>
                  <a:tcPr marL="91440" marR="91440" marT="45720" marB="45720">
                    <a:solidFill>
                      <a:srgbClr val="0B0E14"/>
                    </a:solidFill>
                  </a:tcPr>
                </a:tc>
                <a:tc>
                  <a:txBody>
                    <a:bodyPr wrap="square"/>
                    <a:lstStyle/>
                    <a:p>
                      <a:pPr>
                        <a:lnSpc>
                          <a:spcPct val="125000"/>
                        </a:lnSpc>
                        <a:spcBef>
                          <a:spcPts val="0"/>
                        </a:spcBef>
                        <a:spcAft>
                          <a:spcPts val="0"/>
                        </a:spcAft>
                      </a:pPr>
                      <a:r>
                        <a:rPr sz="1050" b="0">
                          <a:solidFill>
                            <a:srgbClr val="A3B0C6"/>
                          </a:solidFill>
                          <a:latin typeface="Helvetica Neue"/>
                        </a:rPr>
                        <a:t>Usually one strong model</a:t>
                      </a:r>
                    </a:p>
                  </a:txBody>
                  <a:tcPr marL="91440" marR="91440" marT="45720" marB="45720">
                    <a:solidFill>
                      <a:srgbClr val="0B0E14"/>
                    </a:solidFill>
                  </a:tcPr>
                </a:tc>
              </a:tr>
              <a:tr h="533400">
                <a:tc>
                  <a:txBody>
                    <a:bodyPr wrap="square"/>
                    <a:lstStyle/>
                    <a:p>
                      <a:pPr>
                        <a:lnSpc>
                          <a:spcPct val="125000"/>
                        </a:lnSpc>
                        <a:spcBef>
                          <a:spcPts val="0"/>
                        </a:spcBef>
                        <a:spcAft>
                          <a:spcPts val="0"/>
                        </a:spcAft>
                      </a:pPr>
                      <a:r>
                        <a:rPr sz="1100" b="1">
                          <a:solidFill>
                            <a:srgbClr val="EEF3FA"/>
                          </a:solidFill>
                          <a:latin typeface="Helvetica Neue"/>
                        </a:rPr>
                        <a:t>Vault</a:t>
                      </a:r>
                    </a:p>
                  </a:txBody>
                  <a:tcPr marL="91440" marR="91440" marT="45720" marB="45720">
                    <a:solidFill>
                      <a:srgbClr val="151B26"/>
                    </a:solidFill>
                  </a:tcPr>
                </a:tc>
                <a:tc>
                  <a:txBody>
                    <a:bodyPr wrap="square"/>
                    <a:lstStyle/>
                    <a:p>
                      <a:pPr>
                        <a:lnSpc>
                          <a:spcPct val="125000"/>
                        </a:lnSpc>
                        <a:spcBef>
                          <a:spcPts val="0"/>
                        </a:spcBef>
                        <a:spcAft>
                          <a:spcPts val="0"/>
                        </a:spcAft>
                      </a:pPr>
                      <a:r>
                        <a:rPr sz="1050" b="0">
                          <a:solidFill>
                            <a:srgbClr val="A3B0C6"/>
                          </a:solidFill>
                          <a:latin typeface="Menlo"/>
                        </a:rPr>
                        <a:t>vllm-sr/mom-v1-vault</a:t>
                      </a:r>
                    </a:p>
                  </a:txBody>
                  <a:tcPr marL="91440" marR="91440" marT="45720" marB="45720">
                    <a:solidFill>
                      <a:srgbClr val="151B26"/>
                    </a:solidFill>
                  </a:tcPr>
                </a:tc>
                <a:tc>
                  <a:txBody>
                    <a:bodyPr wrap="square"/>
                    <a:lstStyle/>
                    <a:p>
                      <a:pPr>
                        <a:lnSpc>
                          <a:spcPct val="125000"/>
                        </a:lnSpc>
                        <a:spcBef>
                          <a:spcPts val="0"/>
                        </a:spcBef>
                        <a:spcAft>
                          <a:spcPts val="0"/>
                        </a:spcAft>
                      </a:pPr>
                      <a:r>
                        <a:rPr sz="1050" b="0">
                          <a:solidFill>
                            <a:srgbClr val="A3B0C6"/>
                          </a:solidFill>
                          <a:latin typeface="Helvetica Neue"/>
                        </a:rPr>
                        <a:t>Privacy — Guard and PII on Vela 2.0 0.3B</a:t>
                      </a:r>
                    </a:p>
                  </a:txBody>
                  <a:tcPr marL="91440" marR="91440" marT="45720" marB="45720">
                    <a:solidFill>
                      <a:srgbClr val="151B26"/>
                    </a:solidFill>
                  </a:tcPr>
                </a:tc>
              </a:tr>
            </a:tbl>
          </a:graphicData>
        </a:graphic>
      </p:graphicFrame>
      <p:sp>
        <p:nvSpPr>
          <p:cNvPr id="6" name="TextBox 5"/>
          <p:cNvSpPr txBox="1"/>
          <p:nvPr/>
        </p:nvSpPr>
        <p:spPr>
          <a:xfrm>
            <a:off x="9521647" y="6382512"/>
            <a:ext cx="2011680" cy="274320"/>
          </a:xfrm>
          <a:prstGeom prst="rect">
            <a:avLst/>
          </a:prstGeom>
          <a:noFill/>
        </p:spPr>
        <p:txBody>
          <a:bodyPr wrap="square" anchor="t" lIns="0" rIns="0" tIns="0" bIns="0">
            <a:spAutoFit/>
          </a:bodyPr>
          <a:lstStyle/>
          <a:p>
            <a:pPr algn="r"/>
            <a:r>
              <a:rPr sz="1000">
                <a:solidFill>
                  <a:srgbClr val="FF4D4D"/>
                </a:solidFill>
                <a:latin typeface="Menlo"/>
              </a:rPr>
              <a:t>15:00  ·  </a:t>
            </a:r>
            <a:r>
              <a:rPr sz="1000">
                <a:solidFill>
                  <a:srgbClr val="6E7D96"/>
                </a:solidFill>
                <a:latin typeface="Menlo"/>
              </a:rPr>
              <a:t>13 / 20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Rectangle 1"/>
          <p:cNvSpPr/>
          <p:nvPr/>
        </p:nvSpPr>
        <p:spPr>
          <a:xfrm>
            <a:off x="0" y="0"/>
            <a:ext cx="1783080" cy="63500"/>
          </a:xfrm>
          <a:prstGeom prst="rect">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30352"/>
            <a:ext cx="10874959" cy="868680"/>
          </a:xfrm>
          <a:prstGeom prst="rect">
            <a:avLst/>
          </a:prstGeom>
          <a:noFill/>
        </p:spPr>
        <p:txBody>
          <a:bodyPr wrap="square" anchor="t" lIns="0" rIns="0" tIns="0" bIns="0">
            <a:spAutoFit/>
          </a:bodyPr>
          <a:lstStyle/>
          <a:p>
            <a:pPr>
              <a:lnSpc>
                <a:spcPct val="110000"/>
              </a:lnSpc>
              <a:spcBef>
                <a:spcPts val="0"/>
              </a:spcBef>
              <a:spcAft>
                <a:spcPts val="0"/>
              </a:spcAft>
            </a:pPr>
            <a:r>
              <a:rPr sz="2900" b="1">
                <a:solidFill>
                  <a:srgbClr val="EEF3FA"/>
                </a:solidFill>
                <a:latin typeface="Helvetica Neue"/>
              </a:rPr>
              <a:t>What the project reports</a:t>
            </a:r>
          </a:p>
        </p:txBody>
      </p:sp>
      <p:sp>
        <p:nvSpPr>
          <p:cNvPr id="4" name="TextBox 3"/>
          <p:cNvSpPr txBox="1"/>
          <p:nvPr/>
        </p:nvSpPr>
        <p:spPr>
          <a:xfrm>
            <a:off x="658368" y="1188720"/>
            <a:ext cx="9692640" cy="822960"/>
          </a:xfrm>
          <a:prstGeom prst="rect">
            <a:avLst/>
          </a:prstGeom>
          <a:noFill/>
        </p:spPr>
        <p:txBody>
          <a:bodyPr wrap="square" anchor="t" lIns="0" rIns="0" tIns="0" bIns="0">
            <a:spAutoFit/>
          </a:bodyPr>
          <a:lstStyle/>
          <a:p>
            <a:pPr>
              <a:lnSpc>
                <a:spcPct val="135000"/>
              </a:lnSpc>
              <a:spcBef>
                <a:spcPts val="0"/>
              </a:spcBef>
              <a:spcAft>
                <a:spcPts val="0"/>
              </a:spcAft>
            </a:pPr>
            <a:r>
              <a:rPr sz="1400" b="0">
                <a:solidFill>
                  <a:srgbClr val="A3B0C6"/>
                </a:solidFill>
                <a:latin typeface="Helvetica Neue"/>
              </a:rPr>
              <a:t>Figures from the project's own in-house benchmarks. Not independently reproduced, and not measured by us — re-validate against your own workload before you quote them.</a:t>
            </a:r>
          </a:p>
        </p:txBody>
      </p:sp>
      <p:graphicFrame>
        <p:nvGraphicFramePr>
          <p:cNvPr id="5" name="Table 4"/>
          <p:cNvGraphicFramePr>
            <a:graphicFrameLocks noGrp="1"/>
          </p:cNvGraphicFramePr>
          <p:nvPr/>
        </p:nvGraphicFramePr>
        <p:xfrm>
          <a:off x="658368" y="1938528"/>
          <a:ext cx="10874959" cy="3200400"/>
        </p:xfrm>
        <a:graphic>
          <a:graphicData uri="http://schemas.openxmlformats.org/drawingml/2006/table">
            <a:tbl>
              <a:tblPr firstRow="1" bandRow="1">
                <a:tableStyleId>{5C22544A-7EE6-4342-B048-85BDC9FD1C3A}</a:tableStyleId>
              </a:tblPr>
              <a:tblGrid>
                <a:gridCol w="1554480"/>
                <a:gridCol w="2651760"/>
                <a:gridCol w="6668719"/>
              </a:tblGrid>
              <a:tr h="457200">
                <a:tc>
                  <a:txBody>
                    <a:bodyPr wrap="square"/>
                    <a:lstStyle/>
                    <a:p>
                      <a:pPr>
                        <a:spcBef>
                          <a:spcPts val="0"/>
                        </a:spcBef>
                        <a:spcAft>
                          <a:spcPts val="0"/>
                        </a:spcAft>
                      </a:pPr>
                      <a:r>
                        <a:rPr sz="1000" b="1">
                          <a:solidFill>
                            <a:srgbClr val="FF4D4D"/>
                          </a:solidFill>
                          <a:latin typeface="Helvetica Neue"/>
                        </a:rPr>
                        <a:t>METRIC</a:t>
                      </a:r>
                    </a:p>
                  </a:txBody>
                  <a:tcPr marL="91440" marR="91440">
                    <a:solidFill>
                      <a:srgbClr val="0B0E14"/>
                    </a:solidFill>
                  </a:tcPr>
                </a:tc>
                <a:tc>
                  <a:txBody>
                    <a:bodyPr wrap="square"/>
                    <a:lstStyle/>
                    <a:p>
                      <a:pPr>
                        <a:spcBef>
                          <a:spcPts val="0"/>
                        </a:spcBef>
                        <a:spcAft>
                          <a:spcPts val="0"/>
                        </a:spcAft>
                      </a:pPr>
                      <a:r>
                        <a:rPr sz="1000" b="1">
                          <a:solidFill>
                            <a:srgbClr val="FF4D4D"/>
                          </a:solidFill>
                          <a:latin typeface="Helvetica Neue"/>
                        </a:rPr>
                        <a:t>REPORTED</a:t>
                      </a:r>
                    </a:p>
                  </a:txBody>
                  <a:tcPr marL="91440" marR="91440">
                    <a:solidFill>
                      <a:srgbClr val="0B0E14"/>
                    </a:solidFill>
                  </a:tcPr>
                </a:tc>
                <a:tc>
                  <a:txBody>
                    <a:bodyPr wrap="square"/>
                    <a:lstStyle/>
                    <a:p>
                      <a:pPr>
                        <a:spcBef>
                          <a:spcPts val="0"/>
                        </a:spcBef>
                        <a:spcAft>
                          <a:spcPts val="0"/>
                        </a:spcAft>
                      </a:pPr>
                      <a:r>
                        <a:rPr sz="1000" b="1">
                          <a:solidFill>
                            <a:srgbClr val="FF4D4D"/>
                          </a:solidFill>
                          <a:latin typeface="Helvetica Neue"/>
                        </a:rPr>
                        <a:t>CONTEXT</a:t>
                      </a:r>
                    </a:p>
                  </a:txBody>
                  <a:tcPr marL="91440" marR="91440">
                    <a:solidFill>
                      <a:srgbClr val="0B0E14"/>
                    </a:solidFill>
                  </a:tcPr>
                </a:tc>
              </a:tr>
              <a:tr h="457200">
                <a:tc>
                  <a:txBody>
                    <a:bodyPr wrap="square"/>
                    <a:lstStyle/>
                    <a:p>
                      <a:pPr>
                        <a:lnSpc>
                          <a:spcPct val="125000"/>
                        </a:lnSpc>
                        <a:spcBef>
                          <a:spcPts val="0"/>
                        </a:spcBef>
                        <a:spcAft>
                          <a:spcPts val="0"/>
                        </a:spcAft>
                      </a:pPr>
                      <a:r>
                        <a:rPr sz="1100" b="1">
                          <a:solidFill>
                            <a:srgbClr val="EEF3FA"/>
                          </a:solidFill>
                          <a:latin typeface="Helvetica Neue"/>
                        </a:rPr>
                        <a:t>Traffic kept local</a:t>
                      </a:r>
                    </a:p>
                  </a:txBody>
                  <a:tcPr marL="91440" marR="91440" marT="45720" marB="45720">
                    <a:solidFill>
                      <a:srgbClr val="151B26"/>
                    </a:solidFill>
                  </a:tcPr>
                </a:tc>
                <a:tc>
                  <a:txBody>
                    <a:bodyPr wrap="square"/>
                    <a:lstStyle/>
                    <a:p>
                      <a:pPr>
                        <a:lnSpc>
                          <a:spcPct val="125000"/>
                        </a:lnSpc>
                        <a:spcBef>
                          <a:spcPts val="0"/>
                        </a:spcBef>
                        <a:spcAft>
                          <a:spcPts val="0"/>
                        </a:spcAft>
                      </a:pPr>
                      <a:r>
                        <a:rPr sz="1050" b="0">
                          <a:solidFill>
                            <a:srgbClr val="A3B0C6"/>
                          </a:solidFill>
                          <a:latin typeface="Helvetica Neue"/>
                        </a:rPr>
                        <a:t>86%</a:t>
                      </a:r>
                    </a:p>
                  </a:txBody>
                  <a:tcPr marL="91440" marR="91440" marT="45720" marB="45720">
                    <a:solidFill>
                      <a:srgbClr val="151B26"/>
                    </a:solidFill>
                  </a:tcPr>
                </a:tc>
                <a:tc>
                  <a:txBody>
                    <a:bodyPr wrap="square"/>
                    <a:lstStyle/>
                    <a:p>
                      <a:pPr>
                        <a:lnSpc>
                          <a:spcPct val="125000"/>
                        </a:lnSpc>
                        <a:spcBef>
                          <a:spcPts val="0"/>
                        </a:spcBef>
                        <a:spcAft>
                          <a:spcPts val="0"/>
                        </a:spcAft>
                      </a:pPr>
                      <a:r>
                        <a:rPr sz="1050" b="0">
                          <a:solidFill>
                            <a:srgbClr val="A3B0C6"/>
                          </a:solidFill>
                          <a:latin typeface="Helvetica Neue"/>
                        </a:rPr>
                        <a:t>Simple queries to free local models instead of cloud APIs</a:t>
                      </a:r>
                    </a:p>
                  </a:txBody>
                  <a:tcPr marL="91440" marR="91440" marT="45720" marB="45720">
                    <a:solidFill>
                      <a:srgbClr val="151B26"/>
                    </a:solidFill>
                  </a:tcPr>
                </a:tc>
              </a:tr>
              <a:tr h="457200">
                <a:tc>
                  <a:txBody>
                    <a:bodyPr wrap="square"/>
                    <a:lstStyle/>
                    <a:p>
                      <a:pPr>
                        <a:lnSpc>
                          <a:spcPct val="125000"/>
                        </a:lnSpc>
                        <a:spcBef>
                          <a:spcPts val="0"/>
                        </a:spcBef>
                        <a:spcAft>
                          <a:spcPts val="0"/>
                        </a:spcAft>
                      </a:pPr>
                      <a:r>
                        <a:rPr sz="1100" b="1">
                          <a:solidFill>
                            <a:srgbClr val="EEF3FA"/>
                          </a:solidFill>
                          <a:latin typeface="Helvetica Neue"/>
                        </a:rPr>
                        <a:t>Routing latency</a:t>
                      </a:r>
                    </a:p>
                  </a:txBody>
                  <a:tcPr marL="91440" marR="91440" marT="45720" marB="45720">
                    <a:solidFill>
                      <a:srgbClr val="0B0E14"/>
                    </a:solidFill>
                  </a:tcPr>
                </a:tc>
                <a:tc>
                  <a:txBody>
                    <a:bodyPr wrap="square"/>
                    <a:lstStyle/>
                    <a:p>
                      <a:pPr>
                        <a:lnSpc>
                          <a:spcPct val="125000"/>
                        </a:lnSpc>
                        <a:spcBef>
                          <a:spcPts val="0"/>
                        </a:spcBef>
                        <a:spcAft>
                          <a:spcPts val="0"/>
                        </a:spcAft>
                      </a:pPr>
                      <a:r>
                        <a:rPr sz="1050" b="0">
                          <a:solidFill>
                            <a:srgbClr val="A3B0C6"/>
                          </a:solidFill>
                          <a:latin typeface="Helvetica Neue"/>
                        </a:rPr>
                        <a:t>40 ms P50</a:t>
                      </a:r>
                    </a:p>
                  </a:txBody>
                  <a:tcPr marL="91440" marR="91440" marT="45720" marB="45720">
                    <a:solidFill>
                      <a:srgbClr val="0B0E14"/>
                    </a:solidFill>
                  </a:tcPr>
                </a:tc>
                <a:tc>
                  <a:txBody>
                    <a:bodyPr wrap="square"/>
                    <a:lstStyle/>
                    <a:p>
                      <a:pPr>
                        <a:lnSpc>
                          <a:spcPct val="125000"/>
                        </a:lnSpc>
                        <a:spcBef>
                          <a:spcPts val="0"/>
                        </a:spcBef>
                        <a:spcAft>
                          <a:spcPts val="0"/>
                        </a:spcAft>
                      </a:pPr>
                      <a:r>
                        <a:rPr sz="1050" b="0">
                          <a:solidFill>
                            <a:srgbClr val="A3B0C6"/>
                          </a:solidFill>
                          <a:latin typeface="Helvetica Neue"/>
                        </a:rPr>
                        <a:t>In-house benchmark — ~0.4% overhead against inference</a:t>
                      </a:r>
                    </a:p>
                  </a:txBody>
                  <a:tcPr marL="91440" marR="91440" marT="45720" marB="45720">
                    <a:solidFill>
                      <a:srgbClr val="0B0E14"/>
                    </a:solidFill>
                  </a:tcPr>
                </a:tc>
              </a:tr>
              <a:tr h="457200">
                <a:tc>
                  <a:txBody>
                    <a:bodyPr wrap="square"/>
                    <a:lstStyle/>
                    <a:p>
                      <a:pPr>
                        <a:lnSpc>
                          <a:spcPct val="125000"/>
                        </a:lnSpc>
                        <a:spcBef>
                          <a:spcPts val="0"/>
                        </a:spcBef>
                        <a:spcAft>
                          <a:spcPts val="0"/>
                        </a:spcAft>
                      </a:pPr>
                      <a:r>
                        <a:rPr sz="1100" b="1">
                          <a:solidFill>
                            <a:srgbClr val="EEF3FA"/>
                          </a:solidFill>
                          <a:latin typeface="Helvetica Neue"/>
                        </a:rPr>
                        <a:t>Complexity accuracy</a:t>
                      </a:r>
                    </a:p>
                  </a:txBody>
                  <a:tcPr marL="91440" marR="91440" marT="45720" marB="45720">
                    <a:solidFill>
                      <a:srgbClr val="151B26"/>
                    </a:solidFill>
                  </a:tcPr>
                </a:tc>
                <a:tc>
                  <a:txBody>
                    <a:bodyPr wrap="square"/>
                    <a:lstStyle/>
                    <a:p>
                      <a:pPr>
                        <a:lnSpc>
                          <a:spcPct val="125000"/>
                        </a:lnSpc>
                        <a:spcBef>
                          <a:spcPts val="0"/>
                        </a:spcBef>
                        <a:spcAft>
                          <a:spcPts val="0"/>
                        </a:spcAft>
                      </a:pPr>
                      <a:r>
                        <a:rPr sz="1050" b="0">
                          <a:solidFill>
                            <a:srgbClr val="A3B0C6"/>
                          </a:solidFill>
                          <a:latin typeface="Helvetica Neue"/>
                        </a:rPr>
                        <a:t>80.4% → 98.5%</a:t>
                      </a:r>
                    </a:p>
                  </a:txBody>
                  <a:tcPr marL="91440" marR="91440" marT="45720" marB="45720">
                    <a:solidFill>
                      <a:srgbClr val="151B26"/>
                    </a:solidFill>
                  </a:tcPr>
                </a:tc>
                <a:tc>
                  <a:txBody>
                    <a:bodyPr wrap="square"/>
                    <a:lstStyle/>
                    <a:p>
                      <a:pPr>
                        <a:lnSpc>
                          <a:spcPct val="125000"/>
                        </a:lnSpc>
                        <a:spcBef>
                          <a:spcPts val="0"/>
                        </a:spcBef>
                        <a:spcAft>
                          <a:spcPts val="0"/>
                        </a:spcAft>
                      </a:pPr>
                      <a:r>
                        <a:rPr sz="1050" b="0">
                          <a:solidFill>
                            <a:srgbClr val="A3B0C6"/>
                          </a:solidFill>
                          <a:latin typeface="Helvetica Neue"/>
                        </a:rPr>
                        <a:t>Pretrained MiniLM vs their fine-tune; misrouting 19.6% → 1.5%</a:t>
                      </a:r>
                    </a:p>
                  </a:txBody>
                  <a:tcPr marL="91440" marR="91440" marT="45720" marB="45720">
                    <a:solidFill>
                      <a:srgbClr val="151B26"/>
                    </a:solidFill>
                  </a:tcPr>
                </a:tc>
              </a:tr>
              <a:tr h="457200">
                <a:tc>
                  <a:txBody>
                    <a:bodyPr wrap="square"/>
                    <a:lstStyle/>
                    <a:p>
                      <a:pPr>
                        <a:lnSpc>
                          <a:spcPct val="125000"/>
                        </a:lnSpc>
                        <a:spcBef>
                          <a:spcPts val="0"/>
                        </a:spcBef>
                        <a:spcAft>
                          <a:spcPts val="0"/>
                        </a:spcAft>
                      </a:pPr>
                      <a:r>
                        <a:rPr sz="1100" b="1">
                          <a:solidFill>
                            <a:srgbClr val="EEF3FA"/>
                          </a:solidFill>
                          <a:latin typeface="Helvetica Neue"/>
                        </a:rPr>
                        <a:t>Fine-tune cost</a:t>
                      </a:r>
                    </a:p>
                  </a:txBody>
                  <a:tcPr marL="91440" marR="91440" marT="45720" marB="45720">
                    <a:solidFill>
                      <a:srgbClr val="0B0E14"/>
                    </a:solidFill>
                  </a:tcPr>
                </a:tc>
                <a:tc>
                  <a:txBody>
                    <a:bodyPr wrap="square"/>
                    <a:lstStyle/>
                    <a:p>
                      <a:pPr>
                        <a:lnSpc>
                          <a:spcPct val="125000"/>
                        </a:lnSpc>
                        <a:spcBef>
                          <a:spcPts val="0"/>
                        </a:spcBef>
                        <a:spcAft>
                          <a:spcPts val="0"/>
                        </a:spcAft>
                      </a:pPr>
                      <a:r>
                        <a:rPr sz="1050" b="0">
                          <a:solidFill>
                            <a:srgbClr val="A3B0C6"/>
                          </a:solidFill>
                          <a:latin typeface="Helvetica Neue"/>
                        </a:rPr>
                        <a:t>&lt; 2 h on CPU</a:t>
                      </a:r>
                    </a:p>
                  </a:txBody>
                  <a:tcPr marL="91440" marR="91440" marT="45720" marB="45720">
                    <a:solidFill>
                      <a:srgbClr val="0B0E14"/>
                    </a:solidFill>
                  </a:tcPr>
                </a:tc>
                <a:tc>
                  <a:txBody>
                    <a:bodyPr wrap="square"/>
                    <a:lstStyle/>
                    <a:p>
                      <a:pPr>
                        <a:lnSpc>
                          <a:spcPct val="125000"/>
                        </a:lnSpc>
                        <a:spcBef>
                          <a:spcPts val="0"/>
                        </a:spcBef>
                        <a:spcAft>
                          <a:spcPts val="0"/>
                        </a:spcAft>
                      </a:pPr>
                      <a:r>
                        <a:rPr sz="1050" b="0">
                          <a:solidFill>
                            <a:srgbClr val="A3B0C6"/>
                          </a:solidFill>
                          <a:latin typeface="Helvetica Neue"/>
                        </a:rPr>
                        <a:t>23M-parameter model, drops in as a model swap</a:t>
                      </a:r>
                    </a:p>
                  </a:txBody>
                  <a:tcPr marL="91440" marR="91440" marT="45720" marB="45720">
                    <a:solidFill>
                      <a:srgbClr val="0B0E14"/>
                    </a:solidFill>
                  </a:tcPr>
                </a:tc>
              </a:tr>
              <a:tr h="457200">
                <a:tc>
                  <a:txBody>
                    <a:bodyPr wrap="square"/>
                    <a:lstStyle/>
                    <a:p>
                      <a:pPr>
                        <a:lnSpc>
                          <a:spcPct val="125000"/>
                        </a:lnSpc>
                        <a:spcBef>
                          <a:spcPts val="0"/>
                        </a:spcBef>
                        <a:spcAft>
                          <a:spcPts val="0"/>
                        </a:spcAft>
                      </a:pPr>
                      <a:r>
                        <a:rPr sz="1100" b="1">
                          <a:solidFill>
                            <a:srgbClr val="EEF3FA"/>
                          </a:solidFill>
                          <a:latin typeface="Helvetica Neue"/>
                        </a:rPr>
                        <a:t>Selection algorithms</a:t>
                      </a:r>
                    </a:p>
                  </a:txBody>
                  <a:tcPr marL="91440" marR="91440" marT="45720" marB="45720">
                    <a:solidFill>
                      <a:srgbClr val="151B26"/>
                    </a:solidFill>
                  </a:tcPr>
                </a:tc>
                <a:tc>
                  <a:txBody>
                    <a:bodyPr wrap="square"/>
                    <a:lstStyle/>
                    <a:p>
                      <a:pPr>
                        <a:lnSpc>
                          <a:spcPct val="125000"/>
                        </a:lnSpc>
                        <a:spcBef>
                          <a:spcPts val="0"/>
                        </a:spcBef>
                        <a:spcAft>
                          <a:spcPts val="0"/>
                        </a:spcAft>
                      </a:pPr>
                      <a:r>
                        <a:rPr sz="1050" b="0">
                          <a:solidFill>
                            <a:srgbClr val="A3B0C6"/>
                          </a:solidFill>
                          <a:latin typeface="Helvetica Neue"/>
                        </a:rPr>
                        <a:t>11</a:t>
                      </a:r>
                    </a:p>
                  </a:txBody>
                  <a:tcPr marL="91440" marR="91440" marT="45720" marB="45720">
                    <a:solidFill>
                      <a:srgbClr val="151B26"/>
                    </a:solidFill>
                  </a:tcPr>
                </a:tc>
                <a:tc>
                  <a:txBody>
                    <a:bodyPr wrap="square"/>
                    <a:lstStyle/>
                    <a:p>
                      <a:pPr>
                        <a:lnSpc>
                          <a:spcPct val="125000"/>
                        </a:lnSpc>
                        <a:spcBef>
                          <a:spcPts val="0"/>
                        </a:spcBef>
                        <a:spcAft>
                          <a:spcPts val="0"/>
                        </a:spcAft>
                      </a:pPr>
                      <a:r>
                        <a:rPr sz="1050" b="0">
                          <a:solidFill>
                            <a:srgbClr val="A3B0C6"/>
                          </a:solidFill>
                          <a:latin typeface="Helvetica Neue"/>
                        </a:rPr>
                        <a:t>Static through Elo and Thompson sampling</a:t>
                      </a:r>
                    </a:p>
                  </a:txBody>
                  <a:tcPr marL="91440" marR="91440" marT="45720" marB="45720">
                    <a:solidFill>
                      <a:srgbClr val="151B26"/>
                    </a:solidFill>
                  </a:tcPr>
                </a:tc>
              </a:tr>
              <a:tr h="457200">
                <a:tc>
                  <a:txBody>
                    <a:bodyPr wrap="square"/>
                    <a:lstStyle/>
                    <a:p>
                      <a:pPr>
                        <a:lnSpc>
                          <a:spcPct val="125000"/>
                        </a:lnSpc>
                        <a:spcBef>
                          <a:spcPts val="0"/>
                        </a:spcBef>
                        <a:spcAft>
                          <a:spcPts val="0"/>
                        </a:spcAft>
                      </a:pPr>
                      <a:r>
                        <a:rPr sz="1100" b="1">
                          <a:solidFill>
                            <a:srgbClr val="EEF3FA"/>
                          </a:solidFill>
                          <a:latin typeface="Helvetica Neue"/>
                        </a:rPr>
                        <a:t>Test-time scaling</a:t>
                      </a:r>
                    </a:p>
                  </a:txBody>
                  <a:tcPr marL="91440" marR="91440" marT="45720" marB="45720">
                    <a:solidFill>
                      <a:srgbClr val="0B0E14"/>
                    </a:solidFill>
                  </a:tcPr>
                </a:tc>
                <a:tc>
                  <a:txBody>
                    <a:bodyPr wrap="square"/>
                    <a:lstStyle/>
                    <a:p>
                      <a:pPr>
                        <a:lnSpc>
                          <a:spcPct val="125000"/>
                        </a:lnSpc>
                        <a:spcBef>
                          <a:spcPts val="0"/>
                        </a:spcBef>
                        <a:spcAft>
                          <a:spcPts val="0"/>
                        </a:spcAft>
                      </a:pPr>
                      <a:r>
                        <a:rPr sz="1050" b="0">
                          <a:solidFill>
                            <a:srgbClr val="A3B0C6"/>
                          </a:solidFill>
                          <a:latin typeface="Helvetica Neue"/>
                        </a:rPr>
                        <a:t>LiveCodeBench 92.6 · GPQA-Diamond 96.0</a:t>
                      </a:r>
                    </a:p>
                  </a:txBody>
                  <a:tcPr marL="91440" marR="91440" marT="45720" marB="45720">
                    <a:solidFill>
                      <a:srgbClr val="0B0E14"/>
                    </a:solidFill>
                  </a:tcPr>
                </a:tc>
                <a:tc>
                  <a:txBody>
                    <a:bodyPr wrap="square"/>
                    <a:lstStyle/>
                    <a:p>
                      <a:pPr>
                        <a:lnSpc>
                          <a:spcPct val="125000"/>
                        </a:lnSpc>
                        <a:spcBef>
                          <a:spcPts val="0"/>
                        </a:spcBef>
                        <a:spcAft>
                          <a:spcPts val="0"/>
                        </a:spcAft>
                      </a:pPr>
                      <a:r>
                        <a:rPr sz="1050" b="0">
                          <a:solidFill>
                            <a:srgbClr val="A3B0C6"/>
                          </a:solidFill>
                          <a:latin typeface="Helvetica Neue"/>
                        </a:rPr>
                        <a:t>A router improving on the models it routes to</a:t>
                      </a:r>
                    </a:p>
                  </a:txBody>
                  <a:tcPr marL="91440" marR="91440" marT="45720" marB="45720">
                    <a:solidFill>
                      <a:srgbClr val="0B0E14"/>
                    </a:solidFill>
                  </a:tcPr>
                </a:tc>
              </a:tr>
            </a:tbl>
          </a:graphicData>
        </a:graphic>
      </p:graphicFrame>
      <p:sp>
        <p:nvSpPr>
          <p:cNvPr id="6" name="TextBox 5"/>
          <p:cNvSpPr txBox="1"/>
          <p:nvPr/>
        </p:nvSpPr>
        <p:spPr>
          <a:xfrm>
            <a:off x="658368" y="6382512"/>
            <a:ext cx="6400800" cy="274320"/>
          </a:xfrm>
          <a:prstGeom prst="rect">
            <a:avLst/>
          </a:prstGeom>
          <a:noFill/>
        </p:spPr>
        <p:txBody>
          <a:bodyPr wrap="square" anchor="t" lIns="0" rIns="0" tIns="0" bIns="0">
            <a:spAutoFit/>
          </a:bodyPr>
          <a:lstStyle/>
          <a:p>
            <a:pPr>
              <a:spcBef>
                <a:spcPts val="0"/>
              </a:spcBef>
              <a:spcAft>
                <a:spcPts val="0"/>
              </a:spcAft>
            </a:pPr>
            <a:r>
              <a:rPr sz="900" b="0">
                <a:solidFill>
                  <a:srgbClr val="6E7D96"/>
                </a:solidFill>
                <a:latin typeface="Menlo"/>
              </a:rPr>
              <a:t>project in-house benchmarks, via Aayush Saini — not independently reproduced</a:t>
            </a:r>
          </a:p>
        </p:txBody>
      </p:sp>
      <p:sp>
        <p:nvSpPr>
          <p:cNvPr id="7" name="TextBox 6"/>
          <p:cNvSpPr txBox="1"/>
          <p:nvPr/>
        </p:nvSpPr>
        <p:spPr>
          <a:xfrm>
            <a:off x="9521647" y="6382512"/>
            <a:ext cx="2011680" cy="274320"/>
          </a:xfrm>
          <a:prstGeom prst="rect">
            <a:avLst/>
          </a:prstGeom>
          <a:noFill/>
        </p:spPr>
        <p:txBody>
          <a:bodyPr wrap="square" anchor="t" lIns="0" rIns="0" tIns="0" bIns="0">
            <a:spAutoFit/>
          </a:bodyPr>
          <a:lstStyle/>
          <a:p>
            <a:pPr algn="r"/>
            <a:r>
              <a:rPr sz="1000">
                <a:solidFill>
                  <a:srgbClr val="FF4D4D"/>
                </a:solidFill>
                <a:latin typeface="Menlo"/>
              </a:rPr>
              <a:t>16:00  ·  </a:t>
            </a:r>
            <a:r>
              <a:rPr sz="1000">
                <a:solidFill>
                  <a:srgbClr val="6E7D96"/>
                </a:solidFill>
                <a:latin typeface="Menlo"/>
              </a:rPr>
              <a:t>14 / 20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show="0">
  <p:cSld>
    <p:bg>
      <p:bgPr>
        <a:solidFill>
          <a:srgbClr val="0B0E14"/>
        </a:solidFill>
        <a:effectLst/>
      </p:bgPr>
    </p:bg>
    <p:spTree>
      <p:nvGrpSpPr>
        <p:cNvPr id="1" name=""/>
        <p:cNvGrpSpPr/>
        <p:nvPr/>
      </p:nvGrpSpPr>
      <p:grpSpPr/>
      <p:sp>
        <p:nvSpPr>
          <p:cNvPr id="2" name="Rectangle 1"/>
          <p:cNvSpPr/>
          <p:nvPr/>
        </p:nvSpPr>
        <p:spPr>
          <a:xfrm>
            <a:off x="0" y="0"/>
            <a:ext cx="1783080" cy="63500"/>
          </a:xfrm>
          <a:prstGeom prst="rect">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30352"/>
            <a:ext cx="10874959" cy="868680"/>
          </a:xfrm>
          <a:prstGeom prst="rect">
            <a:avLst/>
          </a:prstGeom>
          <a:noFill/>
        </p:spPr>
        <p:txBody>
          <a:bodyPr wrap="square" anchor="t" lIns="0" rIns="0" tIns="0" bIns="0">
            <a:spAutoFit/>
          </a:bodyPr>
          <a:lstStyle/>
          <a:p>
            <a:pPr>
              <a:lnSpc>
                <a:spcPct val="110000"/>
              </a:lnSpc>
              <a:spcBef>
                <a:spcPts val="0"/>
              </a:spcBef>
              <a:spcAft>
                <a:spcPts val="0"/>
              </a:spcAft>
            </a:pPr>
            <a:r>
              <a:rPr sz="2900" b="1">
                <a:solidFill>
                  <a:srgbClr val="EEF3FA"/>
                </a:solidFill>
                <a:latin typeface="Helvetica Neue"/>
              </a:rPr>
              <a:t>What we measured</a:t>
            </a:r>
          </a:p>
        </p:txBody>
      </p:sp>
      <p:sp>
        <p:nvSpPr>
          <p:cNvPr id="4" name="TextBox 3"/>
          <p:cNvSpPr txBox="1"/>
          <p:nvPr/>
        </p:nvSpPr>
        <p:spPr>
          <a:xfrm>
            <a:off x="658368" y="1188720"/>
            <a:ext cx="9692640" cy="822960"/>
          </a:xfrm>
          <a:prstGeom prst="rect">
            <a:avLst/>
          </a:prstGeom>
          <a:noFill/>
        </p:spPr>
        <p:txBody>
          <a:bodyPr wrap="square" anchor="t" lIns="0" rIns="0" tIns="0" bIns="0">
            <a:spAutoFit/>
          </a:bodyPr>
          <a:lstStyle/>
          <a:p>
            <a:pPr>
              <a:lnSpc>
                <a:spcPct val="135000"/>
              </a:lnSpc>
              <a:spcBef>
                <a:spcPts val="0"/>
              </a:spcBef>
              <a:spcAft>
                <a:spcPts val="0"/>
              </a:spcAft>
            </a:pPr>
            <a:r>
              <a:rPr sz="1400" b="0">
                <a:solidFill>
                  <a:srgbClr val="A3B0C6"/>
                </a:solidFill>
                <a:latin typeface="Helvetica Neue"/>
              </a:rPr>
              <a:t>Everything below came off the cluster behind this demo. Including the parts that did not work.</a:t>
            </a:r>
          </a:p>
        </p:txBody>
      </p:sp>
      <p:graphicFrame>
        <p:nvGraphicFramePr>
          <p:cNvPr id="5" name="Table 4"/>
          <p:cNvGraphicFramePr>
            <a:graphicFrameLocks noGrp="1"/>
          </p:cNvGraphicFramePr>
          <p:nvPr/>
        </p:nvGraphicFramePr>
        <p:xfrm>
          <a:off x="658368" y="1938528"/>
          <a:ext cx="10874959" cy="3200400"/>
        </p:xfrm>
        <a:graphic>
          <a:graphicData uri="http://schemas.openxmlformats.org/drawingml/2006/table">
            <a:tbl>
              <a:tblPr firstRow="1" bandRow="1">
                <a:tableStyleId>{5C22544A-7EE6-4342-B048-85BDC9FD1C3A}</a:tableStyleId>
              </a:tblPr>
              <a:tblGrid>
                <a:gridCol w="1554480"/>
                <a:gridCol w="2651760"/>
                <a:gridCol w="6668719"/>
              </a:tblGrid>
              <a:tr h="457200">
                <a:tc>
                  <a:txBody>
                    <a:bodyPr wrap="square"/>
                    <a:lstStyle/>
                    <a:p>
                      <a:pPr>
                        <a:spcBef>
                          <a:spcPts val="0"/>
                        </a:spcBef>
                        <a:spcAft>
                          <a:spcPts val="0"/>
                        </a:spcAft>
                      </a:pPr>
                      <a:r>
                        <a:rPr sz="1000" b="1">
                          <a:solidFill>
                            <a:srgbClr val="FF4D4D"/>
                          </a:solidFill>
                          <a:latin typeface="Helvetica Neue"/>
                        </a:rPr>
                        <a:t>FINDING</a:t>
                      </a:r>
                    </a:p>
                  </a:txBody>
                  <a:tcPr marL="91440" marR="91440">
                    <a:solidFill>
                      <a:srgbClr val="0B0E14"/>
                    </a:solidFill>
                  </a:tcPr>
                </a:tc>
                <a:tc>
                  <a:txBody>
                    <a:bodyPr wrap="square"/>
                    <a:lstStyle/>
                    <a:p>
                      <a:pPr>
                        <a:spcBef>
                          <a:spcPts val="0"/>
                        </a:spcBef>
                        <a:spcAft>
                          <a:spcPts val="0"/>
                        </a:spcAft>
                      </a:pPr>
                      <a:r>
                        <a:rPr sz="1000" b="1">
                          <a:solidFill>
                            <a:srgbClr val="FF4D4D"/>
                          </a:solidFill>
                          <a:latin typeface="Helvetica Neue"/>
                        </a:rPr>
                        <a:t>MEASURED</a:t>
                      </a:r>
                    </a:p>
                  </a:txBody>
                  <a:tcPr marL="91440" marR="91440">
                    <a:solidFill>
                      <a:srgbClr val="0B0E14"/>
                    </a:solidFill>
                  </a:tcPr>
                </a:tc>
                <a:tc>
                  <a:txBody>
                    <a:bodyPr wrap="square"/>
                    <a:lstStyle/>
                    <a:p>
                      <a:pPr>
                        <a:spcBef>
                          <a:spcPts val="0"/>
                        </a:spcBef>
                        <a:spcAft>
                          <a:spcPts val="0"/>
                        </a:spcAft>
                      </a:pPr>
                      <a:r>
                        <a:rPr sz="1000" b="1">
                          <a:solidFill>
                            <a:srgbClr val="FF4D4D"/>
                          </a:solidFill>
                          <a:latin typeface="Helvetica Neue"/>
                        </a:rPr>
                        <a:t>SO WHAT</a:t>
                      </a:r>
                    </a:p>
                  </a:txBody>
                  <a:tcPr marL="91440" marR="91440">
                    <a:solidFill>
                      <a:srgbClr val="0B0E14"/>
                    </a:solidFill>
                  </a:tcPr>
                </a:tc>
              </a:tr>
              <a:tr h="457200">
                <a:tc>
                  <a:txBody>
                    <a:bodyPr wrap="square"/>
                    <a:lstStyle/>
                    <a:p>
                      <a:pPr>
                        <a:lnSpc>
                          <a:spcPct val="125000"/>
                        </a:lnSpc>
                        <a:spcBef>
                          <a:spcPts val="0"/>
                        </a:spcBef>
                        <a:spcAft>
                          <a:spcPts val="0"/>
                        </a:spcAft>
                      </a:pPr>
                      <a:r>
                        <a:rPr sz="1100" b="1">
                          <a:solidFill>
                            <a:srgbClr val="EEF3FA"/>
                          </a:solidFill>
                          <a:latin typeface="Helvetica Neue"/>
                        </a:rPr>
                        <a:t>Routing overhead</a:t>
                      </a:r>
                    </a:p>
                  </a:txBody>
                  <a:tcPr marL="91440" marR="91440" marT="45720" marB="45720">
                    <a:solidFill>
                      <a:srgbClr val="151B26"/>
                    </a:solidFill>
                  </a:tcPr>
                </a:tc>
                <a:tc>
                  <a:txBody>
                    <a:bodyPr wrap="square"/>
                    <a:lstStyle/>
                    <a:p>
                      <a:pPr>
                        <a:lnSpc>
                          <a:spcPct val="125000"/>
                        </a:lnSpc>
                        <a:spcBef>
                          <a:spcPts val="0"/>
                        </a:spcBef>
                        <a:spcAft>
                          <a:spcPts val="0"/>
                        </a:spcAft>
                      </a:pPr>
                      <a:r>
                        <a:rPr sz="1050" b="0">
                          <a:solidFill>
                            <a:srgbClr val="A3B0C6"/>
                          </a:solidFill>
                          <a:latin typeface="Helvetica Neue"/>
                        </a:rPr>
                        <a:t>192 ms, all signals on CPU</a:t>
                      </a:r>
                    </a:p>
                  </a:txBody>
                  <a:tcPr marL="91440" marR="91440" marT="45720" marB="45720">
                    <a:solidFill>
                      <a:srgbClr val="151B26"/>
                    </a:solidFill>
                  </a:tcPr>
                </a:tc>
                <a:tc>
                  <a:txBody>
                    <a:bodyPr wrap="square"/>
                    <a:lstStyle/>
                    <a:p>
                      <a:pPr>
                        <a:lnSpc>
                          <a:spcPct val="125000"/>
                        </a:lnSpc>
                        <a:spcBef>
                          <a:spcPts val="0"/>
                        </a:spcBef>
                        <a:spcAft>
                          <a:spcPts val="0"/>
                        </a:spcAft>
                      </a:pPr>
                      <a:r>
                        <a:rPr sz="1050" b="0">
                          <a:solidFill>
                            <a:srgbClr val="A3B0C6"/>
                          </a:solidFill>
                          <a:latin typeface="Helvetica Neue"/>
                        </a:rPr>
                        <a:t>~19% on a 1 s request, under 3% on a 7 s one. Not comparable to the project's 40 ms in-house figure — different hardware, and we run every signal family, with fact_check alone costing 178 ms</a:t>
                      </a:r>
                    </a:p>
                  </a:txBody>
                  <a:tcPr marL="91440" marR="91440" marT="45720" marB="45720">
                    <a:solidFill>
                      <a:srgbClr val="151B26"/>
                    </a:solidFill>
                  </a:tcPr>
                </a:tc>
              </a:tr>
              <a:tr h="457200">
                <a:tc>
                  <a:txBody>
                    <a:bodyPr wrap="square"/>
                    <a:lstStyle/>
                    <a:p>
                      <a:pPr>
                        <a:lnSpc>
                          <a:spcPct val="125000"/>
                        </a:lnSpc>
                        <a:spcBef>
                          <a:spcPts val="0"/>
                        </a:spcBef>
                        <a:spcAft>
                          <a:spcPts val="0"/>
                        </a:spcAft>
                      </a:pPr>
                      <a:r>
                        <a:rPr sz="1100" b="1">
                          <a:solidFill>
                            <a:srgbClr val="EEF3FA"/>
                          </a:solidFill>
                          <a:latin typeface="Helvetica Neue"/>
                        </a:rPr>
                        <a:t>Guardrail block</a:t>
                      </a:r>
                    </a:p>
                  </a:txBody>
                  <a:tcPr marL="91440" marR="91440" marT="45720" marB="45720">
                    <a:solidFill>
                      <a:srgbClr val="0B0E14"/>
                    </a:solidFill>
                  </a:tcPr>
                </a:tc>
                <a:tc>
                  <a:txBody>
                    <a:bodyPr wrap="square"/>
                    <a:lstStyle/>
                    <a:p>
                      <a:pPr>
                        <a:lnSpc>
                          <a:spcPct val="125000"/>
                        </a:lnSpc>
                        <a:spcBef>
                          <a:spcPts val="0"/>
                        </a:spcBef>
                        <a:spcAft>
                          <a:spcPts val="0"/>
                        </a:spcAft>
                      </a:pPr>
                      <a:r>
                        <a:rPr sz="1050" b="0">
                          <a:solidFill>
                            <a:srgbClr val="A3B0C6"/>
                          </a:solidFill>
                          <a:latin typeface="Helvetica Neue"/>
                        </a:rPr>
                        <a:t>~900 ms, no GPU touched</a:t>
                      </a:r>
                    </a:p>
                  </a:txBody>
                  <a:tcPr marL="91440" marR="91440" marT="45720" marB="45720">
                    <a:solidFill>
                      <a:srgbClr val="0B0E14"/>
                    </a:solidFill>
                  </a:tcPr>
                </a:tc>
                <a:tc>
                  <a:txBody>
                    <a:bodyPr wrap="square"/>
                    <a:lstStyle/>
                    <a:p>
                      <a:pPr>
                        <a:lnSpc>
                          <a:spcPct val="125000"/>
                        </a:lnSpc>
                        <a:spcBef>
                          <a:spcPts val="0"/>
                        </a:spcBef>
                        <a:spcAft>
                          <a:spcPts val="0"/>
                        </a:spcAft>
                      </a:pPr>
                      <a:r>
                        <a:rPr sz="1050" b="0">
                          <a:solidFill>
                            <a:srgbClr val="A3B0C6"/>
                          </a:solidFill>
                          <a:latin typeface="Helvetica Neue"/>
                        </a:rPr>
                        <a:t>Answered by the router itself; a jailbreak costs no inference</a:t>
                      </a:r>
                    </a:p>
                  </a:txBody>
                  <a:tcPr marL="91440" marR="91440" marT="45720" marB="45720">
                    <a:solidFill>
                      <a:srgbClr val="0B0E14"/>
                    </a:solidFill>
                  </a:tcPr>
                </a:tc>
              </a:tr>
              <a:tr h="457200">
                <a:tc>
                  <a:txBody>
                    <a:bodyPr wrap="square"/>
                    <a:lstStyle/>
                    <a:p>
                      <a:pPr>
                        <a:lnSpc>
                          <a:spcPct val="125000"/>
                        </a:lnSpc>
                        <a:spcBef>
                          <a:spcPts val="0"/>
                        </a:spcBef>
                        <a:spcAft>
                          <a:spcPts val="0"/>
                        </a:spcAft>
                      </a:pPr>
                      <a:r>
                        <a:rPr sz="1100" b="1">
                          <a:solidFill>
                            <a:srgbClr val="EEF3FA"/>
                          </a:solidFill>
                          <a:latin typeface="Helvetica Neue"/>
                        </a:rPr>
                        <a:t>Cache hit</a:t>
                      </a:r>
                    </a:p>
                  </a:txBody>
                  <a:tcPr marL="91440" marR="91440" marT="45720" marB="45720">
                    <a:solidFill>
                      <a:srgbClr val="151B26"/>
                    </a:solidFill>
                  </a:tcPr>
                </a:tc>
                <a:tc>
                  <a:txBody>
                    <a:bodyPr wrap="square"/>
                    <a:lstStyle/>
                    <a:p>
                      <a:pPr>
                        <a:lnSpc>
                          <a:spcPct val="125000"/>
                        </a:lnSpc>
                        <a:spcBef>
                          <a:spcPts val="0"/>
                        </a:spcBef>
                        <a:spcAft>
                          <a:spcPts val="0"/>
                        </a:spcAft>
                      </a:pPr>
                      <a:r>
                        <a:rPr sz="1050" b="0">
                          <a:solidFill>
                            <a:srgbClr val="A3B0C6"/>
                          </a:solidFill>
                          <a:latin typeface="Helvetica Neue"/>
                        </a:rPr>
                        <a:t>6.9 s → 0.75 s</a:t>
                      </a:r>
                    </a:p>
                  </a:txBody>
                  <a:tcPr marL="91440" marR="91440" marT="45720" marB="45720">
                    <a:solidFill>
                      <a:srgbClr val="151B26"/>
                    </a:solidFill>
                  </a:tcPr>
                </a:tc>
                <a:tc>
                  <a:txBody>
                    <a:bodyPr wrap="square"/>
                    <a:lstStyle/>
                    <a:p>
                      <a:pPr>
                        <a:lnSpc>
                          <a:spcPct val="125000"/>
                        </a:lnSpc>
                        <a:spcBef>
                          <a:spcPts val="0"/>
                        </a:spcBef>
                        <a:spcAft>
                          <a:spcPts val="0"/>
                        </a:spcAft>
                      </a:pPr>
                      <a:r>
                        <a:rPr sz="1050" b="0">
                          <a:solidFill>
                            <a:srgbClr val="A3B0C6"/>
                          </a:solidFill>
                          <a:latin typeface="Helvetica Neue"/>
                        </a:rPr>
                        <a:t>10× on an identical repeat</a:t>
                      </a:r>
                    </a:p>
                  </a:txBody>
                  <a:tcPr marL="91440" marR="91440" marT="45720" marB="45720">
                    <a:solidFill>
                      <a:srgbClr val="151B26"/>
                    </a:solidFill>
                  </a:tcPr>
                </a:tc>
              </a:tr>
              <a:tr h="457200">
                <a:tc>
                  <a:txBody>
                    <a:bodyPr wrap="square"/>
                    <a:lstStyle/>
                    <a:p>
                      <a:pPr>
                        <a:lnSpc>
                          <a:spcPct val="125000"/>
                        </a:lnSpc>
                        <a:spcBef>
                          <a:spcPts val="0"/>
                        </a:spcBef>
                        <a:spcAft>
                          <a:spcPts val="0"/>
                        </a:spcAft>
                      </a:pPr>
                      <a:r>
                        <a:rPr sz="1100" b="1">
                          <a:solidFill>
                            <a:srgbClr val="EEF3FA"/>
                          </a:solidFill>
                          <a:latin typeface="Helvetica Neue"/>
                        </a:rPr>
                        <a:t>Cache precision</a:t>
                      </a:r>
                    </a:p>
                  </a:txBody>
                  <a:tcPr marL="91440" marR="91440" marT="45720" marB="45720">
                    <a:solidFill>
                      <a:srgbClr val="0B0E14"/>
                    </a:solidFill>
                  </a:tcPr>
                </a:tc>
                <a:tc>
                  <a:txBody>
                    <a:bodyPr wrap="square"/>
                    <a:lstStyle/>
                    <a:p>
                      <a:pPr>
                        <a:lnSpc>
                          <a:spcPct val="125000"/>
                        </a:lnSpc>
                        <a:spcBef>
                          <a:spcPts val="0"/>
                        </a:spcBef>
                        <a:spcAft>
                          <a:spcPts val="0"/>
                        </a:spcAft>
                      </a:pPr>
                      <a:r>
                        <a:rPr sz="1050" b="0">
                          <a:solidFill>
                            <a:srgbClr val="A3B0C6"/>
                          </a:solidFill>
                          <a:latin typeface="Helvetica Neue"/>
                        </a:rPr>
                        <a:t>1.0000 identical · 0.9650 wrong question · 0.8555 true paraphrase</a:t>
                      </a:r>
                    </a:p>
                  </a:txBody>
                  <a:tcPr marL="91440" marR="91440" marT="45720" marB="45720">
                    <a:solidFill>
                      <a:srgbClr val="0B0E14"/>
                    </a:solidFill>
                  </a:tcPr>
                </a:tc>
                <a:tc>
                  <a:txBody>
                    <a:bodyPr wrap="square"/>
                    <a:lstStyle/>
                    <a:p>
                      <a:pPr>
                        <a:lnSpc>
                          <a:spcPct val="125000"/>
                        </a:lnSpc>
                        <a:spcBef>
                          <a:spcPts val="0"/>
                        </a:spcBef>
                        <a:spcAft>
                          <a:spcPts val="0"/>
                        </a:spcAft>
                      </a:pPr>
                      <a:r>
                        <a:rPr sz="1050" b="0">
                          <a:solidFill>
                            <a:srgbClr val="A3B0C6"/>
                          </a:solidFill>
                          <a:latin typeface="Helvetica Neue"/>
                        </a:rPr>
                        <a:t>The wrong question outscores the paraphrase. At 0.95 it served an append/extend answer to an insert/remove question. Runs at 0.99</a:t>
                      </a:r>
                    </a:p>
                  </a:txBody>
                  <a:tcPr marL="91440" marR="91440" marT="45720" marB="45720">
                    <a:solidFill>
                      <a:srgbClr val="0B0E14"/>
                    </a:solidFill>
                  </a:tcPr>
                </a:tc>
              </a:tr>
              <a:tr h="457200">
                <a:tc>
                  <a:txBody>
                    <a:bodyPr wrap="square"/>
                    <a:lstStyle/>
                    <a:p>
                      <a:pPr>
                        <a:lnSpc>
                          <a:spcPct val="125000"/>
                        </a:lnSpc>
                        <a:spcBef>
                          <a:spcPts val="0"/>
                        </a:spcBef>
                        <a:spcAft>
                          <a:spcPts val="0"/>
                        </a:spcAft>
                      </a:pPr>
                      <a:r>
                        <a:rPr sz="1100" b="1">
                          <a:solidFill>
                            <a:srgbClr val="EEF3FA"/>
                          </a:solidFill>
                          <a:latin typeface="Helvetica Neue"/>
                        </a:rPr>
                        <a:t>PII over-blocking</a:t>
                      </a:r>
                    </a:p>
                  </a:txBody>
                  <a:tcPr marL="91440" marR="91440" marT="45720" marB="45720">
                    <a:solidFill>
                      <a:srgbClr val="151B26"/>
                    </a:solidFill>
                  </a:tcPr>
                </a:tc>
                <a:tc>
                  <a:txBody>
                    <a:bodyPr wrap="square"/>
                    <a:lstStyle/>
                    <a:p>
                      <a:pPr>
                        <a:lnSpc>
                          <a:spcPct val="125000"/>
                        </a:lnSpc>
                        <a:spcBef>
                          <a:spcPts val="0"/>
                        </a:spcBef>
                        <a:spcAft>
                          <a:spcPts val="0"/>
                        </a:spcAft>
                      </a:pPr>
                      <a:r>
                        <a:rPr sz="1050" b="0">
                          <a:solidFill>
                            <a:srgbClr val="A3B0C6"/>
                          </a:solidFill>
                          <a:latin typeface="Helvetica Neue"/>
                        </a:rPr>
                        <a:t>"starts on Monday" and "capital of France"</a:t>
                      </a:r>
                    </a:p>
                  </a:txBody>
                  <a:tcPr marL="91440" marR="91440" marT="45720" marB="45720">
                    <a:solidFill>
                      <a:srgbClr val="151B26"/>
                    </a:solidFill>
                  </a:tcPr>
                </a:tc>
                <a:tc>
                  <a:txBody>
                    <a:bodyPr wrap="square"/>
                    <a:lstStyle/>
                    <a:p>
                      <a:pPr>
                        <a:lnSpc>
                          <a:spcPct val="125000"/>
                        </a:lnSpc>
                        <a:spcBef>
                          <a:spcPts val="0"/>
                        </a:spcBef>
                        <a:spcAft>
                          <a:spcPts val="0"/>
                        </a:spcAft>
                      </a:pPr>
                      <a:r>
                        <a:rPr sz="1050" b="0">
                          <a:solidFill>
                            <a:srgbClr val="A3B0C6"/>
                          </a:solidFill>
                          <a:latin typeface="Helvetica Neue"/>
                        </a:rPr>
                        <a:t>Blocked as DATE_TIME and GPE until we set an entity-type allow-list</a:t>
                      </a:r>
                    </a:p>
                  </a:txBody>
                  <a:tcPr marL="91440" marR="91440" marT="45720" marB="45720">
                    <a:solidFill>
                      <a:srgbClr val="151B26"/>
                    </a:solidFill>
                  </a:tcPr>
                </a:tc>
              </a:tr>
              <a:tr h="457200">
                <a:tc>
                  <a:txBody>
                    <a:bodyPr wrap="square"/>
                    <a:lstStyle/>
                    <a:p>
                      <a:pPr>
                        <a:lnSpc>
                          <a:spcPct val="125000"/>
                        </a:lnSpc>
                        <a:spcBef>
                          <a:spcPts val="0"/>
                        </a:spcBef>
                        <a:spcAft>
                          <a:spcPts val="0"/>
                        </a:spcAft>
                      </a:pPr>
                      <a:r>
                        <a:rPr sz="1100" b="1">
                          <a:solidFill>
                            <a:srgbClr val="EEF3FA"/>
                          </a:solidFill>
                          <a:latin typeface="Helvetica Neue"/>
                        </a:rPr>
                        <a:t>Classifier footprint</a:t>
                      </a:r>
                    </a:p>
                  </a:txBody>
                  <a:tcPr marL="91440" marR="91440" marT="45720" marB="45720">
                    <a:solidFill>
                      <a:srgbClr val="0B0E14"/>
                    </a:solidFill>
                  </a:tcPr>
                </a:tc>
                <a:tc>
                  <a:txBody>
                    <a:bodyPr wrap="square"/>
                    <a:lstStyle/>
                    <a:p>
                      <a:pPr>
                        <a:lnSpc>
                          <a:spcPct val="125000"/>
                        </a:lnSpc>
                        <a:spcBef>
                          <a:spcPts val="0"/>
                        </a:spcBef>
                        <a:spcAft>
                          <a:spcPts val="0"/>
                        </a:spcAft>
                      </a:pPr>
                      <a:r>
                        <a:rPr sz="1050" b="0">
                          <a:solidFill>
                            <a:srgbClr val="A3B0C6"/>
                          </a:solidFill>
                          <a:latin typeface="Helvetica Neue"/>
                        </a:rPr>
                        <a:t>10.3 GB RAM, 5 CPU processes</a:t>
                      </a:r>
                    </a:p>
                  </a:txBody>
                  <a:tcPr marL="91440" marR="91440" marT="45720" marB="45720">
                    <a:solidFill>
                      <a:srgbClr val="0B0E14"/>
                    </a:solidFill>
                  </a:tcPr>
                </a:tc>
                <a:tc>
                  <a:txBody>
                    <a:bodyPr wrap="square"/>
                    <a:lstStyle/>
                    <a:p>
                      <a:pPr>
                        <a:lnSpc>
                          <a:spcPct val="125000"/>
                        </a:lnSpc>
                        <a:spcBef>
                          <a:spcPts val="0"/>
                        </a:spcBef>
                        <a:spcAft>
                          <a:spcPts val="0"/>
                        </a:spcAft>
                      </a:pPr>
                      <a:r>
                        <a:rPr sz="1050" b="0">
                          <a:solidFill>
                            <a:srgbClr val="A3B0C6"/>
                          </a:solidFill>
                          <a:latin typeface="Helvetica Neue"/>
                        </a:rPr>
                        <a:t>One process per Vela model; 8 GB OOMs</a:t>
                      </a:r>
                    </a:p>
                  </a:txBody>
                  <a:tcPr marL="91440" marR="91440" marT="45720" marB="45720">
                    <a:solidFill>
                      <a:srgbClr val="0B0E14"/>
                    </a:solidFill>
                  </a:tcPr>
                </a:tc>
              </a:tr>
            </a:tbl>
          </a:graphicData>
        </a:graphic>
      </p:graphicFrame>
      <p:sp>
        <p:nvSpPr>
          <p:cNvPr id="6" name="TextBox 5"/>
          <p:cNvSpPr txBox="1"/>
          <p:nvPr/>
        </p:nvSpPr>
        <p:spPr>
          <a:xfrm>
            <a:off x="9521647" y="6382512"/>
            <a:ext cx="2011680" cy="274320"/>
          </a:xfrm>
          <a:prstGeom prst="rect">
            <a:avLst/>
          </a:prstGeom>
          <a:noFill/>
        </p:spPr>
        <p:txBody>
          <a:bodyPr wrap="square" anchor="t" lIns="0" rIns="0" tIns="0" bIns="0">
            <a:spAutoFit/>
          </a:bodyPr>
          <a:lstStyle/>
          <a:p>
            <a:pPr algn="r"/>
            <a:r>
              <a:rPr sz="1000">
                <a:solidFill>
                  <a:srgbClr val="FF4D4D"/>
                </a:solidFill>
                <a:latin typeface="Menlo"/>
              </a:rPr>
              <a:t>17:00  ·  </a:t>
            </a:r>
            <a:r>
              <a:rPr sz="1000">
                <a:solidFill>
                  <a:srgbClr val="6E7D96"/>
                </a:solidFill>
                <a:latin typeface="Menlo"/>
              </a:rPr>
              <a:t>14 / 20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Rectangle 1"/>
          <p:cNvSpPr/>
          <p:nvPr/>
        </p:nvSpPr>
        <p:spPr>
          <a:xfrm>
            <a:off x="0" y="0"/>
            <a:ext cx="1783080" cy="63500"/>
          </a:xfrm>
          <a:prstGeom prst="rect">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30352"/>
            <a:ext cx="10874959" cy="868680"/>
          </a:xfrm>
          <a:prstGeom prst="rect">
            <a:avLst/>
          </a:prstGeom>
          <a:noFill/>
        </p:spPr>
        <p:txBody>
          <a:bodyPr wrap="square" anchor="t" lIns="0" rIns="0" tIns="0" bIns="0">
            <a:spAutoFit/>
          </a:bodyPr>
          <a:lstStyle/>
          <a:p>
            <a:pPr>
              <a:lnSpc>
                <a:spcPct val="110000"/>
              </a:lnSpc>
              <a:spcBef>
                <a:spcPts val="0"/>
              </a:spcBef>
              <a:spcAft>
                <a:spcPts val="0"/>
              </a:spcAft>
            </a:pPr>
            <a:r>
              <a:rPr sz="2900" b="1">
                <a:solidFill>
                  <a:srgbClr val="EEF3FA"/>
                </a:solidFill>
                <a:latin typeface="Helvetica Neue"/>
              </a:rPr>
              <a:t>Routing is not enough</a:t>
            </a:r>
          </a:p>
        </p:txBody>
      </p:sp>
      <p:sp>
        <p:nvSpPr>
          <p:cNvPr id="4" name="TextBox 3"/>
          <p:cNvSpPr txBox="1"/>
          <p:nvPr/>
        </p:nvSpPr>
        <p:spPr>
          <a:xfrm>
            <a:off x="658368" y="1188720"/>
            <a:ext cx="9692640" cy="822960"/>
          </a:xfrm>
          <a:prstGeom prst="rect">
            <a:avLst/>
          </a:prstGeom>
          <a:noFill/>
        </p:spPr>
        <p:txBody>
          <a:bodyPr wrap="square" anchor="t" lIns="0" rIns="0" tIns="0" bIns="0">
            <a:spAutoFit/>
          </a:bodyPr>
          <a:lstStyle/>
          <a:p>
            <a:pPr>
              <a:lnSpc>
                <a:spcPct val="135000"/>
              </a:lnSpc>
              <a:spcBef>
                <a:spcPts val="0"/>
              </a:spcBef>
              <a:spcAft>
                <a:spcPts val="0"/>
              </a:spcAft>
            </a:pPr>
            <a:r>
              <a:rPr sz="1400" b="0">
                <a:solidFill>
                  <a:srgbClr val="A3B0C6"/>
                </a:solidFill>
                <a:latin typeface="Helvetica Neue"/>
              </a:rPr>
              <a:t>Defence in depth. Routing covers ingress; it cannot be the only control.</a:t>
            </a:r>
          </a:p>
        </p:txBody>
      </p:sp>
      <p:sp>
        <p:nvSpPr>
          <p:cNvPr id="5" name="Rectangle 4"/>
          <p:cNvSpPr/>
          <p:nvPr/>
        </p:nvSpPr>
        <p:spPr>
          <a:xfrm>
            <a:off x="658368" y="1938528"/>
            <a:ext cx="3490874" cy="224028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938528"/>
            <a:ext cx="3490874" cy="38100"/>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2176272"/>
            <a:ext cx="3088538" cy="457200"/>
          </a:xfrm>
          <a:prstGeom prst="rect">
            <a:avLst/>
          </a:prstGeom>
          <a:noFill/>
        </p:spPr>
        <p:txBody>
          <a:bodyPr wrap="square" anchor="t" lIns="0" rIns="0" tIns="0" bIns="0">
            <a:spAutoFit/>
          </a:bodyPr>
          <a:lstStyle/>
          <a:p>
            <a:pPr>
              <a:lnSpc>
                <a:spcPct val="115000"/>
              </a:lnSpc>
              <a:spcBef>
                <a:spcPts val="0"/>
              </a:spcBef>
              <a:spcAft>
                <a:spcPts val="0"/>
              </a:spcAft>
            </a:pPr>
            <a:r>
              <a:rPr sz="1450" b="1">
                <a:solidFill>
                  <a:srgbClr val="EEF3FA"/>
                </a:solidFill>
                <a:latin typeface="Helvetica Neue"/>
              </a:rPr>
              <a:t>1. Semantic routing</a:t>
            </a:r>
          </a:p>
        </p:txBody>
      </p:sp>
      <p:sp>
        <p:nvSpPr>
          <p:cNvPr id="8" name="TextBox 7"/>
          <p:cNvSpPr txBox="1"/>
          <p:nvPr/>
        </p:nvSpPr>
        <p:spPr>
          <a:xfrm>
            <a:off x="859536" y="2651760"/>
            <a:ext cx="3088538" cy="1325880"/>
          </a:xfrm>
          <a:prstGeom prst="rect">
            <a:avLst/>
          </a:prstGeom>
          <a:noFill/>
        </p:spPr>
        <p:txBody>
          <a:bodyPr wrap="square" anchor="t" lIns="0" rIns="0" tIns="0" bIns="0">
            <a:spAutoFit/>
          </a:bodyPr>
          <a:lstStyle/>
          <a:p>
            <a:pPr>
              <a:lnSpc>
                <a:spcPct val="140000"/>
              </a:lnSpc>
              <a:spcBef>
                <a:spcPts val="0"/>
              </a:spcBef>
              <a:spcAft>
                <a:spcPts val="0"/>
              </a:spcAft>
            </a:pPr>
            <a:r>
              <a:rPr sz="1150" b="0">
                <a:solidFill>
                  <a:srgbClr val="A3B0C6"/>
                </a:solidFill>
                <a:latin typeface="Helvetica Neue"/>
              </a:rPr>
              <a:t>Classifies and places the majority of requests correctly, before any GPU work. Cheap, fast, and the first line.</a:t>
            </a:r>
          </a:p>
        </p:txBody>
      </p:sp>
      <p:sp>
        <p:nvSpPr>
          <p:cNvPr id="9" name="Rectangle 8"/>
          <p:cNvSpPr/>
          <p:nvPr/>
        </p:nvSpPr>
        <p:spPr>
          <a:xfrm>
            <a:off x="4350410" y="1938528"/>
            <a:ext cx="3490874" cy="224028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50410" y="1938528"/>
            <a:ext cx="3490874" cy="38100"/>
          </a:xfrm>
          <a:prstGeom prst="rect">
            <a:avLst/>
          </a:prstGeom>
          <a:solidFill>
            <a:srgbClr val="4DD6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51578" y="2176272"/>
            <a:ext cx="3088538" cy="457200"/>
          </a:xfrm>
          <a:prstGeom prst="rect">
            <a:avLst/>
          </a:prstGeom>
          <a:noFill/>
        </p:spPr>
        <p:txBody>
          <a:bodyPr wrap="square" anchor="t" lIns="0" rIns="0" tIns="0" bIns="0">
            <a:spAutoFit/>
          </a:bodyPr>
          <a:lstStyle/>
          <a:p>
            <a:pPr>
              <a:lnSpc>
                <a:spcPct val="115000"/>
              </a:lnSpc>
              <a:spcBef>
                <a:spcPts val="0"/>
              </a:spcBef>
              <a:spcAft>
                <a:spcPts val="0"/>
              </a:spcAft>
            </a:pPr>
            <a:r>
              <a:rPr sz="1450" b="1">
                <a:solidFill>
                  <a:srgbClr val="EEF3FA"/>
                </a:solidFill>
                <a:latin typeface="Helvetica Neue"/>
              </a:rPr>
              <a:t>2. Evaluation &amp; guardrails</a:t>
            </a:r>
          </a:p>
        </p:txBody>
      </p:sp>
      <p:sp>
        <p:nvSpPr>
          <p:cNvPr id="12" name="TextBox 11"/>
          <p:cNvSpPr txBox="1"/>
          <p:nvPr/>
        </p:nvSpPr>
        <p:spPr>
          <a:xfrm>
            <a:off x="4551578" y="2651760"/>
            <a:ext cx="3088538" cy="1325880"/>
          </a:xfrm>
          <a:prstGeom prst="rect">
            <a:avLst/>
          </a:prstGeom>
          <a:noFill/>
        </p:spPr>
        <p:txBody>
          <a:bodyPr wrap="square" anchor="t" lIns="0" rIns="0" tIns="0" bIns="0">
            <a:spAutoFit/>
          </a:bodyPr>
          <a:lstStyle/>
          <a:p>
            <a:pPr>
              <a:lnSpc>
                <a:spcPct val="140000"/>
              </a:lnSpc>
              <a:spcBef>
                <a:spcPts val="0"/>
              </a:spcBef>
              <a:spcAft>
                <a:spcPts val="0"/>
              </a:spcAft>
            </a:pPr>
            <a:r>
              <a:rPr sz="1150" b="0">
                <a:solidFill>
                  <a:srgbClr val="A3B0C6"/>
                </a:solidFill>
                <a:latin typeface="Helvetica Neue"/>
              </a:rPr>
              <a:t>Catch what routing misclassifies. Classification is probabilistic — plan for the tail, do not pretend it is not there.</a:t>
            </a:r>
          </a:p>
        </p:txBody>
      </p:sp>
      <p:sp>
        <p:nvSpPr>
          <p:cNvPr id="13" name="Rectangle 12"/>
          <p:cNvSpPr/>
          <p:nvPr/>
        </p:nvSpPr>
        <p:spPr>
          <a:xfrm>
            <a:off x="8042452" y="1938528"/>
            <a:ext cx="3490874" cy="224028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42452" y="1938528"/>
            <a:ext cx="3490874" cy="38100"/>
          </a:xfrm>
          <a:prstGeom prst="rect">
            <a:avLst/>
          </a:prstGeom>
          <a:solidFill>
            <a:srgbClr val="B38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43620" y="2176272"/>
            <a:ext cx="3088538" cy="457200"/>
          </a:xfrm>
          <a:prstGeom prst="rect">
            <a:avLst/>
          </a:prstGeom>
          <a:noFill/>
        </p:spPr>
        <p:txBody>
          <a:bodyPr wrap="square" anchor="t" lIns="0" rIns="0" tIns="0" bIns="0">
            <a:spAutoFit/>
          </a:bodyPr>
          <a:lstStyle/>
          <a:p>
            <a:pPr>
              <a:lnSpc>
                <a:spcPct val="115000"/>
              </a:lnSpc>
              <a:spcBef>
                <a:spcPts val="0"/>
              </a:spcBef>
              <a:spcAft>
                <a:spcPts val="0"/>
              </a:spcAft>
            </a:pPr>
            <a:r>
              <a:rPr sz="1450" b="1">
                <a:solidFill>
                  <a:srgbClr val="EEF3FA"/>
                </a:solidFill>
                <a:latin typeface="Helvetica Neue"/>
              </a:rPr>
              <a:t>3. Egress controls</a:t>
            </a:r>
          </a:p>
        </p:txBody>
      </p:sp>
      <p:sp>
        <p:nvSpPr>
          <p:cNvPr id="16" name="TextBox 15"/>
          <p:cNvSpPr txBox="1"/>
          <p:nvPr/>
        </p:nvSpPr>
        <p:spPr>
          <a:xfrm>
            <a:off x="8243620" y="2651760"/>
            <a:ext cx="3088538" cy="1325880"/>
          </a:xfrm>
          <a:prstGeom prst="rect">
            <a:avLst/>
          </a:prstGeom>
          <a:noFill/>
        </p:spPr>
        <p:txBody>
          <a:bodyPr wrap="square" anchor="t" lIns="0" rIns="0" tIns="0" bIns="0">
            <a:spAutoFit/>
          </a:bodyPr>
          <a:lstStyle/>
          <a:p>
            <a:pPr>
              <a:lnSpc>
                <a:spcPct val="140000"/>
              </a:lnSpc>
              <a:spcBef>
                <a:spcPts val="0"/>
              </a:spcBef>
              <a:spcAft>
                <a:spcPts val="0"/>
              </a:spcAft>
            </a:pPr>
            <a:r>
              <a:rPr sz="1150" b="0">
                <a:solidFill>
                  <a:srgbClr val="A3B0C6"/>
                </a:solidFill>
                <a:latin typeface="Helvetica Neue"/>
              </a:rPr>
              <a:t>Filter sensitive content out of responses. A local model can still emit PII; routing never saw the answer, only the question.</a:t>
            </a:r>
          </a:p>
        </p:txBody>
      </p:sp>
      <p:sp>
        <p:nvSpPr>
          <p:cNvPr id="17" name="Rectangle 16"/>
          <p:cNvSpPr/>
          <p:nvPr/>
        </p:nvSpPr>
        <p:spPr>
          <a:xfrm>
            <a:off x="658368" y="4398264"/>
            <a:ext cx="10874959" cy="841248"/>
          </a:xfrm>
          <a:prstGeom prst="rect">
            <a:avLst/>
          </a:prstGeom>
          <a:solidFill>
            <a:srgbClr val="1E2636"/>
          </a:solidFill>
          <a:ln w="12700">
            <a:solidFill>
              <a:srgbClr val="FFC8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4398264"/>
            <a:ext cx="50800" cy="841248"/>
          </a:xfrm>
          <a:prstGeom prst="rect">
            <a:avLst/>
          </a:prstGeom>
          <a:solidFill>
            <a:srgbClr val="FFC8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9536" y="4517136"/>
            <a:ext cx="10472623" cy="603504"/>
          </a:xfrm>
          <a:prstGeom prst="rect">
            <a:avLst/>
          </a:prstGeom>
          <a:noFill/>
        </p:spPr>
        <p:txBody>
          <a:bodyPr wrap="square" anchor="t" lIns="0" rIns="0" tIns="0" bIns="0">
            <a:spAutoFit/>
          </a:bodyPr>
          <a:lstStyle/>
          <a:p>
            <a:pPr>
              <a:lnSpc>
                <a:spcPct val="130000"/>
              </a:lnSpc>
              <a:spcBef>
                <a:spcPts val="0"/>
              </a:spcBef>
              <a:spcAft>
                <a:spcPts val="0"/>
              </a:spcAft>
            </a:pPr>
            <a:r>
              <a:rPr sz="1250" b="0">
                <a:solidFill>
                  <a:srgbClr val="FFC857"/>
                </a:solidFill>
                <a:latin typeface="Helvetica Neue"/>
              </a:rPr>
              <a:t>In practice that is a data policy: account records and personal data never leave the building and are logged when used · internal material may go to a cloud model only if something inspects it on the way out · public questions can go anywhere.</a:t>
            </a:r>
          </a:p>
        </p:txBody>
      </p:sp>
      <p:sp>
        <p:nvSpPr>
          <p:cNvPr id="20" name="TextBox 19"/>
          <p:cNvSpPr txBox="1"/>
          <p:nvPr/>
        </p:nvSpPr>
        <p:spPr>
          <a:xfrm>
            <a:off x="9521647" y="6382512"/>
            <a:ext cx="2011680" cy="274320"/>
          </a:xfrm>
          <a:prstGeom prst="rect">
            <a:avLst/>
          </a:prstGeom>
          <a:noFill/>
        </p:spPr>
        <p:txBody>
          <a:bodyPr wrap="square" anchor="t" lIns="0" rIns="0" tIns="0" bIns="0">
            <a:spAutoFit/>
          </a:bodyPr>
          <a:lstStyle/>
          <a:p>
            <a:pPr algn="r"/>
            <a:r>
              <a:rPr sz="1000">
                <a:solidFill>
                  <a:srgbClr val="FF4D4D"/>
                </a:solidFill>
                <a:latin typeface="Menlo"/>
              </a:rPr>
              <a:t>17:20  ·  </a:t>
            </a:r>
            <a:r>
              <a:rPr sz="1000">
                <a:solidFill>
                  <a:srgbClr val="6E7D96"/>
                </a:solidFill>
                <a:latin typeface="Menlo"/>
              </a:rPr>
              <a:t>15 / 20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Rectangle 1"/>
          <p:cNvSpPr/>
          <p:nvPr/>
        </p:nvSpPr>
        <p:spPr>
          <a:xfrm>
            <a:off x="0" y="0"/>
            <a:ext cx="1783080" cy="63500"/>
          </a:xfrm>
          <a:prstGeom prst="rect">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30352"/>
            <a:ext cx="10874959" cy="868680"/>
          </a:xfrm>
          <a:prstGeom prst="rect">
            <a:avLst/>
          </a:prstGeom>
          <a:noFill/>
        </p:spPr>
        <p:txBody>
          <a:bodyPr wrap="square" anchor="t" lIns="0" rIns="0" tIns="0" bIns="0">
            <a:spAutoFit/>
          </a:bodyPr>
          <a:lstStyle/>
          <a:p>
            <a:pPr>
              <a:lnSpc>
                <a:spcPct val="110000"/>
              </a:lnSpc>
              <a:spcBef>
                <a:spcPts val="0"/>
              </a:spcBef>
              <a:spcAft>
                <a:spcPts val="0"/>
              </a:spcAft>
            </a:pPr>
            <a:r>
              <a:rPr sz="2900" b="1">
                <a:solidFill>
                  <a:srgbClr val="EEF3FA"/>
                </a:solidFill>
                <a:latin typeface="Helvetica Neue"/>
              </a:rPr>
              <a:t>Where this bites hardest: agents</a:t>
            </a:r>
          </a:p>
        </p:txBody>
      </p:sp>
      <p:sp>
        <p:nvSpPr>
          <p:cNvPr id="4" name="TextBox 3"/>
          <p:cNvSpPr txBox="1"/>
          <p:nvPr/>
        </p:nvSpPr>
        <p:spPr>
          <a:xfrm>
            <a:off x="658368" y="1188720"/>
            <a:ext cx="9692640" cy="822960"/>
          </a:xfrm>
          <a:prstGeom prst="rect">
            <a:avLst/>
          </a:prstGeom>
          <a:noFill/>
        </p:spPr>
        <p:txBody>
          <a:bodyPr wrap="square" anchor="t" lIns="0" rIns="0" tIns="0" bIns="0">
            <a:spAutoFit/>
          </a:bodyPr>
          <a:lstStyle/>
          <a:p>
            <a:pPr>
              <a:lnSpc>
                <a:spcPct val="135000"/>
              </a:lnSpc>
              <a:spcBef>
                <a:spcPts val="0"/>
              </a:spcBef>
              <a:spcAft>
                <a:spcPts val="0"/>
              </a:spcAft>
            </a:pPr>
            <a:r>
              <a:rPr sz="1400" b="0">
                <a:solidFill>
                  <a:srgbClr val="A3B0C6"/>
                </a:solidFill>
                <a:latin typeface="Helvetica Neue"/>
              </a:rPr>
              <a:t>An agent is not one request. It is a loop.</a:t>
            </a:r>
          </a:p>
        </p:txBody>
      </p:sp>
      <p:sp>
        <p:nvSpPr>
          <p:cNvPr id="5" name="Rectangle 4"/>
          <p:cNvSpPr/>
          <p:nvPr/>
        </p:nvSpPr>
        <p:spPr>
          <a:xfrm>
            <a:off x="658368" y="1700784"/>
            <a:ext cx="3490874" cy="224028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700784"/>
            <a:ext cx="3490874" cy="38100"/>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1938528"/>
            <a:ext cx="3088538" cy="457200"/>
          </a:xfrm>
          <a:prstGeom prst="rect">
            <a:avLst/>
          </a:prstGeom>
          <a:noFill/>
        </p:spPr>
        <p:txBody>
          <a:bodyPr wrap="square" anchor="t" lIns="0" rIns="0" tIns="0" bIns="0">
            <a:spAutoFit/>
          </a:bodyPr>
          <a:lstStyle/>
          <a:p>
            <a:pPr>
              <a:lnSpc>
                <a:spcPct val="115000"/>
              </a:lnSpc>
              <a:spcBef>
                <a:spcPts val="0"/>
              </a:spcBef>
              <a:spcAft>
                <a:spcPts val="0"/>
              </a:spcAft>
            </a:pPr>
            <a:r>
              <a:rPr sz="1450" b="1">
                <a:solidFill>
                  <a:srgbClr val="EEF3FA"/>
                </a:solidFill>
                <a:latin typeface="Helvetica Neue"/>
              </a:rPr>
              <a:t>The multiplier</a:t>
            </a:r>
          </a:p>
        </p:txBody>
      </p:sp>
      <p:sp>
        <p:nvSpPr>
          <p:cNvPr id="8" name="TextBox 7"/>
          <p:cNvSpPr txBox="1"/>
          <p:nvPr/>
        </p:nvSpPr>
        <p:spPr>
          <a:xfrm>
            <a:off x="859536" y="2414016"/>
            <a:ext cx="3088538" cy="1325880"/>
          </a:xfrm>
          <a:prstGeom prst="rect">
            <a:avLst/>
          </a:prstGeom>
          <a:noFill/>
        </p:spPr>
        <p:txBody>
          <a:bodyPr wrap="square" anchor="t" lIns="0" rIns="0" tIns="0" bIns="0">
            <a:spAutoFit/>
          </a:bodyPr>
          <a:lstStyle/>
          <a:p>
            <a:pPr>
              <a:lnSpc>
                <a:spcPct val="140000"/>
              </a:lnSpc>
              <a:spcBef>
                <a:spcPts val="0"/>
              </a:spcBef>
              <a:spcAft>
                <a:spcPts val="0"/>
              </a:spcAft>
            </a:pPr>
            <a:r>
              <a:rPr sz="1150" b="0">
                <a:solidFill>
                  <a:srgbClr val="A3B0C6"/>
                </a:solidFill>
                <a:latin typeface="Helvetica Neue"/>
              </a:rPr>
              <a:t>A single agent task generates 10–50+ model calls. Without routing, every one of them hits the same expensive model.</a:t>
            </a:r>
          </a:p>
        </p:txBody>
      </p:sp>
      <p:sp>
        <p:nvSpPr>
          <p:cNvPr id="9" name="Rectangle 8"/>
          <p:cNvSpPr/>
          <p:nvPr/>
        </p:nvSpPr>
        <p:spPr>
          <a:xfrm>
            <a:off x="4350410" y="1700784"/>
            <a:ext cx="3490874" cy="224028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50410" y="1700784"/>
            <a:ext cx="3490874" cy="38100"/>
          </a:xfrm>
          <a:prstGeom prst="rect">
            <a:avLst/>
          </a:prstGeom>
          <a:solidFill>
            <a:srgbClr val="4DD6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51578" y="1938528"/>
            <a:ext cx="3088538" cy="457200"/>
          </a:xfrm>
          <a:prstGeom prst="rect">
            <a:avLst/>
          </a:prstGeom>
          <a:noFill/>
        </p:spPr>
        <p:txBody>
          <a:bodyPr wrap="square" anchor="t" lIns="0" rIns="0" tIns="0" bIns="0">
            <a:spAutoFit/>
          </a:bodyPr>
          <a:lstStyle/>
          <a:p>
            <a:pPr>
              <a:lnSpc>
                <a:spcPct val="115000"/>
              </a:lnSpc>
              <a:spcBef>
                <a:spcPts val="0"/>
              </a:spcBef>
              <a:spcAft>
                <a:spcPts val="0"/>
              </a:spcAft>
            </a:pPr>
            <a:r>
              <a:rPr sz="1450" b="1">
                <a:solidFill>
                  <a:srgbClr val="EEF3FA"/>
                </a:solidFill>
                <a:latin typeface="Helvetica Neue"/>
              </a:rPr>
              <a:t>The saving</a:t>
            </a:r>
          </a:p>
        </p:txBody>
      </p:sp>
      <p:sp>
        <p:nvSpPr>
          <p:cNvPr id="12" name="TextBox 11"/>
          <p:cNvSpPr txBox="1"/>
          <p:nvPr/>
        </p:nvSpPr>
        <p:spPr>
          <a:xfrm>
            <a:off x="4551578" y="2414016"/>
            <a:ext cx="3088538" cy="1325880"/>
          </a:xfrm>
          <a:prstGeom prst="rect">
            <a:avLst/>
          </a:prstGeom>
          <a:noFill/>
        </p:spPr>
        <p:txBody>
          <a:bodyPr wrap="square" anchor="t" lIns="0" rIns="0" tIns="0" bIns="0">
            <a:spAutoFit/>
          </a:bodyPr>
          <a:lstStyle/>
          <a:p>
            <a:pPr>
              <a:lnSpc>
                <a:spcPct val="140000"/>
              </a:lnSpc>
              <a:spcBef>
                <a:spcPts val="0"/>
              </a:spcBef>
              <a:spcAft>
                <a:spcPts val="0"/>
              </a:spcAft>
            </a:pPr>
            <a:r>
              <a:rPr sz="1150" b="0">
                <a:solidFill>
                  <a:srgbClr val="A3B0C6"/>
                </a:solidFill>
                <a:latin typeface="Helvetica Neue"/>
              </a:rPr>
              <a:t>Each call reaches the right model at the right cost — the project reports 80%+ reduction, and the easy sub-tasks come back in milliseconds from a local model.</a:t>
            </a:r>
          </a:p>
        </p:txBody>
      </p:sp>
      <p:sp>
        <p:nvSpPr>
          <p:cNvPr id="13" name="Rectangle 12"/>
          <p:cNvSpPr/>
          <p:nvPr/>
        </p:nvSpPr>
        <p:spPr>
          <a:xfrm>
            <a:off x="8042452" y="1700784"/>
            <a:ext cx="3490874" cy="224028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42452" y="1700784"/>
            <a:ext cx="3490874" cy="38100"/>
          </a:xfrm>
          <a:prstGeom prst="rect">
            <a:avLst/>
          </a:prstGeom>
          <a:solidFill>
            <a:srgbClr val="B38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43620" y="1938528"/>
            <a:ext cx="3088538" cy="457200"/>
          </a:xfrm>
          <a:prstGeom prst="rect">
            <a:avLst/>
          </a:prstGeom>
          <a:noFill/>
        </p:spPr>
        <p:txBody>
          <a:bodyPr wrap="square" anchor="t" lIns="0" rIns="0" tIns="0" bIns="0">
            <a:spAutoFit/>
          </a:bodyPr>
          <a:lstStyle/>
          <a:p>
            <a:pPr>
              <a:lnSpc>
                <a:spcPct val="115000"/>
              </a:lnSpc>
              <a:spcBef>
                <a:spcPts val="0"/>
              </a:spcBef>
              <a:spcAft>
                <a:spcPts val="0"/>
              </a:spcAft>
            </a:pPr>
            <a:r>
              <a:rPr sz="1450" b="1">
                <a:solidFill>
                  <a:srgbClr val="EEF3FA"/>
                </a:solidFill>
                <a:latin typeface="Helvetica Neue"/>
              </a:rPr>
              <a:t>The safety case</a:t>
            </a:r>
          </a:p>
        </p:txBody>
      </p:sp>
      <p:sp>
        <p:nvSpPr>
          <p:cNvPr id="16" name="TextBox 15"/>
          <p:cNvSpPr txBox="1"/>
          <p:nvPr/>
        </p:nvSpPr>
        <p:spPr>
          <a:xfrm>
            <a:off x="8243620" y="2414016"/>
            <a:ext cx="3088538" cy="1325880"/>
          </a:xfrm>
          <a:prstGeom prst="rect">
            <a:avLst/>
          </a:prstGeom>
          <a:noFill/>
        </p:spPr>
        <p:txBody>
          <a:bodyPr wrap="square" anchor="t" lIns="0" rIns="0" tIns="0" bIns="0">
            <a:spAutoFit/>
          </a:bodyPr>
          <a:lstStyle/>
          <a:p>
            <a:pPr>
              <a:lnSpc>
                <a:spcPct val="140000"/>
              </a:lnSpc>
              <a:spcBef>
                <a:spcPts val="0"/>
              </a:spcBef>
              <a:spcAft>
                <a:spcPts val="0"/>
              </a:spcAft>
            </a:pPr>
            <a:r>
              <a:rPr sz="1150" b="0">
                <a:solidFill>
                  <a:srgbClr val="A3B0C6"/>
                </a:solidFill>
                <a:latin typeface="Helvetica Neue"/>
              </a:rPr>
              <a:t>Every call in the loop passes the same classification. One policy covers an agent you did not write and cannot inspect.</a:t>
            </a:r>
          </a:p>
        </p:txBody>
      </p:sp>
      <p:sp>
        <p:nvSpPr>
          <p:cNvPr id="17" name="Rectangle 16"/>
          <p:cNvSpPr/>
          <p:nvPr/>
        </p:nvSpPr>
        <p:spPr>
          <a:xfrm>
            <a:off x="658368" y="4160520"/>
            <a:ext cx="10874959" cy="475488"/>
          </a:xfrm>
          <a:prstGeom prst="rect">
            <a:avLst/>
          </a:prstGeom>
          <a:solidFill>
            <a:srgbClr val="1E2636"/>
          </a:solidFill>
          <a:ln w="12700">
            <a:solidFill>
              <a:srgbClr val="FFC8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4160520"/>
            <a:ext cx="50800" cy="475488"/>
          </a:xfrm>
          <a:prstGeom prst="rect">
            <a:avLst/>
          </a:prstGeom>
          <a:solidFill>
            <a:srgbClr val="FFC8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9536" y="4279392"/>
            <a:ext cx="10472623" cy="237744"/>
          </a:xfrm>
          <a:prstGeom prst="rect">
            <a:avLst/>
          </a:prstGeom>
          <a:noFill/>
        </p:spPr>
        <p:txBody>
          <a:bodyPr wrap="square" anchor="t" lIns="0" rIns="0" tIns="0" bIns="0">
            <a:spAutoFit/>
          </a:bodyPr>
          <a:lstStyle/>
          <a:p>
            <a:pPr>
              <a:lnSpc>
                <a:spcPct val="130000"/>
              </a:lnSpc>
              <a:spcBef>
                <a:spcPts val="0"/>
              </a:spcBef>
              <a:spcAft>
                <a:spcPts val="0"/>
              </a:spcAft>
            </a:pPr>
            <a:r>
              <a:rPr sz="1250" b="0">
                <a:solidFill>
                  <a:srgbClr val="FFC857"/>
                </a:solidFill>
                <a:latin typeface="Helvetica Neue"/>
              </a:rPr>
              <a:t>Agents do not need to know about model selection. They send model: "auto".</a:t>
            </a:r>
          </a:p>
        </p:txBody>
      </p:sp>
      <p:sp>
        <p:nvSpPr>
          <p:cNvPr id="20" name="TextBox 19"/>
          <p:cNvSpPr txBox="1"/>
          <p:nvPr/>
        </p:nvSpPr>
        <p:spPr>
          <a:xfrm>
            <a:off x="9521647" y="6382512"/>
            <a:ext cx="2011680" cy="274320"/>
          </a:xfrm>
          <a:prstGeom prst="rect">
            <a:avLst/>
          </a:prstGeom>
          <a:noFill/>
        </p:spPr>
        <p:txBody>
          <a:bodyPr wrap="square" anchor="t" lIns="0" rIns="0" tIns="0" bIns="0">
            <a:spAutoFit/>
          </a:bodyPr>
          <a:lstStyle/>
          <a:p>
            <a:pPr algn="r"/>
            <a:r>
              <a:rPr sz="1000">
                <a:solidFill>
                  <a:srgbClr val="FF4D4D"/>
                </a:solidFill>
                <a:latin typeface="Menlo"/>
              </a:rPr>
              <a:t>18:30  ·  </a:t>
            </a:r>
            <a:r>
              <a:rPr sz="1000">
                <a:solidFill>
                  <a:srgbClr val="6E7D96"/>
                </a:solidFill>
                <a:latin typeface="Menlo"/>
              </a:rPr>
              <a:t>16 / 20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Rectangle 1"/>
          <p:cNvSpPr/>
          <p:nvPr/>
        </p:nvSpPr>
        <p:spPr>
          <a:xfrm>
            <a:off x="0" y="0"/>
            <a:ext cx="1783080" cy="63500"/>
          </a:xfrm>
          <a:prstGeom prst="rect">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30352"/>
            <a:ext cx="10874959" cy="868680"/>
          </a:xfrm>
          <a:prstGeom prst="rect">
            <a:avLst/>
          </a:prstGeom>
          <a:noFill/>
        </p:spPr>
        <p:txBody>
          <a:bodyPr wrap="square" anchor="t" lIns="0" rIns="0" tIns="0" bIns="0">
            <a:spAutoFit/>
          </a:bodyPr>
          <a:lstStyle/>
          <a:p>
            <a:pPr>
              <a:lnSpc>
                <a:spcPct val="110000"/>
              </a:lnSpc>
              <a:spcBef>
                <a:spcPts val="0"/>
              </a:spcBef>
              <a:spcAft>
                <a:spcPts val="0"/>
              </a:spcAft>
            </a:pPr>
            <a:r>
              <a:rPr sz="2900" b="1">
                <a:solidFill>
                  <a:srgbClr val="EEF3FA"/>
                </a:solidFill>
                <a:latin typeface="Helvetica Neue"/>
              </a:rPr>
              <a:t>vLLM-SR and llm-d answer different questions</a:t>
            </a:r>
          </a:p>
        </p:txBody>
      </p:sp>
      <p:sp>
        <p:nvSpPr>
          <p:cNvPr id="4" name="TextBox 3"/>
          <p:cNvSpPr txBox="1"/>
          <p:nvPr/>
        </p:nvSpPr>
        <p:spPr>
          <a:xfrm>
            <a:off x="658368" y="1188720"/>
            <a:ext cx="9692640" cy="822960"/>
          </a:xfrm>
          <a:prstGeom prst="rect">
            <a:avLst/>
          </a:prstGeom>
          <a:noFill/>
        </p:spPr>
        <p:txBody>
          <a:bodyPr wrap="square" anchor="t" lIns="0" rIns="0" tIns="0" bIns="0">
            <a:spAutoFit/>
          </a:bodyPr>
          <a:lstStyle/>
          <a:p>
            <a:pPr>
              <a:lnSpc>
                <a:spcPct val="135000"/>
              </a:lnSpc>
              <a:spcBef>
                <a:spcPts val="0"/>
              </a:spcBef>
              <a:spcAft>
                <a:spcPts val="0"/>
              </a:spcAft>
            </a:pPr>
            <a:r>
              <a:rPr sz="1400" b="0">
                <a:solidFill>
                  <a:srgbClr val="A3B0C6"/>
                </a:solidFill>
                <a:latin typeface="Helvetica Neue"/>
              </a:rPr>
              <a:t>Complementary, not competing. Most confusion about either one dissolves here.</a:t>
            </a:r>
          </a:p>
        </p:txBody>
      </p:sp>
      <p:sp>
        <p:nvSpPr>
          <p:cNvPr id="5" name="Rectangle 4"/>
          <p:cNvSpPr/>
          <p:nvPr/>
        </p:nvSpPr>
        <p:spPr>
          <a:xfrm>
            <a:off x="658368" y="1938528"/>
            <a:ext cx="5318607" cy="320040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938528"/>
            <a:ext cx="5318607" cy="475488"/>
          </a:xfrm>
          <a:prstGeom prst="rect">
            <a:avLst/>
          </a:prstGeom>
          <a:solidFill>
            <a:srgbClr val="1E26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938528"/>
            <a:ext cx="50800" cy="475488"/>
          </a:xfrm>
          <a:prstGeom prst="rect">
            <a:avLst/>
          </a:prstGeom>
          <a:solidFill>
            <a:srgbClr val="4DD6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77824" y="2057400"/>
            <a:ext cx="4879695" cy="329184"/>
          </a:xfrm>
          <a:prstGeom prst="rect">
            <a:avLst/>
          </a:prstGeom>
          <a:noFill/>
        </p:spPr>
        <p:txBody>
          <a:bodyPr wrap="square" anchor="t" lIns="0" rIns="0" tIns="0" bIns="0">
            <a:spAutoFit/>
          </a:bodyPr>
          <a:lstStyle/>
          <a:p>
            <a:pPr>
              <a:spcBef>
                <a:spcPts val="0"/>
              </a:spcBef>
              <a:spcAft>
                <a:spcPts val="0"/>
              </a:spcAft>
            </a:pPr>
            <a:r>
              <a:rPr sz="1500" b="1">
                <a:solidFill>
                  <a:srgbClr val="4DD6C8"/>
                </a:solidFill>
                <a:latin typeface="Helvetica Neue"/>
              </a:rPr>
              <a:t>vLLM-SR — the model picker</a:t>
            </a:r>
          </a:p>
        </p:txBody>
      </p:sp>
      <p:sp>
        <p:nvSpPr>
          <p:cNvPr id="9" name="TextBox 8"/>
          <p:cNvSpPr txBox="1"/>
          <p:nvPr/>
        </p:nvSpPr>
        <p:spPr>
          <a:xfrm>
            <a:off x="877824" y="2560320"/>
            <a:ext cx="4879695" cy="2377440"/>
          </a:xfrm>
          <a:prstGeom prst="rect">
            <a:avLst/>
          </a:prstGeom>
          <a:noFill/>
        </p:spPr>
        <p:txBody>
          <a:bodyPr wrap="square" anchor="t" lIns="0" rIns="0" tIns="0" bIns="0">
            <a:spAutoFit/>
          </a:bodyPr>
          <a:lstStyle/>
          <a:p>
            <a:pPr>
              <a:lnSpc>
                <a:spcPct val="135000"/>
              </a:lnSpc>
              <a:spcBef>
                <a:spcPts val="0"/>
              </a:spcBef>
              <a:spcAft>
                <a:spcPts val="1000"/>
              </a:spcAft>
            </a:pPr>
            <a:r>
              <a:rPr sz="1200" b="0">
                <a:solidFill>
                  <a:srgbClr val="A3B0C6"/>
                </a:solidFill>
                <a:latin typeface="Helvetica Neue"/>
              </a:rPr>
              <a:t>Question: what model should handle this?</a:t>
            </a:r>
          </a:p>
          <a:p>
            <a:pPr>
              <a:lnSpc>
                <a:spcPct val="135000"/>
              </a:lnSpc>
              <a:spcBef>
                <a:spcPts val="0"/>
              </a:spcBef>
              <a:spcAft>
                <a:spcPts val="1000"/>
              </a:spcAft>
            </a:pPr>
            <a:r>
              <a:rPr sz="1200" b="0">
                <a:solidFill>
                  <a:srgbClr val="A3B0C6"/>
                </a:solidFill>
                <a:latin typeface="Helvetica Neue"/>
              </a:rPr>
              <a:t>Routes to entirely different base models.</a:t>
            </a:r>
          </a:p>
          <a:p>
            <a:pPr>
              <a:lnSpc>
                <a:spcPct val="135000"/>
              </a:lnSpc>
              <a:spcBef>
                <a:spcPts val="0"/>
              </a:spcBef>
              <a:spcAft>
                <a:spcPts val="1000"/>
              </a:spcAft>
            </a:pPr>
            <a:r>
              <a:rPr sz="1200" b="0">
                <a:solidFill>
                  <a:srgbClr val="A3B0C6"/>
                </a:solidFill>
                <a:latin typeface="Helvetica Neue"/>
              </a:rPr>
              <a:t>Logic: semantics, policy rules, intent, safety.</a:t>
            </a:r>
          </a:p>
          <a:p>
            <a:pPr>
              <a:lnSpc>
                <a:spcPct val="135000"/>
              </a:lnSpc>
              <a:spcBef>
                <a:spcPts val="0"/>
              </a:spcBef>
              <a:spcAft>
                <a:spcPts val="1000"/>
              </a:spcAft>
            </a:pPr>
            <a:r>
              <a:rPr sz="1200" b="0">
                <a:solidFill>
                  <a:srgbClr val="A3B0C6"/>
                </a:solidFill>
                <a:latin typeface="Helvetica Neue"/>
              </a:rPr>
              <a:t>Output: a declared model and a rewritten request.</a:t>
            </a:r>
          </a:p>
        </p:txBody>
      </p:sp>
      <p:sp>
        <p:nvSpPr>
          <p:cNvPr id="10" name="Rectangle 9"/>
          <p:cNvSpPr/>
          <p:nvPr/>
        </p:nvSpPr>
        <p:spPr>
          <a:xfrm>
            <a:off x="6214719" y="1938528"/>
            <a:ext cx="5318607" cy="320040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14719" y="1938528"/>
            <a:ext cx="5318607" cy="475488"/>
          </a:xfrm>
          <a:prstGeom prst="rect">
            <a:avLst/>
          </a:prstGeom>
          <a:solidFill>
            <a:srgbClr val="1E26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4719" y="1938528"/>
            <a:ext cx="50800" cy="475488"/>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34175" y="2057400"/>
            <a:ext cx="4879695" cy="329184"/>
          </a:xfrm>
          <a:prstGeom prst="rect">
            <a:avLst/>
          </a:prstGeom>
          <a:noFill/>
        </p:spPr>
        <p:txBody>
          <a:bodyPr wrap="square" anchor="t" lIns="0" rIns="0" tIns="0" bIns="0">
            <a:spAutoFit/>
          </a:bodyPr>
          <a:lstStyle/>
          <a:p>
            <a:pPr>
              <a:spcBef>
                <a:spcPts val="0"/>
              </a:spcBef>
              <a:spcAft>
                <a:spcPts val="0"/>
              </a:spcAft>
            </a:pPr>
            <a:r>
              <a:rPr sz="1500" b="1">
                <a:solidFill>
                  <a:srgbClr val="FF4D4D"/>
                </a:solidFill>
                <a:latin typeface="Helvetica Neue"/>
              </a:rPr>
              <a:t>llm-d — the endpoint picker</a:t>
            </a:r>
          </a:p>
        </p:txBody>
      </p:sp>
      <p:sp>
        <p:nvSpPr>
          <p:cNvPr id="14" name="TextBox 13"/>
          <p:cNvSpPr txBox="1"/>
          <p:nvPr/>
        </p:nvSpPr>
        <p:spPr>
          <a:xfrm>
            <a:off x="6434175" y="2560320"/>
            <a:ext cx="4879695" cy="2377440"/>
          </a:xfrm>
          <a:prstGeom prst="rect">
            <a:avLst/>
          </a:prstGeom>
          <a:noFill/>
        </p:spPr>
        <p:txBody>
          <a:bodyPr wrap="square" anchor="t" lIns="0" rIns="0" tIns="0" bIns="0">
            <a:spAutoFit/>
          </a:bodyPr>
          <a:lstStyle/>
          <a:p>
            <a:pPr>
              <a:lnSpc>
                <a:spcPct val="135000"/>
              </a:lnSpc>
              <a:spcBef>
                <a:spcPts val="0"/>
              </a:spcBef>
              <a:spcAft>
                <a:spcPts val="1000"/>
              </a:spcAft>
            </a:pPr>
            <a:r>
              <a:rPr sz="1200" b="0">
                <a:solidFill>
                  <a:srgbClr val="A3B0C6"/>
                </a:solidFill>
                <a:latin typeface="Helvetica Neue"/>
              </a:rPr>
              <a:t>Question: where should this request execute?</a:t>
            </a:r>
          </a:p>
          <a:p>
            <a:pPr>
              <a:lnSpc>
                <a:spcPct val="135000"/>
              </a:lnSpc>
              <a:spcBef>
                <a:spcPts val="0"/>
              </a:spcBef>
              <a:spcAft>
                <a:spcPts val="1000"/>
              </a:spcAft>
            </a:pPr>
            <a:r>
              <a:rPr sz="1200" b="0">
                <a:solidFill>
                  <a:srgbClr val="A3B0C6"/>
                </a:solidFill>
                <a:latin typeface="Helvetica Neue"/>
              </a:rPr>
              <a:t>Routes among replicas serving the same model.</a:t>
            </a:r>
          </a:p>
          <a:p>
            <a:pPr>
              <a:lnSpc>
                <a:spcPct val="135000"/>
              </a:lnSpc>
              <a:spcBef>
                <a:spcPts val="0"/>
              </a:spcBef>
              <a:spcAft>
                <a:spcPts val="1000"/>
              </a:spcAft>
            </a:pPr>
            <a:r>
              <a:rPr sz="1200" b="0">
                <a:solidFill>
                  <a:srgbClr val="A3B0C6"/>
                </a:solidFill>
                <a:latin typeface="Helvetica Neue"/>
              </a:rPr>
              <a:t>Logic: load, continuous batching, KV-cache locality.</a:t>
            </a:r>
          </a:p>
          <a:p>
            <a:pPr>
              <a:lnSpc>
                <a:spcPct val="135000"/>
              </a:lnSpc>
              <a:spcBef>
                <a:spcPts val="0"/>
              </a:spcBef>
              <a:spcAft>
                <a:spcPts val="1000"/>
              </a:spcAft>
            </a:pPr>
            <a:r>
              <a:rPr sz="1200" b="0">
                <a:solidFill>
                  <a:srgbClr val="A3B0C6"/>
                </a:solidFill>
                <a:latin typeface="Helvetica Neue"/>
              </a:rPr>
              <a:t>Output: a specific physical GPU instance.</a:t>
            </a:r>
          </a:p>
        </p:txBody>
      </p:sp>
      <p:sp>
        <p:nvSpPr>
          <p:cNvPr id="15" name="TextBox 14"/>
          <p:cNvSpPr txBox="1"/>
          <p:nvPr/>
        </p:nvSpPr>
        <p:spPr>
          <a:xfrm>
            <a:off x="9521647" y="6382512"/>
            <a:ext cx="2011680" cy="274320"/>
          </a:xfrm>
          <a:prstGeom prst="rect">
            <a:avLst/>
          </a:prstGeom>
          <a:noFill/>
        </p:spPr>
        <p:txBody>
          <a:bodyPr wrap="square" anchor="t" lIns="0" rIns="0" tIns="0" bIns="0">
            <a:spAutoFit/>
          </a:bodyPr>
          <a:lstStyle/>
          <a:p>
            <a:pPr algn="r"/>
            <a:r>
              <a:rPr sz="1000">
                <a:solidFill>
                  <a:srgbClr val="FF4D4D"/>
                </a:solidFill>
                <a:latin typeface="Menlo"/>
              </a:rPr>
              <a:t>19:10  ·  </a:t>
            </a:r>
            <a:r>
              <a:rPr sz="1000">
                <a:solidFill>
                  <a:srgbClr val="6E7D96"/>
                </a:solidFill>
                <a:latin typeface="Menlo"/>
              </a:rPr>
              <a:t>17 / 20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Rectangle 1"/>
          <p:cNvSpPr/>
          <p:nvPr/>
        </p:nvSpPr>
        <p:spPr>
          <a:xfrm>
            <a:off x="0" y="0"/>
            <a:ext cx="1783080" cy="63500"/>
          </a:xfrm>
          <a:prstGeom prst="rect">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30352"/>
            <a:ext cx="10874959" cy="868680"/>
          </a:xfrm>
          <a:prstGeom prst="rect">
            <a:avLst/>
          </a:prstGeom>
          <a:noFill/>
        </p:spPr>
        <p:txBody>
          <a:bodyPr wrap="square" anchor="t" lIns="0" rIns="0" tIns="0" bIns="0">
            <a:spAutoFit/>
          </a:bodyPr>
          <a:lstStyle/>
          <a:p>
            <a:pPr>
              <a:lnSpc>
                <a:spcPct val="110000"/>
              </a:lnSpc>
              <a:spcBef>
                <a:spcPts val="0"/>
              </a:spcBef>
              <a:spcAft>
                <a:spcPts val="0"/>
              </a:spcAft>
            </a:pPr>
            <a:r>
              <a:rPr sz="2900" b="1">
                <a:solidFill>
                  <a:srgbClr val="EEF3FA"/>
                </a:solidFill>
                <a:latin typeface="Helvetica Neue"/>
              </a:rPr>
              <a:t>The demo: what is actually running</a:t>
            </a:r>
          </a:p>
        </p:txBody>
      </p:sp>
      <p:sp>
        <p:nvSpPr>
          <p:cNvPr id="4" name="TextBox 3"/>
          <p:cNvSpPr txBox="1"/>
          <p:nvPr/>
        </p:nvSpPr>
        <p:spPr>
          <a:xfrm>
            <a:off x="658368" y="1188720"/>
            <a:ext cx="9692640" cy="822960"/>
          </a:xfrm>
          <a:prstGeom prst="rect">
            <a:avLst/>
          </a:prstGeom>
          <a:noFill/>
        </p:spPr>
        <p:txBody>
          <a:bodyPr wrap="square" anchor="t" lIns="0" rIns="0" tIns="0" bIns="0">
            <a:spAutoFit/>
          </a:bodyPr>
          <a:lstStyle/>
          <a:p>
            <a:pPr>
              <a:lnSpc>
                <a:spcPct val="135000"/>
              </a:lnSpc>
              <a:spcBef>
                <a:spcPts val="0"/>
              </a:spcBef>
              <a:spcAft>
                <a:spcPts val="0"/>
              </a:spcAft>
            </a:pPr>
            <a:r>
              <a:rPr sz="1400" b="0">
                <a:solidFill>
                  <a:srgbClr val="A3B0C6"/>
                </a:solidFill>
                <a:latin typeface="Helvetica Neue"/>
              </a:rPr>
              <a:t>vLLM Semantic Router on OpenShift AI, in front of two vLLM models on KServe. Everything you are about to see is live.</a:t>
            </a:r>
          </a:p>
        </p:txBody>
      </p:sp>
      <p:sp>
        <p:nvSpPr>
          <p:cNvPr id="5" name="Rectangle 4"/>
          <p:cNvSpPr/>
          <p:nvPr/>
        </p:nvSpPr>
        <p:spPr>
          <a:xfrm>
            <a:off x="658368" y="1938528"/>
            <a:ext cx="3490874" cy="283464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938528"/>
            <a:ext cx="3490874" cy="38100"/>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2176272"/>
            <a:ext cx="3088538" cy="457200"/>
          </a:xfrm>
          <a:prstGeom prst="rect">
            <a:avLst/>
          </a:prstGeom>
          <a:noFill/>
        </p:spPr>
        <p:txBody>
          <a:bodyPr wrap="square" anchor="t" lIns="0" rIns="0" tIns="0" bIns="0">
            <a:spAutoFit/>
          </a:bodyPr>
          <a:lstStyle/>
          <a:p>
            <a:pPr>
              <a:lnSpc>
                <a:spcPct val="115000"/>
              </a:lnSpc>
              <a:spcBef>
                <a:spcPts val="0"/>
              </a:spcBef>
              <a:spcAft>
                <a:spcPts val="0"/>
              </a:spcAft>
            </a:pPr>
            <a:r>
              <a:rPr sz="1450" b="1">
                <a:solidFill>
                  <a:srgbClr val="EEF3FA"/>
                </a:solidFill>
                <a:latin typeface="Helvetica Neue"/>
              </a:rPr>
              <a:t>Front door</a:t>
            </a:r>
          </a:p>
        </p:txBody>
      </p:sp>
      <p:sp>
        <p:nvSpPr>
          <p:cNvPr id="8" name="TextBox 7"/>
          <p:cNvSpPr txBox="1"/>
          <p:nvPr/>
        </p:nvSpPr>
        <p:spPr>
          <a:xfrm>
            <a:off x="859536" y="2651760"/>
            <a:ext cx="3088538" cy="1920240"/>
          </a:xfrm>
          <a:prstGeom prst="rect">
            <a:avLst/>
          </a:prstGeom>
          <a:noFill/>
        </p:spPr>
        <p:txBody>
          <a:bodyPr wrap="square" anchor="t" lIns="0" rIns="0" tIns="0" bIns="0">
            <a:spAutoFit/>
          </a:bodyPr>
          <a:lstStyle/>
          <a:p>
            <a:pPr>
              <a:lnSpc>
                <a:spcPct val="140000"/>
              </a:lnSpc>
              <a:spcBef>
                <a:spcPts val="0"/>
              </a:spcBef>
              <a:spcAft>
                <a:spcPts val="0"/>
              </a:spcAft>
            </a:pPr>
            <a:r>
              <a:rPr sz="1150" b="0">
                <a:solidFill>
                  <a:srgbClr val="A3B0C6"/>
                </a:solidFill>
                <a:latin typeface="Helvetica Neue"/>
              </a:rPr>
              <a:t>OpenShift Route → Envoy → the router as a gRPC external processor in the same pod. One OpenAI-compatible endpoint; the client sends model: "auto".</a:t>
            </a:r>
          </a:p>
        </p:txBody>
      </p:sp>
      <p:sp>
        <p:nvSpPr>
          <p:cNvPr id="9" name="Rectangle 8"/>
          <p:cNvSpPr/>
          <p:nvPr/>
        </p:nvSpPr>
        <p:spPr>
          <a:xfrm>
            <a:off x="4350410" y="1938528"/>
            <a:ext cx="3490874" cy="283464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50410" y="1938528"/>
            <a:ext cx="3490874" cy="38100"/>
          </a:xfrm>
          <a:prstGeom prst="rect">
            <a:avLst/>
          </a:prstGeom>
          <a:solidFill>
            <a:srgbClr val="4DD6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51578" y="2176272"/>
            <a:ext cx="3088538" cy="457200"/>
          </a:xfrm>
          <a:prstGeom prst="rect">
            <a:avLst/>
          </a:prstGeom>
          <a:noFill/>
        </p:spPr>
        <p:txBody>
          <a:bodyPr wrap="square" anchor="t" lIns="0" rIns="0" tIns="0" bIns="0">
            <a:spAutoFit/>
          </a:bodyPr>
          <a:lstStyle/>
          <a:p>
            <a:pPr>
              <a:lnSpc>
                <a:spcPct val="115000"/>
              </a:lnSpc>
              <a:spcBef>
                <a:spcPts val="0"/>
              </a:spcBef>
              <a:spcAft>
                <a:spcPts val="0"/>
              </a:spcAft>
            </a:pPr>
            <a:r>
              <a:rPr sz="1450" b="1">
                <a:solidFill>
                  <a:srgbClr val="EEF3FA"/>
                </a:solidFill>
                <a:latin typeface="Helvetica Neue"/>
              </a:rPr>
              <a:t>Backends</a:t>
            </a:r>
          </a:p>
        </p:txBody>
      </p:sp>
      <p:sp>
        <p:nvSpPr>
          <p:cNvPr id="12" name="TextBox 11"/>
          <p:cNvSpPr txBox="1"/>
          <p:nvPr/>
        </p:nvSpPr>
        <p:spPr>
          <a:xfrm>
            <a:off x="4551578" y="2651760"/>
            <a:ext cx="3088538" cy="1920240"/>
          </a:xfrm>
          <a:prstGeom prst="rect">
            <a:avLst/>
          </a:prstGeom>
          <a:noFill/>
        </p:spPr>
        <p:txBody>
          <a:bodyPr wrap="square" anchor="t" lIns="0" rIns="0" tIns="0" bIns="0">
            <a:spAutoFit/>
          </a:bodyPr>
          <a:lstStyle/>
          <a:p>
            <a:pPr>
              <a:lnSpc>
                <a:spcPct val="140000"/>
              </a:lnSpc>
              <a:spcBef>
                <a:spcPts val="0"/>
              </a:spcBef>
              <a:spcAft>
                <a:spcPts val="0"/>
              </a:spcAft>
            </a:pPr>
            <a:r>
              <a:rPr sz="1150" b="0">
                <a:solidFill>
                  <a:srgbClr val="A3B0C6"/>
                </a:solidFill>
                <a:latin typeface="Helvetica Neue"/>
              </a:rPr>
              <a:t>Qwen-2.5-7B-Instruct on an L40S for hard, urgent and quantitative work. Phi-3-mini on a T4 for everything else. Both served by vLLM on KServe.</a:t>
            </a:r>
          </a:p>
        </p:txBody>
      </p:sp>
      <p:sp>
        <p:nvSpPr>
          <p:cNvPr id="13" name="Rectangle 12"/>
          <p:cNvSpPr/>
          <p:nvPr/>
        </p:nvSpPr>
        <p:spPr>
          <a:xfrm>
            <a:off x="8042452" y="1938528"/>
            <a:ext cx="3490874" cy="283464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42452" y="1938528"/>
            <a:ext cx="3490874" cy="38100"/>
          </a:xfrm>
          <a:prstGeom prst="rect">
            <a:avLst/>
          </a:prstGeom>
          <a:solidFill>
            <a:srgbClr val="B38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43620" y="2176272"/>
            <a:ext cx="3088538" cy="457200"/>
          </a:xfrm>
          <a:prstGeom prst="rect">
            <a:avLst/>
          </a:prstGeom>
          <a:noFill/>
        </p:spPr>
        <p:txBody>
          <a:bodyPr wrap="square" anchor="t" lIns="0" rIns="0" tIns="0" bIns="0">
            <a:spAutoFit/>
          </a:bodyPr>
          <a:lstStyle/>
          <a:p>
            <a:pPr>
              <a:lnSpc>
                <a:spcPct val="115000"/>
              </a:lnSpc>
              <a:spcBef>
                <a:spcPts val="0"/>
              </a:spcBef>
              <a:spcAft>
                <a:spcPts val="0"/>
              </a:spcAft>
            </a:pPr>
            <a:r>
              <a:rPr sz="1450" b="1">
                <a:solidFill>
                  <a:srgbClr val="EEF3FA"/>
                </a:solidFill>
                <a:latin typeface="Helvetica Neue"/>
              </a:rPr>
              <a:t>The brain is CPU-only</a:t>
            </a:r>
          </a:p>
        </p:txBody>
      </p:sp>
      <p:sp>
        <p:nvSpPr>
          <p:cNvPr id="16" name="TextBox 15"/>
          <p:cNvSpPr txBox="1"/>
          <p:nvPr/>
        </p:nvSpPr>
        <p:spPr>
          <a:xfrm>
            <a:off x="8243620" y="2651760"/>
            <a:ext cx="3088538" cy="1920240"/>
          </a:xfrm>
          <a:prstGeom prst="rect">
            <a:avLst/>
          </a:prstGeom>
          <a:noFill/>
        </p:spPr>
        <p:txBody>
          <a:bodyPr wrap="square" anchor="t" lIns="0" rIns="0" tIns="0" bIns="0">
            <a:spAutoFit/>
          </a:bodyPr>
          <a:lstStyle/>
          <a:p>
            <a:pPr>
              <a:lnSpc>
                <a:spcPct val="140000"/>
              </a:lnSpc>
              <a:spcBef>
                <a:spcPts val="0"/>
              </a:spcBef>
              <a:spcAft>
                <a:spcPts val="0"/>
              </a:spcAft>
            </a:pPr>
            <a:r>
              <a:rPr sz="1150" b="0">
                <a:solidFill>
                  <a:srgbClr val="A3B0C6"/>
                </a:solidFill>
                <a:latin typeface="Helvetica Neue"/>
              </a:rPr>
              <a:t>Five Vela processes and the Go router share one container on a plain worker with no GPU. The accelerators only ever generate tokens.</a:t>
            </a:r>
          </a:p>
        </p:txBody>
      </p:sp>
      <p:sp>
        <p:nvSpPr>
          <p:cNvPr id="17" name="TextBox 16"/>
          <p:cNvSpPr txBox="1"/>
          <p:nvPr/>
        </p:nvSpPr>
        <p:spPr>
          <a:xfrm>
            <a:off x="9521647" y="6382512"/>
            <a:ext cx="2011680" cy="274320"/>
          </a:xfrm>
          <a:prstGeom prst="rect">
            <a:avLst/>
          </a:prstGeom>
          <a:noFill/>
        </p:spPr>
        <p:txBody>
          <a:bodyPr wrap="square" anchor="t" lIns="0" rIns="0" tIns="0" bIns="0">
            <a:spAutoFit/>
          </a:bodyPr>
          <a:lstStyle/>
          <a:p>
            <a:pPr algn="r"/>
            <a:r>
              <a:rPr sz="1000">
                <a:solidFill>
                  <a:srgbClr val="6E7D96"/>
                </a:solidFill>
                <a:latin typeface="Menlo"/>
              </a:rPr>
              <a:t>18 / 20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Rectangle 1"/>
          <p:cNvSpPr/>
          <p:nvPr/>
        </p:nvSpPr>
        <p:spPr>
          <a:xfrm>
            <a:off x="0" y="0"/>
            <a:ext cx="1783080" cy="63500"/>
          </a:xfrm>
          <a:prstGeom prst="rect">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30352"/>
            <a:ext cx="10874959" cy="868680"/>
          </a:xfrm>
          <a:prstGeom prst="rect">
            <a:avLst/>
          </a:prstGeom>
          <a:noFill/>
        </p:spPr>
        <p:txBody>
          <a:bodyPr wrap="square" anchor="t" lIns="0" rIns="0" tIns="0" bIns="0">
            <a:spAutoFit/>
          </a:bodyPr>
          <a:lstStyle/>
          <a:p>
            <a:pPr>
              <a:lnSpc>
                <a:spcPct val="110000"/>
              </a:lnSpc>
              <a:spcBef>
                <a:spcPts val="0"/>
              </a:spcBef>
              <a:spcAft>
                <a:spcPts val="0"/>
              </a:spcAft>
            </a:pPr>
            <a:r>
              <a:rPr sz="2900" b="1">
                <a:solidFill>
                  <a:srgbClr val="EEF3FA"/>
                </a:solidFill>
                <a:latin typeface="Helvetica Neue"/>
              </a:rPr>
              <a:t>Fifteen use cases, one click each</a:t>
            </a:r>
          </a:p>
        </p:txBody>
      </p:sp>
      <p:sp>
        <p:nvSpPr>
          <p:cNvPr id="4" name="TextBox 3"/>
          <p:cNvSpPr txBox="1"/>
          <p:nvPr/>
        </p:nvSpPr>
        <p:spPr>
          <a:xfrm>
            <a:off x="658368" y="1188720"/>
            <a:ext cx="9692640" cy="822960"/>
          </a:xfrm>
          <a:prstGeom prst="rect">
            <a:avLst/>
          </a:prstGeom>
          <a:noFill/>
        </p:spPr>
        <p:txBody>
          <a:bodyPr wrap="square" anchor="t" lIns="0" rIns="0" tIns="0" bIns="0">
            <a:spAutoFit/>
          </a:bodyPr>
          <a:lstStyle/>
          <a:p>
            <a:pPr>
              <a:lnSpc>
                <a:spcPct val="135000"/>
              </a:lnSpc>
              <a:spcBef>
                <a:spcPts val="0"/>
              </a:spcBef>
              <a:spcAft>
                <a:spcPts val="0"/>
              </a:spcAft>
            </a:pPr>
            <a:r>
              <a:rPr sz="1400" b="0">
                <a:solidFill>
                  <a:srgbClr val="A3B0C6"/>
                </a:solidFill>
                <a:latin typeface="Helvetica Neue"/>
              </a:rPr>
              <a:t>Each declares the route it expects, so the console shows pass or fail against reality — including when it fails.</a:t>
            </a:r>
          </a:p>
        </p:txBody>
      </p:sp>
      <p:graphicFrame>
        <p:nvGraphicFramePr>
          <p:cNvPr id="5" name="Table 4"/>
          <p:cNvGraphicFramePr>
            <a:graphicFrameLocks noGrp="1"/>
          </p:cNvGraphicFramePr>
          <p:nvPr/>
        </p:nvGraphicFramePr>
        <p:xfrm>
          <a:off x="658368" y="1938528"/>
          <a:ext cx="10874959" cy="3200400"/>
        </p:xfrm>
        <a:graphic>
          <a:graphicData uri="http://schemas.openxmlformats.org/drawingml/2006/table">
            <a:tbl>
              <a:tblPr firstRow="1" bandRow="1">
                <a:tableStyleId>{5C22544A-7EE6-4342-B048-85BDC9FD1C3A}</a:tableStyleId>
              </a:tblPr>
              <a:tblGrid>
                <a:gridCol w="1554480"/>
                <a:gridCol w="2651760"/>
                <a:gridCol w="6668719"/>
              </a:tblGrid>
              <a:tr h="533400">
                <a:tc>
                  <a:txBody>
                    <a:bodyPr wrap="square"/>
                    <a:lstStyle/>
                    <a:p>
                      <a:pPr>
                        <a:spcBef>
                          <a:spcPts val="0"/>
                        </a:spcBef>
                        <a:spcAft>
                          <a:spcPts val="0"/>
                        </a:spcAft>
                      </a:pPr>
                      <a:r>
                        <a:rPr sz="1000" b="1">
                          <a:solidFill>
                            <a:srgbClr val="FF4D4D"/>
                          </a:solidFill>
                          <a:latin typeface="Helvetica Neue"/>
                        </a:rPr>
                        <a:t>GROUP</a:t>
                      </a:r>
                    </a:p>
                  </a:txBody>
                  <a:tcPr marL="91440" marR="91440">
                    <a:solidFill>
                      <a:srgbClr val="0B0E14"/>
                    </a:solidFill>
                  </a:tcPr>
                </a:tc>
                <a:tc>
                  <a:txBody>
                    <a:bodyPr wrap="square"/>
                    <a:lstStyle/>
                    <a:p>
                      <a:pPr>
                        <a:spcBef>
                          <a:spcPts val="0"/>
                        </a:spcBef>
                        <a:spcAft>
                          <a:spcPts val="0"/>
                        </a:spcAft>
                      </a:pPr>
                      <a:r>
                        <a:rPr sz="1000" b="1">
                          <a:solidFill>
                            <a:srgbClr val="FF4D4D"/>
                          </a:solidFill>
                          <a:latin typeface="Helvetica Neue"/>
                        </a:rPr>
                        <a:t>WHAT IT SHOWS</a:t>
                      </a:r>
                    </a:p>
                  </a:txBody>
                  <a:tcPr marL="91440" marR="91440">
                    <a:solidFill>
                      <a:srgbClr val="0B0E14"/>
                    </a:solidFill>
                  </a:tcPr>
                </a:tc>
                <a:tc>
                  <a:txBody>
                    <a:bodyPr wrap="square"/>
                    <a:lstStyle/>
                    <a:p>
                      <a:pPr>
                        <a:spcBef>
                          <a:spcPts val="0"/>
                        </a:spcBef>
                        <a:spcAft>
                          <a:spcPts val="0"/>
                        </a:spcAft>
                      </a:pPr>
                      <a:r>
                        <a:rPr sz="1000" b="1">
                          <a:solidFill>
                            <a:srgbClr val="FF4D4D"/>
                          </a:solidFill>
                          <a:latin typeface="Helvetica Neue"/>
                        </a:rPr>
                        <a:t>CASES</a:t>
                      </a:r>
                    </a:p>
                  </a:txBody>
                  <a:tcPr marL="91440" marR="91440">
                    <a:solidFill>
                      <a:srgbClr val="0B0E14"/>
                    </a:solidFill>
                  </a:tcPr>
                </a:tc>
              </a:tr>
              <a:tr h="533400">
                <a:tc>
                  <a:txBody>
                    <a:bodyPr wrap="square"/>
                    <a:lstStyle/>
                    <a:p>
                      <a:pPr>
                        <a:lnSpc>
                          <a:spcPct val="125000"/>
                        </a:lnSpc>
                        <a:spcBef>
                          <a:spcPts val="0"/>
                        </a:spcBef>
                        <a:spcAft>
                          <a:spcPts val="0"/>
                        </a:spcAft>
                      </a:pPr>
                      <a:r>
                        <a:rPr sz="1100" b="1">
                          <a:solidFill>
                            <a:srgbClr val="EEF3FA"/>
                          </a:solidFill>
                          <a:latin typeface="Helvetica Neue"/>
                        </a:rPr>
                        <a:t>Intent routing</a:t>
                      </a:r>
                    </a:p>
                  </a:txBody>
                  <a:tcPr marL="91440" marR="91440" marT="45720" marB="45720">
                    <a:solidFill>
                      <a:srgbClr val="151B26"/>
                    </a:solidFill>
                  </a:tcPr>
                </a:tc>
                <a:tc>
                  <a:txBody>
                    <a:bodyPr wrap="square"/>
                    <a:lstStyle/>
                    <a:p>
                      <a:pPr>
                        <a:lnSpc>
                          <a:spcPct val="125000"/>
                        </a:lnSpc>
                        <a:spcBef>
                          <a:spcPts val="0"/>
                        </a:spcBef>
                        <a:spcAft>
                          <a:spcPts val="0"/>
                        </a:spcAft>
                      </a:pPr>
                      <a:r>
                        <a:rPr sz="1050" b="0">
                          <a:solidFill>
                            <a:srgbClr val="A3B0C6"/>
                          </a:solidFill>
                          <a:latin typeface="Helvetica Neue"/>
                        </a:rPr>
                        <a:t>Coding and math to the 7B model, general chat to the 3.8B. The client never changed.</a:t>
                      </a:r>
                    </a:p>
                  </a:txBody>
                  <a:tcPr marL="91440" marR="91440" marT="45720" marB="45720">
                    <a:solidFill>
                      <a:srgbClr val="151B26"/>
                    </a:solidFill>
                  </a:tcPr>
                </a:tc>
                <a:tc>
                  <a:txBody>
                    <a:bodyPr wrap="square"/>
                    <a:lstStyle/>
                    <a:p>
                      <a:pPr>
                        <a:lnSpc>
                          <a:spcPct val="125000"/>
                        </a:lnSpc>
                        <a:spcBef>
                          <a:spcPts val="0"/>
                        </a:spcBef>
                        <a:spcAft>
                          <a:spcPts val="0"/>
                        </a:spcAft>
                      </a:pPr>
                      <a:r>
                        <a:rPr sz="1050" b="0">
                          <a:solidFill>
                            <a:srgbClr val="A3B0C6"/>
                          </a:solidFill>
                          <a:latin typeface="Helvetica Neue"/>
                        </a:rPr>
                        <a:t>3</a:t>
                      </a:r>
                    </a:p>
                  </a:txBody>
                  <a:tcPr marL="91440" marR="91440" marT="45720" marB="45720">
                    <a:solidFill>
                      <a:srgbClr val="151B26"/>
                    </a:solidFill>
                  </a:tcPr>
                </a:tc>
              </a:tr>
              <a:tr h="533400">
                <a:tc>
                  <a:txBody>
                    <a:bodyPr wrap="square"/>
                    <a:lstStyle/>
                    <a:p>
                      <a:pPr>
                        <a:lnSpc>
                          <a:spcPct val="125000"/>
                        </a:lnSpc>
                        <a:spcBef>
                          <a:spcPts val="0"/>
                        </a:spcBef>
                        <a:spcAft>
                          <a:spcPts val="0"/>
                        </a:spcAft>
                      </a:pPr>
                      <a:r>
                        <a:rPr sz="1100" b="1">
                          <a:solidFill>
                            <a:srgbClr val="EEF3FA"/>
                          </a:solidFill>
                          <a:latin typeface="Helvetica Neue"/>
                        </a:rPr>
                        <a:t>Complexity scaling</a:t>
                      </a:r>
                    </a:p>
                  </a:txBody>
                  <a:tcPr marL="91440" marR="91440" marT="45720" marB="45720">
                    <a:solidFill>
                      <a:srgbClr val="0B0E14"/>
                    </a:solidFill>
                  </a:tcPr>
                </a:tc>
                <a:tc>
                  <a:txBody>
                    <a:bodyPr wrap="square"/>
                    <a:lstStyle/>
                    <a:p>
                      <a:pPr>
                        <a:lnSpc>
                          <a:spcPct val="125000"/>
                        </a:lnSpc>
                        <a:spcBef>
                          <a:spcPts val="0"/>
                        </a:spcBef>
                        <a:spcAft>
                          <a:spcPts val="0"/>
                        </a:spcAft>
                      </a:pPr>
                      <a:r>
                        <a:rPr sz="1050" b="0">
                          <a:solidFill>
                            <a:srgbClr val="A3B0C6"/>
                          </a:solidFill>
                          <a:latin typeface="Helvetica Neue"/>
                        </a:rPr>
                        <a:t>Same topic, graded by difficulty, routed in opposite directions.</a:t>
                      </a:r>
                    </a:p>
                  </a:txBody>
                  <a:tcPr marL="91440" marR="91440" marT="45720" marB="45720">
                    <a:solidFill>
                      <a:srgbClr val="0B0E14"/>
                    </a:solidFill>
                  </a:tcPr>
                </a:tc>
                <a:tc>
                  <a:txBody>
                    <a:bodyPr wrap="square"/>
                    <a:lstStyle/>
                    <a:p>
                      <a:pPr>
                        <a:lnSpc>
                          <a:spcPct val="125000"/>
                        </a:lnSpc>
                        <a:spcBef>
                          <a:spcPts val="0"/>
                        </a:spcBef>
                        <a:spcAft>
                          <a:spcPts val="0"/>
                        </a:spcAft>
                      </a:pPr>
                      <a:r>
                        <a:rPr sz="1050" b="0">
                          <a:solidFill>
                            <a:srgbClr val="A3B0C6"/>
                          </a:solidFill>
                          <a:latin typeface="Helvetica Neue"/>
                        </a:rPr>
                        <a:t>2</a:t>
                      </a:r>
                    </a:p>
                  </a:txBody>
                  <a:tcPr marL="91440" marR="91440" marT="45720" marB="45720">
                    <a:solidFill>
                      <a:srgbClr val="0B0E14"/>
                    </a:solidFill>
                  </a:tcPr>
                </a:tc>
              </a:tr>
              <a:tr h="533400">
                <a:tc>
                  <a:txBody>
                    <a:bodyPr wrap="square"/>
                    <a:lstStyle/>
                    <a:p>
                      <a:pPr>
                        <a:lnSpc>
                          <a:spcPct val="125000"/>
                        </a:lnSpc>
                        <a:spcBef>
                          <a:spcPts val="0"/>
                        </a:spcBef>
                        <a:spcAft>
                          <a:spcPts val="0"/>
                        </a:spcAft>
                      </a:pPr>
                      <a:r>
                        <a:rPr sz="1100" b="1">
                          <a:solidFill>
                            <a:srgbClr val="EEF3FA"/>
                          </a:solidFill>
                          <a:latin typeface="Helvetica Neue"/>
                        </a:rPr>
                        <a:t>Policy &amp; priority</a:t>
                      </a:r>
                    </a:p>
                  </a:txBody>
                  <a:tcPr marL="91440" marR="91440" marT="45720" marB="45720">
                    <a:solidFill>
                      <a:srgbClr val="151B26"/>
                    </a:solidFill>
                  </a:tcPr>
                </a:tc>
                <a:tc>
                  <a:txBody>
                    <a:bodyPr wrap="square"/>
                    <a:lstStyle/>
                    <a:p>
                      <a:pPr>
                        <a:lnSpc>
                          <a:spcPct val="125000"/>
                        </a:lnSpc>
                        <a:spcBef>
                          <a:spcPts val="0"/>
                        </a:spcBef>
                        <a:spcAft>
                          <a:spcPts val="0"/>
                        </a:spcAft>
                      </a:pPr>
                      <a:r>
                        <a:rPr sz="1050" b="0">
                          <a:solidFill>
                            <a:srgbClr val="A3B0C6"/>
                          </a:solidFill>
                          <a:latin typeface="Helvetica Neue"/>
                        </a:rPr>
                        <a:t>Urgent security work overrides the cost optimiser; user pushback escalates and disables the cache.</a:t>
                      </a:r>
                    </a:p>
                  </a:txBody>
                  <a:tcPr marL="91440" marR="91440" marT="45720" marB="45720">
                    <a:solidFill>
                      <a:srgbClr val="151B26"/>
                    </a:solidFill>
                  </a:tcPr>
                </a:tc>
                <a:tc>
                  <a:txBody>
                    <a:bodyPr wrap="square"/>
                    <a:lstStyle/>
                    <a:p>
                      <a:pPr>
                        <a:lnSpc>
                          <a:spcPct val="125000"/>
                        </a:lnSpc>
                        <a:spcBef>
                          <a:spcPts val="0"/>
                        </a:spcBef>
                        <a:spcAft>
                          <a:spcPts val="0"/>
                        </a:spcAft>
                      </a:pPr>
                      <a:r>
                        <a:rPr sz="1050" b="0">
                          <a:solidFill>
                            <a:srgbClr val="A3B0C6"/>
                          </a:solidFill>
                          <a:latin typeface="Helvetica Neue"/>
                        </a:rPr>
                        <a:t>2</a:t>
                      </a:r>
                    </a:p>
                  </a:txBody>
                  <a:tcPr marL="91440" marR="91440" marT="45720" marB="45720">
                    <a:solidFill>
                      <a:srgbClr val="151B26"/>
                    </a:solidFill>
                  </a:tcPr>
                </a:tc>
              </a:tr>
              <a:tr h="533400">
                <a:tc>
                  <a:txBody>
                    <a:bodyPr wrap="square"/>
                    <a:lstStyle/>
                    <a:p>
                      <a:pPr>
                        <a:lnSpc>
                          <a:spcPct val="125000"/>
                        </a:lnSpc>
                        <a:spcBef>
                          <a:spcPts val="0"/>
                        </a:spcBef>
                        <a:spcAft>
                          <a:spcPts val="0"/>
                        </a:spcAft>
                      </a:pPr>
                      <a:r>
                        <a:rPr sz="1100" b="1">
                          <a:solidFill>
                            <a:srgbClr val="EEF3FA"/>
                          </a:solidFill>
                          <a:latin typeface="Helvetica Neue"/>
                        </a:rPr>
                        <a:t>Guardrails</a:t>
                      </a:r>
                    </a:p>
                  </a:txBody>
                  <a:tcPr marL="91440" marR="91440" marT="45720" marB="45720">
                    <a:solidFill>
                      <a:srgbClr val="0B0E14"/>
                    </a:solidFill>
                  </a:tcPr>
                </a:tc>
                <a:tc>
                  <a:txBody>
                    <a:bodyPr wrap="square"/>
                    <a:lstStyle/>
                    <a:p>
                      <a:pPr>
                        <a:lnSpc>
                          <a:spcPct val="125000"/>
                        </a:lnSpc>
                        <a:spcBef>
                          <a:spcPts val="0"/>
                        </a:spcBef>
                        <a:spcAft>
                          <a:spcPts val="0"/>
                        </a:spcAft>
                      </a:pPr>
                      <a:r>
                        <a:rPr sz="1050" b="0">
                          <a:solidFill>
                            <a:srgbClr val="A3B0C6"/>
                          </a:solidFill>
                          <a:latin typeface="Helvetica Neue"/>
                        </a:rPr>
                        <a:t>Keyword rules and ML classifiers, blocking in under a second with no GPU involved.</a:t>
                      </a:r>
                    </a:p>
                  </a:txBody>
                  <a:tcPr marL="91440" marR="91440" marT="45720" marB="45720">
                    <a:solidFill>
                      <a:srgbClr val="0B0E14"/>
                    </a:solidFill>
                  </a:tcPr>
                </a:tc>
                <a:tc>
                  <a:txBody>
                    <a:bodyPr wrap="square"/>
                    <a:lstStyle/>
                    <a:p>
                      <a:pPr>
                        <a:lnSpc>
                          <a:spcPct val="125000"/>
                        </a:lnSpc>
                        <a:spcBef>
                          <a:spcPts val="0"/>
                        </a:spcBef>
                        <a:spcAft>
                          <a:spcPts val="0"/>
                        </a:spcAft>
                      </a:pPr>
                      <a:r>
                        <a:rPr sz="1050" b="0">
                          <a:solidFill>
                            <a:srgbClr val="A3B0C6"/>
                          </a:solidFill>
                          <a:latin typeface="Helvetica Neue"/>
                        </a:rPr>
                        <a:t>5</a:t>
                      </a:r>
                    </a:p>
                  </a:txBody>
                  <a:tcPr marL="91440" marR="91440" marT="45720" marB="45720">
                    <a:solidFill>
                      <a:srgbClr val="0B0E14"/>
                    </a:solidFill>
                  </a:tcPr>
                </a:tc>
              </a:tr>
              <a:tr h="533400">
                <a:tc>
                  <a:txBody>
                    <a:bodyPr wrap="square"/>
                    <a:lstStyle/>
                    <a:p>
                      <a:pPr>
                        <a:lnSpc>
                          <a:spcPct val="125000"/>
                        </a:lnSpc>
                        <a:spcBef>
                          <a:spcPts val="0"/>
                        </a:spcBef>
                        <a:spcAft>
                          <a:spcPts val="0"/>
                        </a:spcAft>
                      </a:pPr>
                      <a:r>
                        <a:rPr sz="1100" b="1">
                          <a:solidFill>
                            <a:srgbClr val="EEF3FA"/>
                          </a:solidFill>
                          <a:latin typeface="Helvetica Neue"/>
                        </a:rPr>
                        <a:t>Cache &amp; cost</a:t>
                      </a:r>
                    </a:p>
                  </a:txBody>
                  <a:tcPr marL="91440" marR="91440" marT="45720" marB="45720">
                    <a:solidFill>
                      <a:srgbClr val="151B26"/>
                    </a:solidFill>
                  </a:tcPr>
                </a:tc>
                <a:tc>
                  <a:txBody>
                    <a:bodyPr wrap="square"/>
                    <a:lstStyle/>
                    <a:p>
                      <a:pPr>
                        <a:lnSpc>
                          <a:spcPct val="125000"/>
                        </a:lnSpc>
                        <a:spcBef>
                          <a:spcPts val="0"/>
                        </a:spcBef>
                        <a:spcAft>
                          <a:spcPts val="0"/>
                        </a:spcAft>
                      </a:pPr>
                      <a:r>
                        <a:rPr sz="1050" b="0">
                          <a:solidFill>
                            <a:srgbClr val="A3B0C6"/>
                          </a:solidFill>
                          <a:latin typeface="Helvetica Neue"/>
                        </a:rPr>
                        <a:t>A repeat in 0.75 s instead of 6.9 s, a near-miss correctly refused, and pinning a model to opt out.</a:t>
                      </a:r>
                    </a:p>
                  </a:txBody>
                  <a:tcPr marL="91440" marR="91440" marT="45720" marB="45720">
                    <a:solidFill>
                      <a:srgbClr val="151B26"/>
                    </a:solidFill>
                  </a:tcPr>
                </a:tc>
                <a:tc>
                  <a:txBody>
                    <a:bodyPr wrap="square"/>
                    <a:lstStyle/>
                    <a:p>
                      <a:pPr>
                        <a:lnSpc>
                          <a:spcPct val="125000"/>
                        </a:lnSpc>
                        <a:spcBef>
                          <a:spcPts val="0"/>
                        </a:spcBef>
                        <a:spcAft>
                          <a:spcPts val="0"/>
                        </a:spcAft>
                      </a:pPr>
                      <a:r>
                        <a:rPr sz="1050" b="0">
                          <a:solidFill>
                            <a:srgbClr val="A3B0C6"/>
                          </a:solidFill>
                          <a:latin typeface="Helvetica Neue"/>
                        </a:rPr>
                        <a:t>3</a:t>
                      </a:r>
                    </a:p>
                  </a:txBody>
                  <a:tcPr marL="91440" marR="91440" marT="45720" marB="45720">
                    <a:solidFill>
                      <a:srgbClr val="151B26"/>
                    </a:solidFill>
                  </a:tcPr>
                </a:tc>
              </a:tr>
            </a:tbl>
          </a:graphicData>
        </a:graphic>
      </p:graphicFrame>
      <p:sp>
        <p:nvSpPr>
          <p:cNvPr id="6" name="TextBox 5"/>
          <p:cNvSpPr txBox="1"/>
          <p:nvPr/>
        </p:nvSpPr>
        <p:spPr>
          <a:xfrm>
            <a:off x="9521647" y="6382512"/>
            <a:ext cx="2011680" cy="274320"/>
          </a:xfrm>
          <a:prstGeom prst="rect">
            <a:avLst/>
          </a:prstGeom>
          <a:noFill/>
        </p:spPr>
        <p:txBody>
          <a:bodyPr wrap="square" anchor="t" lIns="0" rIns="0" tIns="0" bIns="0">
            <a:spAutoFit/>
          </a:bodyPr>
          <a:lstStyle/>
          <a:p>
            <a:pPr algn="r"/>
            <a:r>
              <a:rPr sz="1000">
                <a:solidFill>
                  <a:srgbClr val="6E7D96"/>
                </a:solidFill>
                <a:latin typeface="Menlo"/>
              </a:rPr>
              <a:t>19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Rectangle 1"/>
          <p:cNvSpPr/>
          <p:nvPr/>
        </p:nvSpPr>
        <p:spPr>
          <a:xfrm>
            <a:off x="2621127" y="1920240"/>
            <a:ext cx="6949440" cy="1463040"/>
          </a:xfrm>
          <a:prstGeom prst="rect">
            <a:avLst/>
          </a:prstGeom>
          <a:solidFill>
            <a:srgbClr val="1E2636"/>
          </a:solidFill>
          <a:ln w="1905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621127" y="1920240"/>
            <a:ext cx="6949440" cy="1463040"/>
          </a:xfrm>
          <a:prstGeom prst="rect">
            <a:avLst/>
          </a:prstGeom>
          <a:noFill/>
        </p:spPr>
        <p:txBody>
          <a:bodyPr wrap="square" anchor="ctr" lIns="0" rIns="0" tIns="0" bIns="0">
            <a:spAutoFit/>
          </a:bodyPr>
          <a:lstStyle/>
          <a:p>
            <a:pPr algn="ctr">
              <a:spcBef>
                <a:spcPts val="0"/>
              </a:spcBef>
              <a:spcAft>
                <a:spcPts val="0"/>
              </a:spcAft>
            </a:pPr>
            <a:r>
              <a:rPr sz="4000" b="1">
                <a:solidFill>
                  <a:srgbClr val="EEF3FA"/>
                </a:solidFill>
                <a:latin typeface="Menlo"/>
              </a:rPr>
              <a:t>&gt; ./run_demo.sh</a:t>
            </a:r>
          </a:p>
        </p:txBody>
      </p:sp>
      <p:sp>
        <p:nvSpPr>
          <p:cNvPr id="4" name="TextBox 3"/>
          <p:cNvSpPr txBox="1"/>
          <p:nvPr/>
        </p:nvSpPr>
        <p:spPr>
          <a:xfrm>
            <a:off x="658368" y="3657600"/>
            <a:ext cx="10874959" cy="457200"/>
          </a:xfrm>
          <a:prstGeom prst="rect">
            <a:avLst/>
          </a:prstGeom>
          <a:noFill/>
        </p:spPr>
        <p:txBody>
          <a:bodyPr wrap="square" anchor="t" lIns="0" rIns="0" tIns="0" bIns="0">
            <a:spAutoFit/>
          </a:bodyPr>
          <a:lstStyle/>
          <a:p>
            <a:pPr algn="ctr">
              <a:spcBef>
                <a:spcPts val="0"/>
              </a:spcBef>
              <a:spcAft>
                <a:spcPts val="0"/>
              </a:spcAft>
            </a:pPr>
            <a:r>
              <a:rPr sz="1600" b="1">
                <a:solidFill>
                  <a:srgbClr val="A3B0C6"/>
                </a:solidFill>
                <a:latin typeface="Helvetica Neue"/>
              </a:rPr>
              <a:t>Live demonstration</a:t>
            </a:r>
          </a:p>
        </p:txBody>
      </p:sp>
      <p:sp>
        <p:nvSpPr>
          <p:cNvPr id="5" name="TextBox 4"/>
          <p:cNvSpPr txBox="1"/>
          <p:nvPr/>
        </p:nvSpPr>
        <p:spPr>
          <a:xfrm>
            <a:off x="658368" y="4343400"/>
            <a:ext cx="10874959" cy="1280160"/>
          </a:xfrm>
          <a:prstGeom prst="rect">
            <a:avLst/>
          </a:prstGeom>
          <a:noFill/>
        </p:spPr>
        <p:txBody>
          <a:bodyPr wrap="square" anchor="t" lIns="0" rIns="0" tIns="0" bIns="0">
            <a:spAutoFit/>
          </a:bodyPr>
          <a:lstStyle/>
          <a:p>
            <a:pPr algn="ctr">
              <a:spcBef>
                <a:spcPts val="0"/>
              </a:spcBef>
              <a:spcAft>
                <a:spcPts val="700"/>
              </a:spcAft>
            </a:pPr>
            <a:r>
              <a:rPr sz="1200" b="0">
                <a:solidFill>
                  <a:srgbClr val="6E7D96"/>
                </a:solidFill>
                <a:latin typeface="Menlo"/>
              </a:rPr>
              <a:t>Project · vllm-sr.ai</a:t>
            </a:r>
          </a:p>
          <a:p>
            <a:pPr algn="ctr">
              <a:spcBef>
                <a:spcPts val="0"/>
              </a:spcBef>
              <a:spcAft>
                <a:spcPts val="700"/>
              </a:spcAft>
            </a:pPr>
            <a:r>
              <a:rPr sz="1200" b="0">
                <a:solidFill>
                  <a:srgbClr val="6E7D96"/>
                </a:solidFill>
                <a:latin typeface="Menlo"/>
              </a:rPr>
              <a:t>Upstream · github.com/vllm-project/semantic-router</a:t>
            </a:r>
          </a:p>
          <a:p>
            <a:pPr algn="ctr">
              <a:spcBef>
                <a:spcPts val="0"/>
              </a:spcBef>
              <a:spcAft>
                <a:spcPts val="700"/>
              </a:spcAft>
            </a:pPr>
            <a:r>
              <a:rPr sz="1200" b="0">
                <a:solidFill>
                  <a:srgbClr val="6E7D96"/>
                </a:solidFill>
                <a:latin typeface="Menlo"/>
              </a:rPr>
              <a:t>This demo · github.com/ritzshah/vllm-semantic-router-demo</a:t>
            </a:r>
          </a:p>
        </p:txBody>
      </p:sp>
      <p:sp>
        <p:nvSpPr>
          <p:cNvPr id="6" name="TextBox 5"/>
          <p:cNvSpPr txBox="1"/>
          <p:nvPr/>
        </p:nvSpPr>
        <p:spPr>
          <a:xfrm>
            <a:off x="9521647" y="6382512"/>
            <a:ext cx="2011680" cy="274320"/>
          </a:xfrm>
          <a:prstGeom prst="rect">
            <a:avLst/>
          </a:prstGeom>
          <a:noFill/>
        </p:spPr>
        <p:txBody>
          <a:bodyPr wrap="square" anchor="t" lIns="0" rIns="0" tIns="0" bIns="0">
            <a:spAutoFit/>
          </a:bodyPr>
          <a:lstStyle/>
          <a:p>
            <a:pPr algn="r"/>
            <a:r>
              <a:rPr sz="1000">
                <a:solidFill>
                  <a:srgbClr val="6E7D96"/>
                </a:solidFill>
                <a:latin typeface="Menlo"/>
              </a:rPr>
              <a:t>20 / 20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